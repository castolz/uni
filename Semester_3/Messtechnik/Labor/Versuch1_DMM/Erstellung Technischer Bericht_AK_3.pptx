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787" r:id="rId2"/>
  </p:sldMasterIdLst>
  <p:notesMasterIdLst>
    <p:notesMasterId r:id="rId43"/>
  </p:notesMasterIdLst>
  <p:handoutMasterIdLst>
    <p:handoutMasterId r:id="rId44"/>
  </p:handoutMasterIdLst>
  <p:sldIdLst>
    <p:sldId id="389" r:id="rId3"/>
    <p:sldId id="626" r:id="rId4"/>
    <p:sldId id="627" r:id="rId5"/>
    <p:sldId id="583" r:id="rId6"/>
    <p:sldId id="628" r:id="rId7"/>
    <p:sldId id="633" r:id="rId8"/>
    <p:sldId id="630" r:id="rId9"/>
    <p:sldId id="631" r:id="rId10"/>
    <p:sldId id="632" r:id="rId11"/>
    <p:sldId id="629" r:id="rId12"/>
    <p:sldId id="634" r:id="rId13"/>
    <p:sldId id="636" r:id="rId14"/>
    <p:sldId id="637" r:id="rId15"/>
    <p:sldId id="638" r:id="rId16"/>
    <p:sldId id="639" r:id="rId17"/>
    <p:sldId id="655" r:id="rId18"/>
    <p:sldId id="654" r:id="rId19"/>
    <p:sldId id="640" r:id="rId20"/>
    <p:sldId id="641" r:id="rId21"/>
    <p:sldId id="643" r:id="rId22"/>
    <p:sldId id="644" r:id="rId23"/>
    <p:sldId id="645" r:id="rId24"/>
    <p:sldId id="656" r:id="rId25"/>
    <p:sldId id="646" r:id="rId26"/>
    <p:sldId id="657" r:id="rId27"/>
    <p:sldId id="658" r:id="rId28"/>
    <p:sldId id="650" r:id="rId29"/>
    <p:sldId id="651" r:id="rId30"/>
    <p:sldId id="652" r:id="rId31"/>
    <p:sldId id="659" r:id="rId32"/>
    <p:sldId id="660" r:id="rId33"/>
    <p:sldId id="661" r:id="rId34"/>
    <p:sldId id="662" r:id="rId35"/>
    <p:sldId id="663" r:id="rId36"/>
    <p:sldId id="664" r:id="rId37"/>
    <p:sldId id="665" r:id="rId38"/>
    <p:sldId id="666" r:id="rId39"/>
    <p:sldId id="667" r:id="rId40"/>
    <p:sldId id="623" r:id="rId41"/>
    <p:sldId id="624" r:id="rId42"/>
  </p:sldIdLst>
  <p:sldSz cx="10693400" cy="7561263"/>
  <p:notesSz cx="6797675" cy="9874250"/>
  <p:defaultTextStyle>
    <a:defPPr>
      <a:defRPr lang="de-DE"/>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520700" indent="-63500" algn="l" rtl="0" fontAlgn="base">
      <a:spcBef>
        <a:spcPct val="0"/>
      </a:spcBef>
      <a:spcAft>
        <a:spcPct val="0"/>
      </a:spcAft>
      <a:defRPr sz="3200" kern="1200">
        <a:solidFill>
          <a:schemeClr val="tx1"/>
        </a:solidFill>
        <a:latin typeface="Times New Roman" pitchFamily="18" charset="0"/>
        <a:ea typeface="+mn-ea"/>
        <a:cs typeface="+mn-cs"/>
      </a:defRPr>
    </a:lvl2pPr>
    <a:lvl3pPr marL="1042988" indent="-128588" algn="l" rtl="0" fontAlgn="base">
      <a:spcBef>
        <a:spcPct val="0"/>
      </a:spcBef>
      <a:spcAft>
        <a:spcPct val="0"/>
      </a:spcAft>
      <a:defRPr sz="3200" kern="1200">
        <a:solidFill>
          <a:schemeClr val="tx1"/>
        </a:solidFill>
        <a:latin typeface="Times New Roman" pitchFamily="18" charset="0"/>
        <a:ea typeface="+mn-ea"/>
        <a:cs typeface="+mn-cs"/>
      </a:defRPr>
    </a:lvl3pPr>
    <a:lvl4pPr marL="1563688" indent="-192088" algn="l" rtl="0" fontAlgn="base">
      <a:spcBef>
        <a:spcPct val="0"/>
      </a:spcBef>
      <a:spcAft>
        <a:spcPct val="0"/>
      </a:spcAft>
      <a:defRPr sz="3200" kern="1200">
        <a:solidFill>
          <a:schemeClr val="tx1"/>
        </a:solidFill>
        <a:latin typeface="Times New Roman" pitchFamily="18" charset="0"/>
        <a:ea typeface="+mn-ea"/>
        <a:cs typeface="+mn-cs"/>
      </a:defRPr>
    </a:lvl4pPr>
    <a:lvl5pPr marL="2085975" indent="-257175"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105">
          <p15:clr>
            <a:srgbClr val="A4A3A4"/>
          </p15:clr>
        </p15:guide>
        <p15:guide id="2" orient="horz" pos="839">
          <p15:clr>
            <a:srgbClr val="A4A3A4"/>
          </p15:clr>
        </p15:guide>
        <p15:guide id="3" orient="horz" pos="2653">
          <p15:clr>
            <a:srgbClr val="A4A3A4"/>
          </p15:clr>
        </p15:guide>
        <p15:guide id="4" orient="horz" pos="340">
          <p15:clr>
            <a:srgbClr val="A4A3A4"/>
          </p15:clr>
        </p15:guide>
        <p15:guide id="5" orient="horz" pos="1202">
          <p15:clr>
            <a:srgbClr val="A4A3A4"/>
          </p15:clr>
        </p15:guide>
        <p15:guide id="6" pos="193">
          <p15:clr>
            <a:srgbClr val="A4A3A4"/>
          </p15:clr>
        </p15:guide>
        <p15:guide id="7" pos="6543">
          <p15:clr>
            <a:srgbClr val="A4A3A4"/>
          </p15:clr>
        </p15:guide>
        <p15:guide id="8" pos="3368">
          <p15:clr>
            <a:srgbClr val="A4A3A4"/>
          </p15:clr>
        </p15:guide>
        <p15:guide id="9" pos="4956">
          <p15:clr>
            <a:srgbClr val="A4A3A4"/>
          </p15:clr>
        </p15:guide>
        <p15:guide id="10" pos="420">
          <p15:clr>
            <a:srgbClr val="A4A3A4"/>
          </p15:clr>
        </p15:guide>
      </p15:sldGuideLst>
    </p:ext>
    <p:ext uri="{2D200454-40CA-4A62-9FC3-DE9A4176ACB9}">
      <p15:notesGuideLst xmlns:p15="http://schemas.microsoft.com/office/powerpoint/2012/main">
        <p15:guide id="1" orient="horz" pos="3110">
          <p15:clr>
            <a:srgbClr val="A4A3A4"/>
          </p15:clr>
        </p15:guide>
        <p15:guide id="2" pos="214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osima Klischat" initials="CK" lastIdx="2" clrIdx="0"/>
  <p:cmAuthor id="1" name="Anna Krez" initials="AK" lastIdx="5" clrIdx="1">
    <p:extLst>
      <p:ext uri="{19B8F6BF-5375-455C-9EA6-DF929625EA0E}">
        <p15:presenceInfo xmlns:p15="http://schemas.microsoft.com/office/powerpoint/2012/main" userId="S::anna.krez@bwstaff.de::7f0fa40b-2615-4383-8821-c4542fdfa6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a:srgbClr val="DB0031"/>
    <a:srgbClr val="E20A17"/>
    <a:srgbClr val="000000"/>
    <a:srgbClr val="F9ECEB"/>
    <a:srgbClr val="1E1F21"/>
    <a:srgbClr val="EAEAEA"/>
    <a:srgbClr val="55658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65" autoAdjust="0"/>
    <p:restoredTop sz="96370" autoAdjust="0"/>
  </p:normalViewPr>
  <p:slideViewPr>
    <p:cSldViewPr showGuides="1">
      <p:cViewPr varScale="1">
        <p:scale>
          <a:sx n="112" d="100"/>
          <a:sy n="112" d="100"/>
        </p:scale>
        <p:origin x="1336" y="200"/>
      </p:cViewPr>
      <p:guideLst>
        <p:guide orient="horz" pos="4105"/>
        <p:guide orient="horz" pos="839"/>
        <p:guide orient="horz" pos="2653"/>
        <p:guide orient="horz" pos="340"/>
        <p:guide orient="horz" pos="1202"/>
        <p:guide pos="193"/>
        <p:guide pos="6543"/>
        <p:guide pos="3368"/>
        <p:guide pos="4956"/>
        <p:guide pos="420"/>
      </p:guideLst>
    </p:cSldViewPr>
  </p:slideViewPr>
  <p:outlineViewPr>
    <p:cViewPr>
      <p:scale>
        <a:sx n="75" d="100"/>
        <a:sy n="7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2196" y="-102"/>
      </p:cViewPr>
      <p:guideLst>
        <p:guide orient="horz" pos="3110"/>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2-10T08:50:03.733" idx="1">
    <p:pos x="6092" y="2359"/>
    <p:text>Cosima, ab hier bis du dran;)</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2-10T10:44:05.211" idx="5">
    <p:pos x="5401" y="1653"/>
    <p:text>Wann wird es kurz angegeben? Wann lang?</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2-10T09:52:41.446" idx="3">
    <p:pos x="5897" y="3002"/>
    <p:text>Das sind drei unterschiedliche Beispiel. Ich finde es verwirrend. </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2"/>
            <a:ext cx="29464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85" tIns="46243" rIns="92485" bIns="46243" numCol="1" anchor="t" anchorCtr="0" compatLnSpc="1">
            <a:prstTxWarp prst="textNoShape">
              <a:avLst/>
            </a:prstTxWarp>
          </a:bodyPr>
          <a:lstStyle>
            <a:lvl1pPr defTabSz="925444">
              <a:defRPr sz="1300"/>
            </a:lvl1pPr>
          </a:lstStyle>
          <a:p>
            <a:pPr>
              <a:defRPr/>
            </a:pPr>
            <a:endParaRPr lang="de-DE"/>
          </a:p>
        </p:txBody>
      </p:sp>
      <p:sp>
        <p:nvSpPr>
          <p:cNvPr id="32771" name="Rectangle 3"/>
          <p:cNvSpPr>
            <a:spLocks noGrp="1" noChangeArrowheads="1"/>
          </p:cNvSpPr>
          <p:nvPr>
            <p:ph type="dt" sz="quarter" idx="1"/>
          </p:nvPr>
        </p:nvSpPr>
        <p:spPr bwMode="auto">
          <a:xfrm>
            <a:off x="3851275" y="2"/>
            <a:ext cx="29464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85" tIns="46243" rIns="92485" bIns="46243" numCol="1" anchor="t" anchorCtr="0" compatLnSpc="1">
            <a:prstTxWarp prst="textNoShape">
              <a:avLst/>
            </a:prstTxWarp>
          </a:bodyPr>
          <a:lstStyle>
            <a:lvl1pPr algn="r" defTabSz="925444">
              <a:defRPr sz="1300"/>
            </a:lvl1pPr>
          </a:lstStyle>
          <a:p>
            <a:pPr>
              <a:defRPr/>
            </a:pPr>
            <a:endParaRPr lang="de-DE"/>
          </a:p>
        </p:txBody>
      </p:sp>
      <p:sp>
        <p:nvSpPr>
          <p:cNvPr id="32772" name="Rectangle 4"/>
          <p:cNvSpPr>
            <a:spLocks noGrp="1" noChangeArrowheads="1"/>
          </p:cNvSpPr>
          <p:nvPr>
            <p:ph type="ftr" sz="quarter" idx="2"/>
          </p:nvPr>
        </p:nvSpPr>
        <p:spPr bwMode="auto">
          <a:xfrm>
            <a:off x="0" y="9380538"/>
            <a:ext cx="294640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85" tIns="46243" rIns="92485" bIns="46243" numCol="1" anchor="b" anchorCtr="0" compatLnSpc="1">
            <a:prstTxWarp prst="textNoShape">
              <a:avLst/>
            </a:prstTxWarp>
          </a:bodyPr>
          <a:lstStyle>
            <a:lvl1pPr defTabSz="925444">
              <a:defRPr sz="1300"/>
            </a:lvl1pPr>
          </a:lstStyle>
          <a:p>
            <a:pPr>
              <a:defRPr/>
            </a:pPr>
            <a:endParaRPr lang="de-DE"/>
          </a:p>
        </p:txBody>
      </p:sp>
      <p:sp>
        <p:nvSpPr>
          <p:cNvPr id="32773" name="Rectangle 5"/>
          <p:cNvSpPr>
            <a:spLocks noGrp="1" noChangeArrowheads="1"/>
          </p:cNvSpPr>
          <p:nvPr>
            <p:ph type="sldNum" sz="quarter" idx="3"/>
          </p:nvPr>
        </p:nvSpPr>
        <p:spPr bwMode="auto">
          <a:xfrm>
            <a:off x="3851275" y="9380538"/>
            <a:ext cx="294640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85" tIns="46243" rIns="92485" bIns="46243" numCol="1" anchor="b" anchorCtr="0" compatLnSpc="1">
            <a:prstTxWarp prst="textNoShape">
              <a:avLst/>
            </a:prstTxWarp>
          </a:bodyPr>
          <a:lstStyle>
            <a:lvl1pPr algn="r" defTabSz="925444">
              <a:defRPr sz="1300"/>
            </a:lvl1pPr>
          </a:lstStyle>
          <a:p>
            <a:pPr>
              <a:defRPr/>
            </a:pPr>
            <a:fld id="{E8D54A6C-0CE7-4EFB-B07A-2BA8F39E9090}" type="slidenum">
              <a:rPr lang="de-DE"/>
              <a:pPr>
                <a:defRPr/>
              </a:pPr>
              <a:t>‹Nr.›</a:t>
            </a:fld>
            <a:endParaRPr lang="de-DE"/>
          </a:p>
        </p:txBody>
      </p:sp>
    </p:spTree>
    <p:extLst>
      <p:ext uri="{BB962C8B-B14F-4D97-AF65-F5344CB8AC3E}">
        <p14:creationId xmlns:p14="http://schemas.microsoft.com/office/powerpoint/2010/main" val="3509141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2944813" cy="493713"/>
          </a:xfrm>
          <a:prstGeom prst="rect">
            <a:avLst/>
          </a:prstGeom>
        </p:spPr>
        <p:txBody>
          <a:bodyPr vert="horz" lIns="91433" tIns="45717" rIns="91433" bIns="45717" rtlCol="0"/>
          <a:lstStyle>
            <a:lvl1pPr algn="l">
              <a:defRPr sz="1200"/>
            </a:lvl1pPr>
          </a:lstStyle>
          <a:p>
            <a:pPr>
              <a:defRPr/>
            </a:pPr>
            <a:endParaRPr lang="de-DE"/>
          </a:p>
        </p:txBody>
      </p:sp>
      <p:sp>
        <p:nvSpPr>
          <p:cNvPr id="3" name="Datumsplatzhalter 2"/>
          <p:cNvSpPr>
            <a:spLocks noGrp="1"/>
          </p:cNvSpPr>
          <p:nvPr>
            <p:ph type="dt" idx="1"/>
          </p:nvPr>
        </p:nvSpPr>
        <p:spPr>
          <a:xfrm>
            <a:off x="3851277" y="0"/>
            <a:ext cx="2944813" cy="493713"/>
          </a:xfrm>
          <a:prstGeom prst="rect">
            <a:avLst/>
          </a:prstGeom>
        </p:spPr>
        <p:txBody>
          <a:bodyPr vert="horz" lIns="91433" tIns="45717" rIns="91433" bIns="45717" rtlCol="0"/>
          <a:lstStyle>
            <a:lvl1pPr algn="r">
              <a:defRPr sz="1200"/>
            </a:lvl1pPr>
          </a:lstStyle>
          <a:p>
            <a:pPr>
              <a:defRPr/>
            </a:pPr>
            <a:fld id="{CFA33C76-78AF-472A-952E-B9B21970D6C4}" type="datetimeFigureOut">
              <a:rPr lang="de-DE"/>
              <a:pPr>
                <a:defRPr/>
              </a:pPr>
              <a:t>11.02.21</a:t>
            </a:fld>
            <a:endParaRPr lang="de-DE"/>
          </a:p>
        </p:txBody>
      </p:sp>
      <p:sp>
        <p:nvSpPr>
          <p:cNvPr id="4" name="Folienbildplatzhalter 3"/>
          <p:cNvSpPr>
            <a:spLocks noGrp="1" noRot="1" noChangeAspect="1"/>
          </p:cNvSpPr>
          <p:nvPr>
            <p:ph type="sldImg" idx="2"/>
          </p:nvPr>
        </p:nvSpPr>
        <p:spPr>
          <a:xfrm>
            <a:off x="781050" y="741363"/>
            <a:ext cx="5235575" cy="3702050"/>
          </a:xfrm>
          <a:prstGeom prst="rect">
            <a:avLst/>
          </a:prstGeom>
          <a:noFill/>
          <a:ln w="12700">
            <a:solidFill>
              <a:prstClr val="black"/>
            </a:solidFill>
          </a:ln>
        </p:spPr>
        <p:txBody>
          <a:bodyPr vert="horz" lIns="91433" tIns="45717" rIns="91433" bIns="45717" rtlCol="0" anchor="ctr"/>
          <a:lstStyle/>
          <a:p>
            <a:pPr lvl="0"/>
            <a:endParaRPr lang="de-DE" noProof="0"/>
          </a:p>
        </p:txBody>
      </p:sp>
      <p:sp>
        <p:nvSpPr>
          <p:cNvPr id="5" name="Notizenplatzhalter 4"/>
          <p:cNvSpPr>
            <a:spLocks noGrp="1"/>
          </p:cNvSpPr>
          <p:nvPr>
            <p:ph type="body" sz="quarter" idx="3"/>
          </p:nvPr>
        </p:nvSpPr>
        <p:spPr>
          <a:xfrm>
            <a:off x="679451" y="4689475"/>
            <a:ext cx="5438775" cy="4443413"/>
          </a:xfrm>
          <a:prstGeom prst="rect">
            <a:avLst/>
          </a:prstGeom>
        </p:spPr>
        <p:txBody>
          <a:bodyPr vert="horz" lIns="91433" tIns="45717" rIns="91433" bIns="45717"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2" y="9378952"/>
            <a:ext cx="2944813" cy="493713"/>
          </a:xfrm>
          <a:prstGeom prst="rect">
            <a:avLst/>
          </a:prstGeom>
        </p:spPr>
        <p:txBody>
          <a:bodyPr vert="horz" lIns="91433" tIns="45717" rIns="91433" bIns="45717" rtlCol="0" anchor="b"/>
          <a:lstStyle>
            <a:lvl1pPr algn="l">
              <a:defRPr sz="1200"/>
            </a:lvl1pPr>
          </a:lstStyle>
          <a:p>
            <a:pPr>
              <a:defRPr/>
            </a:pPr>
            <a:endParaRPr lang="de-DE"/>
          </a:p>
        </p:txBody>
      </p:sp>
      <p:sp>
        <p:nvSpPr>
          <p:cNvPr id="7" name="Foliennummernplatzhalter 6"/>
          <p:cNvSpPr>
            <a:spLocks noGrp="1"/>
          </p:cNvSpPr>
          <p:nvPr>
            <p:ph type="sldNum" sz="quarter" idx="5"/>
          </p:nvPr>
        </p:nvSpPr>
        <p:spPr>
          <a:xfrm>
            <a:off x="3851277" y="9378952"/>
            <a:ext cx="2944813" cy="493713"/>
          </a:xfrm>
          <a:prstGeom prst="rect">
            <a:avLst/>
          </a:prstGeom>
        </p:spPr>
        <p:txBody>
          <a:bodyPr vert="horz" lIns="91433" tIns="45717" rIns="91433" bIns="45717" rtlCol="0" anchor="b"/>
          <a:lstStyle>
            <a:lvl1pPr algn="r">
              <a:defRPr sz="1200"/>
            </a:lvl1pPr>
          </a:lstStyle>
          <a:p>
            <a:pPr>
              <a:defRPr/>
            </a:pPr>
            <a:fld id="{3949F43C-4025-4019-BD12-727BD09DF9B9}" type="slidenum">
              <a:rPr lang="de-DE"/>
              <a:pPr>
                <a:defRPr/>
              </a:pPr>
              <a:t>‹Nr.›</a:t>
            </a:fld>
            <a:endParaRPr lang="de-DE"/>
          </a:p>
        </p:txBody>
      </p:sp>
    </p:spTree>
    <p:extLst>
      <p:ext uri="{BB962C8B-B14F-4D97-AF65-F5344CB8AC3E}">
        <p14:creationId xmlns:p14="http://schemas.microsoft.com/office/powerpoint/2010/main" val="2240457467"/>
      </p:ext>
    </p:extLst>
  </p:cSld>
  <p:clrMap bg1="lt1" tx1="dk1" bg2="lt2" tx2="dk2" accent1="accent1" accent2="accent2" accent3="accent3" accent4="accent4" accent5="accent5" accent6="accent6" hlink="hlink" folHlink="folHlink"/>
  <p:notesStyle>
    <a:lvl1pPr algn="l" defTabSz="1042988" rtl="0" eaLnBrk="0" fontAlgn="base" hangingPunct="0">
      <a:spcBef>
        <a:spcPct val="30000"/>
      </a:spcBef>
      <a:spcAft>
        <a:spcPct val="0"/>
      </a:spcAft>
      <a:defRPr sz="1400" kern="1200">
        <a:solidFill>
          <a:schemeClr val="tx1"/>
        </a:solidFill>
        <a:latin typeface="+mn-lt"/>
        <a:ea typeface="+mn-ea"/>
        <a:cs typeface="+mn-cs"/>
      </a:defRPr>
    </a:lvl1pPr>
    <a:lvl2pPr marL="520700" algn="l" defTabSz="1042988" rtl="0" eaLnBrk="0" fontAlgn="base" hangingPunct="0">
      <a:spcBef>
        <a:spcPct val="30000"/>
      </a:spcBef>
      <a:spcAft>
        <a:spcPct val="0"/>
      </a:spcAft>
      <a:defRPr sz="1400" kern="1200">
        <a:solidFill>
          <a:schemeClr val="tx1"/>
        </a:solidFill>
        <a:latin typeface="+mn-lt"/>
        <a:ea typeface="+mn-ea"/>
        <a:cs typeface="+mn-cs"/>
      </a:defRPr>
    </a:lvl2pPr>
    <a:lvl3pPr marL="1042988" algn="l" defTabSz="1042988" rtl="0" eaLnBrk="0" fontAlgn="base" hangingPunct="0">
      <a:spcBef>
        <a:spcPct val="30000"/>
      </a:spcBef>
      <a:spcAft>
        <a:spcPct val="0"/>
      </a:spcAft>
      <a:defRPr sz="1400" kern="1200">
        <a:solidFill>
          <a:schemeClr val="tx1"/>
        </a:solidFill>
        <a:latin typeface="+mn-lt"/>
        <a:ea typeface="+mn-ea"/>
        <a:cs typeface="+mn-cs"/>
      </a:defRPr>
    </a:lvl3pPr>
    <a:lvl4pPr marL="1563688" algn="l" defTabSz="1042988" rtl="0" eaLnBrk="0" fontAlgn="base" hangingPunct="0">
      <a:spcBef>
        <a:spcPct val="30000"/>
      </a:spcBef>
      <a:spcAft>
        <a:spcPct val="0"/>
      </a:spcAft>
      <a:defRPr sz="1400" kern="1200">
        <a:solidFill>
          <a:schemeClr val="tx1"/>
        </a:solidFill>
        <a:latin typeface="+mn-lt"/>
        <a:ea typeface="+mn-ea"/>
        <a:cs typeface="+mn-cs"/>
      </a:defRPr>
    </a:lvl4pPr>
    <a:lvl5pPr marL="2085975" algn="l" defTabSz="1042988" rtl="0" eaLnBrk="0" fontAlgn="base" hangingPunct="0">
      <a:spcBef>
        <a:spcPct val="30000"/>
      </a:spcBef>
      <a:spcAft>
        <a:spcPct val="0"/>
      </a:spcAft>
      <a:defRPr sz="1400" kern="1200">
        <a:solidFill>
          <a:schemeClr val="tx1"/>
        </a:solidFill>
        <a:latin typeface="+mn-lt"/>
        <a:ea typeface="+mn-ea"/>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 name="Titel 1"/>
          <p:cNvSpPr>
            <a:spLocks noGrp="1"/>
          </p:cNvSpPr>
          <p:nvPr>
            <p:ph type="title"/>
          </p:nvPr>
        </p:nvSpPr>
        <p:spPr>
          <a:xfrm>
            <a:off x="306140" y="540271"/>
            <a:ext cx="10081120" cy="453493"/>
          </a:xfrm>
          <a:prstGeom prst="rect">
            <a:avLst/>
          </a:prstGeom>
          <a:solidFill>
            <a:schemeClr val="bg1">
              <a:lumMod val="85000"/>
            </a:schemeClr>
          </a:solidFill>
        </p:spPr>
        <p:txBody>
          <a:bodyPr lIns="104306" tIns="52153" rIns="104306" bIns="52153" anchor="ctr" anchorCtr="0"/>
          <a:lstStyle>
            <a:lvl1pPr algn="l">
              <a:defRPr sz="3200"/>
            </a:lvl1pPr>
          </a:lstStyle>
          <a:p>
            <a:r>
              <a:rPr lang="de-DE" dirty="0"/>
              <a:t>Titelmasterformat durch Klicken bearbeiten</a:t>
            </a:r>
          </a:p>
        </p:txBody>
      </p:sp>
      <p:sp>
        <p:nvSpPr>
          <p:cNvPr id="3" name="Inhaltsplatzhalter 2"/>
          <p:cNvSpPr>
            <a:spLocks noGrp="1"/>
          </p:cNvSpPr>
          <p:nvPr>
            <p:ph idx="1"/>
          </p:nvPr>
        </p:nvSpPr>
        <p:spPr>
          <a:xfrm>
            <a:off x="306140" y="1908423"/>
            <a:ext cx="5112568" cy="4464496"/>
          </a:xfrm>
          <a:prstGeom prst="rect">
            <a:avLst/>
          </a:prstGeom>
        </p:spPr>
        <p:txBody>
          <a:bodyPr lIns="104306" tIns="52153" rIns="104306" bIns="52153"/>
          <a:lstStyle>
            <a:lvl1pPr marL="180975" indent="-180975">
              <a:spcBef>
                <a:spcPts val="1200"/>
              </a:spcBef>
              <a:defRPr sz="1600"/>
            </a:lvl1pPr>
            <a:lvl2pPr marL="452438" indent="-271463">
              <a:defRPr sz="1600"/>
            </a:lvl2pPr>
          </a:lstStyle>
          <a:p>
            <a:pPr lvl="0"/>
            <a:r>
              <a:rPr lang="de-DE" dirty="0"/>
              <a:t>Textmasterformat bearbeiten</a:t>
            </a:r>
          </a:p>
          <a:p>
            <a:pPr lvl="1"/>
            <a:r>
              <a:rPr lang="de-DE" dirty="0"/>
              <a:t>Zweite Ebene</a:t>
            </a:r>
          </a:p>
        </p:txBody>
      </p:sp>
      <p:sp>
        <p:nvSpPr>
          <p:cNvPr id="10" name="Textplatzhalter 2"/>
          <p:cNvSpPr>
            <a:spLocks noGrp="1"/>
          </p:cNvSpPr>
          <p:nvPr>
            <p:ph type="body" idx="10"/>
          </p:nvPr>
        </p:nvSpPr>
        <p:spPr>
          <a:xfrm>
            <a:off x="306140" y="1332359"/>
            <a:ext cx="10081120" cy="360040"/>
          </a:xfrm>
          <a:prstGeom prst="rect">
            <a:avLst/>
          </a:prstGeom>
        </p:spPr>
        <p:txBody>
          <a:bodyPr lIns="104306" tIns="52153" rIns="104306" bIns="52153" anchor="ctr" anchorCtr="0"/>
          <a:lstStyle>
            <a:lvl1pPr marL="0" indent="0">
              <a:buNone/>
              <a:defRPr sz="2000" baseline="0"/>
            </a:lvl1pPr>
            <a:lvl2pPr marL="521528" indent="0">
              <a:buNone/>
              <a:defRPr sz="2100"/>
            </a:lvl2pPr>
            <a:lvl3pPr marL="1043056" indent="0">
              <a:buNone/>
              <a:defRPr sz="1800"/>
            </a:lvl3pPr>
            <a:lvl4pPr marL="1564584" indent="0">
              <a:buNone/>
              <a:defRPr sz="1600"/>
            </a:lvl4pPr>
            <a:lvl5pPr marL="2086112" indent="0">
              <a:buNone/>
              <a:defRPr sz="1600"/>
            </a:lvl5pPr>
            <a:lvl6pPr marL="2607640" indent="0">
              <a:buNone/>
              <a:defRPr sz="1600"/>
            </a:lvl6pPr>
            <a:lvl7pPr marL="3129168" indent="0">
              <a:buNone/>
              <a:defRPr sz="1600"/>
            </a:lvl7pPr>
            <a:lvl8pPr marL="3650696" indent="0">
              <a:buNone/>
              <a:defRPr sz="1600"/>
            </a:lvl8pPr>
            <a:lvl9pPr marL="4172224" indent="0">
              <a:buNone/>
              <a:defRPr sz="1600"/>
            </a:lvl9pPr>
          </a:lstStyle>
          <a:p>
            <a:pPr lvl="0"/>
            <a:r>
              <a:rPr lang="de-DE" dirty="0"/>
              <a:t>Textmasterformat bearbeiten</a:t>
            </a:r>
          </a:p>
        </p:txBody>
      </p:sp>
    </p:spTree>
    <p:extLst>
      <p:ext uri="{BB962C8B-B14F-4D97-AF65-F5344CB8AC3E}">
        <p14:creationId xmlns:p14="http://schemas.microsoft.com/office/powerpoint/2010/main" val="231994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78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11251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extfeld 2"/>
          <p:cNvSpPr txBox="1">
            <a:spLocks noChangeArrowheads="1"/>
          </p:cNvSpPr>
          <p:nvPr userDrawn="1"/>
        </p:nvSpPr>
        <p:spPr bwMode="auto">
          <a:xfrm>
            <a:off x="4054972" y="6818313"/>
            <a:ext cx="5900241" cy="289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4306" tIns="52153" rIns="104306" bIns="52153">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r" eaLnBrk="1" hangingPunct="1">
              <a:defRPr/>
            </a:pPr>
            <a:r>
              <a:rPr lang="de-DE" sz="1200" dirty="0">
                <a:solidFill>
                  <a:schemeClr val="bg2"/>
                </a:solidFill>
                <a:latin typeface="Avenir Book" panose="02000503020000020003" pitchFamily="2" charset="0"/>
              </a:rPr>
              <a:t>Fakultät für Elektro- und Informationstechnik</a:t>
            </a:r>
          </a:p>
        </p:txBody>
      </p:sp>
      <p:sp>
        <p:nvSpPr>
          <p:cNvPr id="1028" name="Textfeld 3"/>
          <p:cNvSpPr txBox="1">
            <a:spLocks noChangeArrowheads="1"/>
          </p:cNvSpPr>
          <p:nvPr userDrawn="1"/>
        </p:nvSpPr>
        <p:spPr bwMode="auto">
          <a:xfrm>
            <a:off x="9955213" y="6818313"/>
            <a:ext cx="5445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306" tIns="52153" rIns="104306" bIns="52153">
            <a:spAutoFit/>
          </a:bodyPr>
          <a:lstStyle>
            <a:lvl1pPr eaLnBrk="0" hangingPunct="0">
              <a:defRPr sz="2800">
                <a:solidFill>
                  <a:schemeClr val="tx1"/>
                </a:solidFill>
                <a:latin typeface="Times New Roman" pitchFamily="18" charset="0"/>
              </a:defRPr>
            </a:lvl1pPr>
            <a:lvl2pPr marL="742950" indent="-285750" eaLnBrk="0" hangingPunct="0">
              <a:defRPr sz="2800">
                <a:solidFill>
                  <a:schemeClr val="tx1"/>
                </a:solidFill>
                <a:latin typeface="Times New Roman" pitchFamily="18" charset="0"/>
              </a:defRPr>
            </a:lvl2pPr>
            <a:lvl3pPr marL="1143000" indent="-228600" eaLnBrk="0" hangingPunct="0">
              <a:defRPr sz="2800">
                <a:solidFill>
                  <a:schemeClr val="tx1"/>
                </a:solidFill>
                <a:latin typeface="Times New Roman" pitchFamily="18" charset="0"/>
              </a:defRPr>
            </a:lvl3pPr>
            <a:lvl4pPr marL="1600200" indent="-228600" eaLnBrk="0" hangingPunct="0">
              <a:defRPr sz="2800">
                <a:solidFill>
                  <a:schemeClr val="tx1"/>
                </a:solidFill>
                <a:latin typeface="Times New Roman" pitchFamily="18" charset="0"/>
              </a:defRPr>
            </a:lvl4pPr>
            <a:lvl5pPr marL="2057400" indent="-228600" eaLnBrk="0" hangingPunct="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r" eaLnBrk="1" hangingPunct="1">
              <a:defRPr/>
            </a:pPr>
            <a:fld id="{E96FFDCE-A1D9-49B6-AD27-E68D09D1E995}" type="slidenum">
              <a:rPr lang="de-DE" sz="1100" smtClean="0">
                <a:solidFill>
                  <a:schemeClr val="bg2"/>
                </a:solidFill>
                <a:latin typeface="Arial" charset="0"/>
              </a:rPr>
              <a:pPr algn="r" eaLnBrk="1" hangingPunct="1">
                <a:defRPr/>
              </a:pPr>
              <a:t>‹Nr.›</a:t>
            </a:fld>
            <a:endParaRPr lang="de-DE" sz="1100" dirty="0">
              <a:solidFill>
                <a:schemeClr val="bg2"/>
              </a:solidFill>
              <a:latin typeface="Arial" charset="0"/>
            </a:endParaRPr>
          </a:p>
        </p:txBody>
      </p:sp>
      <p:cxnSp>
        <p:nvCxnSpPr>
          <p:cNvPr id="8" name="Gerade Verbindung 7"/>
          <p:cNvCxnSpPr/>
          <p:nvPr userDrawn="1"/>
        </p:nvCxnSpPr>
        <p:spPr>
          <a:xfrm flipH="1">
            <a:off x="306388" y="6589713"/>
            <a:ext cx="10080625" cy="0"/>
          </a:xfrm>
          <a:prstGeom prst="line">
            <a:avLst/>
          </a:prstGeom>
          <a:ln w="9525">
            <a:solidFill>
              <a:srgbClr val="DB0031"/>
            </a:solidFill>
          </a:ln>
        </p:spPr>
        <p:style>
          <a:lnRef idx="1">
            <a:schemeClr val="accent1"/>
          </a:lnRef>
          <a:fillRef idx="0">
            <a:schemeClr val="accent1"/>
          </a:fillRef>
          <a:effectRef idx="0">
            <a:schemeClr val="accent1"/>
          </a:effectRef>
          <a:fontRef idx="minor">
            <a:schemeClr val="tx1"/>
          </a:fontRef>
        </p:style>
      </p:cxnSp>
      <p:pic>
        <p:nvPicPr>
          <p:cNvPr id="1029" name="Grafik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06388" y="6732588"/>
            <a:ext cx="172243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1" r:id="rId1"/>
  </p:sldLayoutIdLst>
  <p:txStyles>
    <p:titleStyle>
      <a:lvl1pPr algn="ctr" rtl="0" eaLnBrk="0" fontAlgn="base" hangingPunct="0">
        <a:spcBef>
          <a:spcPct val="0"/>
        </a:spcBef>
        <a:spcAft>
          <a:spcPct val="0"/>
        </a:spcAft>
        <a:defRPr sz="5000">
          <a:solidFill>
            <a:schemeClr val="tx2"/>
          </a:solidFill>
          <a:latin typeface="+mj-lt"/>
          <a:ea typeface="+mj-ea"/>
          <a:cs typeface="+mj-cs"/>
        </a:defRPr>
      </a:lvl1pPr>
      <a:lvl2pPr algn="ctr" rtl="0" eaLnBrk="0" fontAlgn="base" hangingPunct="0">
        <a:spcBef>
          <a:spcPct val="0"/>
        </a:spcBef>
        <a:spcAft>
          <a:spcPct val="0"/>
        </a:spcAft>
        <a:defRPr sz="5000">
          <a:solidFill>
            <a:schemeClr val="tx2"/>
          </a:solidFill>
          <a:latin typeface="Arial" charset="0"/>
        </a:defRPr>
      </a:lvl2pPr>
      <a:lvl3pPr algn="ctr" rtl="0" eaLnBrk="0" fontAlgn="base" hangingPunct="0">
        <a:spcBef>
          <a:spcPct val="0"/>
        </a:spcBef>
        <a:spcAft>
          <a:spcPct val="0"/>
        </a:spcAft>
        <a:defRPr sz="5000">
          <a:solidFill>
            <a:schemeClr val="tx2"/>
          </a:solidFill>
          <a:latin typeface="Arial" charset="0"/>
        </a:defRPr>
      </a:lvl3pPr>
      <a:lvl4pPr algn="ctr" rtl="0" eaLnBrk="0" fontAlgn="base" hangingPunct="0">
        <a:spcBef>
          <a:spcPct val="0"/>
        </a:spcBef>
        <a:spcAft>
          <a:spcPct val="0"/>
        </a:spcAft>
        <a:defRPr sz="5000">
          <a:solidFill>
            <a:schemeClr val="tx2"/>
          </a:solidFill>
          <a:latin typeface="Arial" charset="0"/>
        </a:defRPr>
      </a:lvl4pPr>
      <a:lvl5pPr algn="ctr" rtl="0" eaLnBrk="0" fontAlgn="base" hangingPunct="0">
        <a:spcBef>
          <a:spcPct val="0"/>
        </a:spcBef>
        <a:spcAft>
          <a:spcPct val="0"/>
        </a:spcAft>
        <a:defRPr sz="5000">
          <a:solidFill>
            <a:schemeClr val="tx2"/>
          </a:solidFill>
          <a:latin typeface="Arial" charset="0"/>
        </a:defRPr>
      </a:lvl5pPr>
      <a:lvl6pPr marL="521528" algn="ctr" rtl="0" fontAlgn="base">
        <a:spcBef>
          <a:spcPct val="0"/>
        </a:spcBef>
        <a:spcAft>
          <a:spcPct val="0"/>
        </a:spcAft>
        <a:defRPr sz="5000">
          <a:solidFill>
            <a:schemeClr val="tx2"/>
          </a:solidFill>
          <a:latin typeface="Arial" charset="0"/>
        </a:defRPr>
      </a:lvl6pPr>
      <a:lvl7pPr marL="1043056" algn="ctr" rtl="0" fontAlgn="base">
        <a:spcBef>
          <a:spcPct val="0"/>
        </a:spcBef>
        <a:spcAft>
          <a:spcPct val="0"/>
        </a:spcAft>
        <a:defRPr sz="5000">
          <a:solidFill>
            <a:schemeClr val="tx2"/>
          </a:solidFill>
          <a:latin typeface="Arial" charset="0"/>
        </a:defRPr>
      </a:lvl7pPr>
      <a:lvl8pPr marL="1564584" algn="ctr" rtl="0" fontAlgn="base">
        <a:spcBef>
          <a:spcPct val="0"/>
        </a:spcBef>
        <a:spcAft>
          <a:spcPct val="0"/>
        </a:spcAft>
        <a:defRPr sz="5000">
          <a:solidFill>
            <a:schemeClr val="tx2"/>
          </a:solidFill>
          <a:latin typeface="Arial" charset="0"/>
        </a:defRPr>
      </a:lvl8pPr>
      <a:lvl9pPr marL="2086112" algn="ctr" rtl="0" fontAlgn="base">
        <a:spcBef>
          <a:spcPct val="0"/>
        </a:spcBef>
        <a:spcAft>
          <a:spcPct val="0"/>
        </a:spcAft>
        <a:defRPr sz="5000">
          <a:solidFill>
            <a:schemeClr val="tx2"/>
          </a:solidFill>
          <a:latin typeface="Arial" charset="0"/>
        </a:defRPr>
      </a:lvl9pPr>
    </p:titleStyle>
    <p:bodyStyle>
      <a:lvl1pPr marL="390525" indent="-390525" algn="l" rtl="0" eaLnBrk="0" fontAlgn="base" hangingPunct="0">
        <a:spcBef>
          <a:spcPct val="20000"/>
        </a:spcBef>
        <a:spcAft>
          <a:spcPct val="0"/>
        </a:spcAft>
        <a:buChar char="•"/>
        <a:defRPr sz="3700">
          <a:solidFill>
            <a:schemeClr val="tx1"/>
          </a:solidFill>
          <a:latin typeface="+mn-lt"/>
          <a:ea typeface="+mn-ea"/>
          <a:cs typeface="+mn-cs"/>
        </a:defRPr>
      </a:lvl1pPr>
      <a:lvl2pPr marL="846138" indent="-325438" algn="l" rtl="0" eaLnBrk="0" fontAlgn="base" hangingPunct="0">
        <a:spcBef>
          <a:spcPct val="20000"/>
        </a:spcBef>
        <a:spcAft>
          <a:spcPct val="0"/>
        </a:spcAft>
        <a:buChar char="–"/>
        <a:defRPr sz="3200">
          <a:solidFill>
            <a:schemeClr val="tx1"/>
          </a:solidFill>
          <a:latin typeface="+mn-lt"/>
        </a:defRPr>
      </a:lvl2pPr>
      <a:lvl3pPr marL="1303338" indent="-260350" algn="l" rtl="0" eaLnBrk="0" fontAlgn="base" hangingPunct="0">
        <a:spcBef>
          <a:spcPct val="20000"/>
        </a:spcBef>
        <a:spcAft>
          <a:spcPct val="0"/>
        </a:spcAft>
        <a:buChar char="•"/>
        <a:defRPr sz="2700">
          <a:solidFill>
            <a:schemeClr val="tx1"/>
          </a:solidFill>
          <a:latin typeface="+mn-lt"/>
        </a:defRPr>
      </a:lvl3pPr>
      <a:lvl4pPr marL="1824038" indent="-260350" algn="l" rtl="0" eaLnBrk="0" fontAlgn="base" hangingPunct="0">
        <a:spcBef>
          <a:spcPct val="20000"/>
        </a:spcBef>
        <a:spcAft>
          <a:spcPct val="0"/>
        </a:spcAft>
        <a:buChar char="–"/>
        <a:defRPr sz="2300">
          <a:solidFill>
            <a:schemeClr val="tx1"/>
          </a:solidFill>
          <a:latin typeface="+mn-lt"/>
        </a:defRPr>
      </a:lvl4pPr>
      <a:lvl5pPr marL="2346325" indent="-260350" algn="l" rtl="0" eaLnBrk="0" fontAlgn="base" hangingPunct="0">
        <a:spcBef>
          <a:spcPct val="20000"/>
        </a:spcBef>
        <a:spcAft>
          <a:spcPct val="0"/>
        </a:spcAft>
        <a:buChar char="»"/>
        <a:defRPr sz="2300">
          <a:solidFill>
            <a:schemeClr val="tx1"/>
          </a:solidFill>
          <a:latin typeface="+mn-lt"/>
        </a:defRPr>
      </a:lvl5pPr>
      <a:lvl6pPr marL="2868404" indent="-260764" algn="l" rtl="0" fontAlgn="base">
        <a:spcBef>
          <a:spcPct val="20000"/>
        </a:spcBef>
        <a:spcAft>
          <a:spcPct val="0"/>
        </a:spcAft>
        <a:buChar char="»"/>
        <a:defRPr sz="2300">
          <a:solidFill>
            <a:schemeClr val="tx1"/>
          </a:solidFill>
          <a:latin typeface="+mn-lt"/>
        </a:defRPr>
      </a:lvl6pPr>
      <a:lvl7pPr marL="3389932" indent="-260764" algn="l" rtl="0" fontAlgn="base">
        <a:spcBef>
          <a:spcPct val="20000"/>
        </a:spcBef>
        <a:spcAft>
          <a:spcPct val="0"/>
        </a:spcAft>
        <a:buChar char="»"/>
        <a:defRPr sz="2300">
          <a:solidFill>
            <a:schemeClr val="tx1"/>
          </a:solidFill>
          <a:latin typeface="+mn-lt"/>
        </a:defRPr>
      </a:lvl7pPr>
      <a:lvl8pPr marL="3911460" indent="-260764" algn="l" rtl="0" fontAlgn="base">
        <a:spcBef>
          <a:spcPct val="20000"/>
        </a:spcBef>
        <a:spcAft>
          <a:spcPct val="0"/>
        </a:spcAft>
        <a:buChar char="»"/>
        <a:defRPr sz="2300">
          <a:solidFill>
            <a:schemeClr val="tx1"/>
          </a:solidFill>
          <a:latin typeface="+mn-lt"/>
        </a:defRPr>
      </a:lvl8pPr>
      <a:lvl9pPr marL="4432988" indent="-260764" algn="l" rtl="0" fontAlgn="base">
        <a:spcBef>
          <a:spcPct val="20000"/>
        </a:spcBef>
        <a:spcAft>
          <a:spcPct val="0"/>
        </a:spcAft>
        <a:buChar char="»"/>
        <a:defRPr sz="2300">
          <a:solidFill>
            <a:schemeClr val="tx1"/>
          </a:solidFill>
          <a:latin typeface="+mn-lt"/>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9" descr="RGB-Skala-A4-Que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3975" y="0"/>
            <a:ext cx="968375"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Grafik 7"/>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25525" y="568325"/>
            <a:ext cx="304323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Grafik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002884" y="667533"/>
            <a:ext cx="3024336" cy="376056"/>
          </a:xfrm>
          <a:prstGeom prst="rect">
            <a:avLst/>
          </a:prstGeom>
        </p:spPr>
      </p:pic>
      <p:sp>
        <p:nvSpPr>
          <p:cNvPr id="7" name="Untertitel 2"/>
          <p:cNvSpPr txBox="1">
            <a:spLocks/>
          </p:cNvSpPr>
          <p:nvPr userDrawn="1"/>
        </p:nvSpPr>
        <p:spPr>
          <a:xfrm>
            <a:off x="1031376" y="5436803"/>
            <a:ext cx="8640960" cy="720103"/>
          </a:xfrm>
          <a:prstGeom prst="rect">
            <a:avLst/>
          </a:prstGeom>
        </p:spPr>
        <p:txBody>
          <a:bodyPr anchor="ctr" anchorCtr="0"/>
          <a:lstStyle>
            <a:lvl1pPr marL="180975" indent="0" algn="ctr" rtl="0" eaLnBrk="0" fontAlgn="base" hangingPunct="0">
              <a:spcBef>
                <a:spcPct val="20000"/>
              </a:spcBef>
              <a:spcAft>
                <a:spcPct val="0"/>
              </a:spcAft>
              <a:buFont typeface="Arial" pitchFamily="34" charset="0"/>
              <a:buNone/>
              <a:defRPr sz="2400" kern="1200" baseline="0">
                <a:solidFill>
                  <a:schemeClr val="tx1"/>
                </a:solidFill>
                <a:latin typeface="Arial" pitchFamily="34" charset="0"/>
                <a:ea typeface="+mn-ea"/>
                <a:cs typeface="Arial" pitchFamily="34" charset="0"/>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de-DE" dirty="0"/>
          </a:p>
          <a:p>
            <a:br>
              <a:rPr lang="de-DE" dirty="0"/>
            </a:br>
            <a:endParaRPr lang="de-DE" sz="2800" baseline="0" dirty="0"/>
          </a:p>
          <a:p>
            <a:endParaRPr lang="de-DE" sz="1400" baseline="0" dirty="0"/>
          </a:p>
          <a:p>
            <a:pPr marL="180975" marR="0" indent="0" algn="ctr" defTabSz="914400" rtl="0" eaLnBrk="0" fontAlgn="base" latinLnBrk="0" hangingPunct="0">
              <a:lnSpc>
                <a:spcPct val="100000"/>
              </a:lnSpc>
              <a:spcBef>
                <a:spcPct val="20000"/>
              </a:spcBef>
              <a:spcAft>
                <a:spcPct val="0"/>
              </a:spcAft>
              <a:buClrTx/>
              <a:buSzTx/>
              <a:buFont typeface="Arial" pitchFamily="34" charset="0"/>
              <a:buNone/>
              <a:tabLst/>
              <a:defRPr/>
            </a:pPr>
            <a:endParaRPr lang="de-DE" sz="1400" baseline="0" dirty="0"/>
          </a:p>
          <a:p>
            <a:pPr marL="180975" marR="0" indent="0" algn="ctr" defTabSz="914400" rtl="0" eaLnBrk="0" fontAlgn="base" latinLnBrk="0" hangingPunct="0">
              <a:lnSpc>
                <a:spcPct val="100000"/>
              </a:lnSpc>
              <a:spcBef>
                <a:spcPct val="20000"/>
              </a:spcBef>
              <a:spcAft>
                <a:spcPct val="0"/>
              </a:spcAft>
              <a:buClrTx/>
              <a:buSzTx/>
              <a:buFont typeface="Arial" pitchFamily="34" charset="0"/>
              <a:buNone/>
              <a:tabLst/>
              <a:defRPr/>
            </a:pPr>
            <a:r>
              <a:rPr lang="de-DE" sz="1400" baseline="0" dirty="0">
                <a:latin typeface="Avenir Book" panose="02000503020000020003" pitchFamily="2" charset="0"/>
              </a:rPr>
              <a:t>Dipl.-Ing. Cosima </a:t>
            </a:r>
            <a:r>
              <a:rPr lang="de-DE" sz="1400" baseline="0" dirty="0" err="1">
                <a:latin typeface="Avenir Book" panose="02000503020000020003" pitchFamily="2" charset="0"/>
              </a:rPr>
              <a:t>Klischat</a:t>
            </a:r>
            <a:r>
              <a:rPr lang="de-DE" sz="1400" baseline="0" dirty="0">
                <a:latin typeface="Avenir Book" panose="02000503020000020003" pitchFamily="2" charset="0"/>
              </a:rPr>
              <a:t> &amp; Anna </a:t>
            </a:r>
            <a:r>
              <a:rPr lang="de-DE" sz="1400" baseline="0" dirty="0" err="1">
                <a:latin typeface="Avenir Book" panose="02000503020000020003" pitchFamily="2" charset="0"/>
              </a:rPr>
              <a:t>Krez</a:t>
            </a:r>
            <a:r>
              <a:rPr lang="de-DE" sz="1400" baseline="0" dirty="0">
                <a:latin typeface="Avenir Book" panose="02000503020000020003" pitchFamily="2" charset="0"/>
              </a:rPr>
              <a:t>, M.A. (&amp; Dr. Jörg Berberich)</a:t>
            </a:r>
            <a:br>
              <a:rPr lang="de-DE" sz="1400" baseline="0" dirty="0">
                <a:latin typeface="Avenir Book" panose="02000503020000020003" pitchFamily="2" charset="0"/>
              </a:rPr>
            </a:br>
            <a:endParaRPr lang="de-DE" sz="1000" baseline="0" dirty="0">
              <a:latin typeface="Avenir Book" panose="02000503020000020003" pitchFamily="2" charset="0"/>
            </a:endParaRPr>
          </a:p>
          <a:p>
            <a:endParaRPr lang="de-DE" sz="1000" baseline="0" dirty="0"/>
          </a:p>
          <a:p>
            <a:r>
              <a:rPr lang="de-DE" sz="1000" baseline="0" dirty="0">
                <a:latin typeface="Avenir Book" panose="02000503020000020003" pitchFamily="2" charset="0"/>
              </a:rPr>
              <a:t>Teile der Präsentation basieren auf dem Buch „Technische Berichte – Verständlich gliedern, gut gestalten, überzeugend vortragen“ </a:t>
            </a:r>
            <a:br>
              <a:rPr lang="de-DE" sz="1000" baseline="0" dirty="0">
                <a:latin typeface="Avenir Book" panose="02000503020000020003" pitchFamily="2" charset="0"/>
              </a:rPr>
            </a:br>
            <a:r>
              <a:rPr lang="de-DE" sz="1000" baseline="0" dirty="0">
                <a:latin typeface="Avenir Book" panose="02000503020000020003" pitchFamily="2" charset="0"/>
              </a:rPr>
              <a:t>von Heike und Lutz Hering (2015) und dient als Schulungsunterlage zur Verwendung innerhalb der Hochschule Karlsruhe. </a:t>
            </a:r>
          </a:p>
          <a:p>
            <a:r>
              <a:rPr lang="de-DE" sz="1000" baseline="0" dirty="0">
                <a:latin typeface="Avenir Book" panose="02000503020000020003" pitchFamily="2" charset="0"/>
              </a:rPr>
              <a:t>Inhalte wurden sowohl wörtlich als auch sinngemäß übernommen. Eine Vervielfältigung ist nicht gestattet.</a:t>
            </a:r>
          </a:p>
          <a:p>
            <a:endParaRPr lang="de-DE" sz="1200" baseline="0" dirty="0"/>
          </a:p>
          <a:p>
            <a:pPr marL="180975" marR="0" indent="0" algn="ctr" defTabSz="914400" rtl="0" eaLnBrk="0" fontAlgn="base" latinLnBrk="0" hangingPunct="0">
              <a:lnSpc>
                <a:spcPct val="100000"/>
              </a:lnSpc>
              <a:spcBef>
                <a:spcPct val="20000"/>
              </a:spcBef>
              <a:spcAft>
                <a:spcPct val="0"/>
              </a:spcAft>
              <a:buClrTx/>
              <a:buSzTx/>
              <a:buFont typeface="Arial" pitchFamily="34" charset="0"/>
              <a:buNone/>
              <a:tabLst/>
              <a:defRPr/>
            </a:pPr>
            <a:endParaRPr lang="de-DE" sz="1400" dirty="0"/>
          </a:p>
          <a:p>
            <a:endParaRPr lang="de-DE" dirty="0"/>
          </a:p>
        </p:txBody>
      </p:sp>
      <p:sp>
        <p:nvSpPr>
          <p:cNvPr id="3" name="Textfeld 2"/>
          <p:cNvSpPr txBox="1"/>
          <p:nvPr userDrawn="1"/>
        </p:nvSpPr>
        <p:spPr>
          <a:xfrm>
            <a:off x="1782304" y="2628503"/>
            <a:ext cx="7128792" cy="1569660"/>
          </a:xfrm>
          <a:prstGeom prst="rect">
            <a:avLst/>
          </a:prstGeom>
          <a:noFill/>
        </p:spPr>
        <p:txBody>
          <a:bodyPr wrap="square" rtlCol="0">
            <a:spAutoFit/>
          </a:bodyPr>
          <a:lstStyle/>
          <a:p>
            <a:pPr algn="ctr"/>
            <a:r>
              <a:rPr lang="de-DE" sz="4800" dirty="0">
                <a:latin typeface="Avenir Book" panose="02000503020000020003" pitchFamily="2" charset="0"/>
                <a:cs typeface="Arial" panose="020B0604020202020204" pitchFamily="34" charset="0"/>
              </a:rPr>
              <a:t>Schreibwerkstatt</a:t>
            </a:r>
          </a:p>
          <a:p>
            <a:pPr algn="ctr"/>
            <a:endParaRPr lang="de-DE" sz="2400" dirty="0">
              <a:latin typeface="Avenir Book" panose="02000503020000020003" pitchFamily="2" charset="0"/>
              <a:cs typeface="Arial" panose="020B0604020202020204" pitchFamily="34" charset="0"/>
            </a:endParaRPr>
          </a:p>
          <a:p>
            <a:pPr algn="ctr"/>
            <a:r>
              <a:rPr lang="de-DE" sz="2400" dirty="0">
                <a:latin typeface="Avenir Book" panose="02000503020000020003" pitchFamily="2" charset="0"/>
                <a:cs typeface="Arial" panose="020B0604020202020204" pitchFamily="34" charset="0"/>
              </a:rPr>
              <a:t>Wissenschaftliches Schreiben leicht gemacht</a:t>
            </a:r>
          </a:p>
        </p:txBody>
      </p:sp>
    </p:spTree>
  </p:cSld>
  <p:clrMap bg1="lt1" tx1="dk1" bg2="lt2" tx2="dk2" accent1="accent1" accent2="accent2" accent3="accent3" accent4="accent4" accent5="accent5" accent6="accent6" hlink="hlink" folHlink="folHlink"/>
  <p:sldLayoutIdLst>
    <p:sldLayoutId id="2147483802" r:id="rId1"/>
    <p:sldLayoutId id="2147483803"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iff"/><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9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Was ist ein “Technischer Bericht“?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Technische Berichte schreiben  </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6426820" y="1059330"/>
            <a:ext cx="3816424" cy="1218450"/>
          </a:xfrm>
          <a:prstGeom prst="rect">
            <a:avLst/>
          </a:prstGeom>
          <a:solidFill>
            <a:schemeClr val="accent5"/>
          </a:solidFill>
        </p:spPr>
        <p:txBody>
          <a:bodyPr wrap="square" lIns="104306" tIns="52153" rIns="104306" bIns="52153" rtlCol="0">
            <a:spAutoFit/>
          </a:bodyPr>
          <a:lstStyle/>
          <a:p>
            <a:pPr marL="0" lvl="1" indent="0" defTabSz="704850" eaLnBrk="0" hangingPunct="0">
              <a:lnSpc>
                <a:spcPct val="114000"/>
              </a:lnSpc>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Ein Technischer Bericht ist ein Bericht über technische Sachverhalte, geschrieben in der „Fachsprache der Technik“ </a:t>
            </a:r>
            <a:r>
              <a:rPr lang="de-DE" sz="1000" kern="0" dirty="0">
                <a:solidFill>
                  <a:srgbClr val="000000"/>
                </a:solidFill>
                <a:latin typeface="Avenir Book" panose="02000503020000020003" pitchFamily="2" charset="0"/>
                <a:ea typeface="ＭＳ Ｐゴシック" pitchFamily="34" charset="-128"/>
              </a:rPr>
              <a:t>(Hering, 2015, S.1)</a:t>
            </a:r>
          </a:p>
        </p:txBody>
      </p:sp>
      <p:pic>
        <p:nvPicPr>
          <p:cNvPr id="2" name="Grafik 1">
            <a:extLst>
              <a:ext uri="{FF2B5EF4-FFF2-40B4-BE49-F238E27FC236}">
                <a16:creationId xmlns:a16="http://schemas.microsoft.com/office/drawing/2014/main" id="{0680FA8D-0A32-5941-B31C-D2F9B1CD78AA}"/>
              </a:ext>
            </a:extLst>
          </p:cNvPr>
          <p:cNvPicPr>
            <a:picLocks noChangeAspect="1"/>
          </p:cNvPicPr>
          <p:nvPr/>
        </p:nvPicPr>
        <p:blipFill>
          <a:blip r:embed="rId2"/>
          <a:stretch>
            <a:fillRect/>
          </a:stretch>
        </p:blipFill>
        <p:spPr>
          <a:xfrm>
            <a:off x="304086" y="1332359"/>
            <a:ext cx="5472608" cy="4235743"/>
          </a:xfrm>
          <a:prstGeom prst="rect">
            <a:avLst/>
          </a:prstGeom>
        </p:spPr>
      </p:pic>
      <p:sp>
        <p:nvSpPr>
          <p:cNvPr id="12" name="Textfeld 11">
            <a:extLst>
              <a:ext uri="{FF2B5EF4-FFF2-40B4-BE49-F238E27FC236}">
                <a16:creationId xmlns:a16="http://schemas.microsoft.com/office/drawing/2014/main" id="{24500BE0-D673-7C4E-A3E8-EEE7CAF506DB}"/>
              </a:ext>
            </a:extLst>
          </p:cNvPr>
          <p:cNvSpPr txBox="1"/>
          <p:nvPr/>
        </p:nvSpPr>
        <p:spPr>
          <a:xfrm>
            <a:off x="334680" y="5625813"/>
            <a:ext cx="5760640" cy="274666"/>
          </a:xfrm>
          <a:prstGeom prst="rect">
            <a:avLst/>
          </a:prstGeom>
          <a:noFill/>
        </p:spPr>
        <p:txBody>
          <a:bodyPr wrap="square" lIns="104306" tIns="52153" rIns="104306" bIns="52153" rtlCol="0">
            <a:spAutoFit/>
          </a:bodyPr>
          <a:lstStyle/>
          <a:p>
            <a:pPr marL="0" lvl="1" indent="0" defTabSz="704850" eaLnBrk="0" hangingPunct="0">
              <a:lnSpc>
                <a:spcPct val="114000"/>
              </a:lnSpc>
              <a:spcBef>
                <a:spcPts val="600"/>
              </a:spcBef>
              <a:tabLst>
                <a:tab pos="179388" algn="l"/>
                <a:tab pos="2151063" algn="l"/>
                <a:tab pos="2868613" algn="l"/>
              </a:tabLst>
            </a:pPr>
            <a:r>
              <a:rPr lang="de-DE" sz="1000" kern="0" dirty="0">
                <a:solidFill>
                  <a:srgbClr val="000000"/>
                </a:solidFill>
                <a:latin typeface="Avenir Book" panose="02000503020000020003" pitchFamily="2" charset="0"/>
                <a:ea typeface="ＭＳ Ｐゴシック" pitchFamily="34" charset="-128"/>
              </a:rPr>
              <a:t>(Hering, 2015, S.1)</a:t>
            </a:r>
          </a:p>
        </p:txBody>
      </p:sp>
      <p:sp>
        <p:nvSpPr>
          <p:cNvPr id="13" name="Textfeld 12">
            <a:extLst>
              <a:ext uri="{FF2B5EF4-FFF2-40B4-BE49-F238E27FC236}">
                <a16:creationId xmlns:a16="http://schemas.microsoft.com/office/drawing/2014/main" id="{E6574AE5-A3CE-5B4B-9587-08EC04F5EDD4}"/>
              </a:ext>
            </a:extLst>
          </p:cNvPr>
          <p:cNvSpPr txBox="1"/>
          <p:nvPr/>
        </p:nvSpPr>
        <p:spPr>
          <a:xfrm>
            <a:off x="6426820" y="2784412"/>
            <a:ext cx="3816424" cy="376296"/>
          </a:xfrm>
          <a:prstGeom prst="rect">
            <a:avLst/>
          </a:prstGeom>
          <a:solidFill>
            <a:schemeClr val="accent5"/>
          </a:solidFill>
        </p:spPr>
        <p:txBody>
          <a:bodyPr wrap="square" lIns="104306" tIns="52153" rIns="104306" bIns="52153" rtlCol="0">
            <a:spAutoFit/>
          </a:bodyPr>
          <a:lstStyle/>
          <a:p>
            <a:pPr marL="0" lvl="1" indent="0" defTabSz="704850" eaLnBrk="0" hangingPunct="0">
              <a:lnSpc>
                <a:spcPct val="114000"/>
              </a:lnSpc>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Er soll beim Leser </a:t>
            </a:r>
            <a:r>
              <a:rPr lang="de-DE" sz="1600" b="1" kern="0" dirty="0">
                <a:solidFill>
                  <a:srgbClr val="000000"/>
                </a:solidFill>
                <a:latin typeface="Avenir Book" panose="02000503020000020003" pitchFamily="2" charset="0"/>
                <a:ea typeface="ＭＳ Ｐゴシック" pitchFamily="34" charset="-128"/>
              </a:rPr>
              <a:t>KLARHEIT</a:t>
            </a:r>
            <a:r>
              <a:rPr lang="de-DE" sz="1600" kern="0" dirty="0">
                <a:solidFill>
                  <a:srgbClr val="000000"/>
                </a:solidFill>
                <a:latin typeface="Avenir Book" panose="02000503020000020003" pitchFamily="2" charset="0"/>
                <a:ea typeface="ＭＳ Ｐゴシック" pitchFamily="34" charset="-128"/>
              </a:rPr>
              <a:t> erzeugen!</a:t>
            </a:r>
            <a:endParaRPr lang="de-DE" sz="1000" kern="0" dirty="0">
              <a:solidFill>
                <a:srgbClr val="000000"/>
              </a:solidFill>
              <a:latin typeface="Avenir Book" panose="02000503020000020003" pitchFamily="2" charset="0"/>
              <a:ea typeface="ＭＳ Ｐゴシック" pitchFamily="34" charset="-128"/>
            </a:endParaRPr>
          </a:p>
        </p:txBody>
      </p:sp>
      <p:sp>
        <p:nvSpPr>
          <p:cNvPr id="18" name="Textfeld 17">
            <a:extLst>
              <a:ext uri="{FF2B5EF4-FFF2-40B4-BE49-F238E27FC236}">
                <a16:creationId xmlns:a16="http://schemas.microsoft.com/office/drawing/2014/main" id="{5C80F392-1DE9-F74C-9D19-1CF7E30EAF4E}"/>
              </a:ext>
            </a:extLst>
          </p:cNvPr>
          <p:cNvSpPr txBox="1"/>
          <p:nvPr/>
        </p:nvSpPr>
        <p:spPr>
          <a:xfrm>
            <a:off x="6425376" y="3204567"/>
            <a:ext cx="3816424" cy="1933774"/>
          </a:xfrm>
          <a:prstGeom prst="rect">
            <a:avLst/>
          </a:prstGeom>
          <a:solidFill>
            <a:schemeClr val="accent5"/>
          </a:solidFill>
        </p:spPr>
        <p:txBody>
          <a:bodyPr wrap="square" lIns="104306" tIns="52153" rIns="104306" bIns="52153" rtlCol="0">
            <a:spAutoFit/>
          </a:bodyPr>
          <a:lstStyle/>
          <a:p>
            <a:pPr marL="0" lvl="1" indent="0" defTabSz="704850" eaLnBrk="0" hangingPunct="0">
              <a:lnSpc>
                <a:spcPct val="114000"/>
              </a:lnSpc>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1. Klarheit der technischen und wissenschaftlichen Aussagen </a:t>
            </a:r>
          </a:p>
          <a:p>
            <a:pPr marL="0" lvl="1" indent="0" defTabSz="704850" eaLnBrk="0" hangingPunct="0">
              <a:lnSpc>
                <a:spcPct val="114000"/>
              </a:lnSpc>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2. Klarheit der Trennung von Bekanntem und Neuem</a:t>
            </a:r>
          </a:p>
          <a:p>
            <a:pPr marL="0" lvl="1" indent="0" defTabSz="704850" eaLnBrk="0" hangingPunct="0">
              <a:lnSpc>
                <a:spcPct val="114000"/>
              </a:lnSpc>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3. Klarheit der geistigen Eigenleistung der Verfasser*innen</a:t>
            </a:r>
            <a:endParaRPr lang="de-DE" sz="1000" kern="0" dirty="0">
              <a:solidFill>
                <a:srgbClr val="000000"/>
              </a:solidFill>
              <a:latin typeface="Avenir Book" panose="02000503020000020003" pitchFamily="2" charset="0"/>
              <a:ea typeface="ＭＳ Ｐゴシック" pitchFamily="34" charset="-128"/>
            </a:endParaRPr>
          </a:p>
        </p:txBody>
      </p:sp>
      <p:sp>
        <p:nvSpPr>
          <p:cNvPr id="19" name="Textfeld 18">
            <a:extLst>
              <a:ext uri="{FF2B5EF4-FFF2-40B4-BE49-F238E27FC236}">
                <a16:creationId xmlns:a16="http://schemas.microsoft.com/office/drawing/2014/main" id="{20E5AD7B-7B2D-3143-93AD-76DDD07DE916}"/>
              </a:ext>
            </a:extLst>
          </p:cNvPr>
          <p:cNvSpPr txBox="1"/>
          <p:nvPr/>
        </p:nvSpPr>
        <p:spPr>
          <a:xfrm>
            <a:off x="6095320" y="5437665"/>
            <a:ext cx="4146480" cy="1074821"/>
          </a:xfrm>
          <a:prstGeom prst="rect">
            <a:avLst/>
          </a:prstGeom>
          <a:solidFill>
            <a:schemeClr val="accent5">
              <a:lumMod val="90000"/>
            </a:schemeClr>
          </a:solidFill>
          <a:ln>
            <a:solidFill>
              <a:schemeClr val="accent5">
                <a:lumMod val="50000"/>
              </a:schemeClr>
            </a:solidFill>
          </a:ln>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b="1" kern="0" dirty="0">
                <a:solidFill>
                  <a:srgbClr val="000000"/>
                </a:solidFill>
                <a:latin typeface="Avenir Book" panose="02000503020000020003" pitchFamily="2" charset="0"/>
                <a:ea typeface="ＭＳ Ｐゴシック" pitchFamily="34" charset="-128"/>
              </a:rPr>
              <a:t>Fragen Sie sich: </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Wer liest den Bericht? Wen möchte ich erreichen? </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Welche Kenntnisse setze ich voraus, welche nicht?</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Welche Informationen sind zum Verständnis notwendig?</a:t>
            </a:r>
          </a:p>
        </p:txBody>
      </p:sp>
      <p:pic>
        <p:nvPicPr>
          <p:cNvPr id="21" name="Grafik 20" descr="Kopf mit Zahnrädern Silhouette">
            <a:extLst>
              <a:ext uri="{FF2B5EF4-FFF2-40B4-BE49-F238E27FC236}">
                <a16:creationId xmlns:a16="http://schemas.microsoft.com/office/drawing/2014/main" id="{3B077770-1576-E545-BBE2-F2202C919F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5320" y="5443279"/>
            <a:ext cx="621849" cy="621849"/>
          </a:xfrm>
          <a:prstGeom prst="rect">
            <a:avLst/>
          </a:prstGeom>
        </p:spPr>
      </p:pic>
      <p:pic>
        <p:nvPicPr>
          <p:cNvPr id="23" name="Grafik 22" descr="Caretzeichen nach unten Silhouette">
            <a:extLst>
              <a:ext uri="{FF2B5EF4-FFF2-40B4-BE49-F238E27FC236}">
                <a16:creationId xmlns:a16="http://schemas.microsoft.com/office/drawing/2014/main" id="{9B0476E0-D521-B24A-B2F7-431FF3B2CC0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32980" y="2230488"/>
            <a:ext cx="601216" cy="601216"/>
          </a:xfrm>
          <a:prstGeom prst="rect">
            <a:avLst/>
          </a:prstGeom>
        </p:spPr>
      </p:pic>
    </p:spTree>
    <p:extLst>
      <p:ext uri="{BB962C8B-B14F-4D97-AF65-F5344CB8AC3E}">
        <p14:creationId xmlns:p14="http://schemas.microsoft.com/office/powerpoint/2010/main" val="262786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Warum ist Schreiben für Ingenieur*innen wichtig? Wann brauche ich es?</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Technische Berichte schreiben  </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88612"/>
            <a:ext cx="5762694" cy="519902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Im Studium</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Laborberichte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Projektberichte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Praktikumsberichte, …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BA-Thesis/MA-Thesis</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Publikationen</a:t>
            </a:r>
          </a:p>
          <a:p>
            <a:pPr marL="0" lvl="1" indent="0" defTabSz="704850" eaLnBrk="0" hangingPunct="0">
              <a:spcBef>
                <a:spcPts val="600"/>
              </a:spcBef>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Im späteren Berufsleben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Präsentationen von Arbeitsergebnissen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 Vorgesetzten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 Fachkolleg*innen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 interdisziplinären Teams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 Sponsoren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 öffentlichem Publikum </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Publikationen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Vermarktung von Ideen </a:t>
            </a:r>
          </a:p>
        </p:txBody>
      </p:sp>
      <p:sp>
        <p:nvSpPr>
          <p:cNvPr id="6" name="Textfeld 5">
            <a:extLst>
              <a:ext uri="{FF2B5EF4-FFF2-40B4-BE49-F238E27FC236}">
                <a16:creationId xmlns:a16="http://schemas.microsoft.com/office/drawing/2014/main" id="{5A0C1D80-254C-F14E-9738-0DFC75ADC9E6}"/>
              </a:ext>
            </a:extLst>
          </p:cNvPr>
          <p:cNvSpPr txBox="1"/>
          <p:nvPr/>
        </p:nvSpPr>
        <p:spPr>
          <a:xfrm>
            <a:off x="5562724" y="5436815"/>
            <a:ext cx="4822481" cy="813211"/>
          </a:xfrm>
          <a:prstGeom prst="rect">
            <a:avLst/>
          </a:prstGeom>
          <a:solidFill>
            <a:schemeClr val="accent5">
              <a:lumMod val="90000"/>
            </a:schemeClr>
          </a:solidFill>
          <a:ln>
            <a:solidFill>
              <a:schemeClr val="accent5">
                <a:lumMod val="50000"/>
              </a:schemeClr>
            </a:solidFill>
          </a:ln>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b="1" kern="0" dirty="0">
                <a:solidFill>
                  <a:srgbClr val="000000"/>
                </a:solidFill>
                <a:latin typeface="Avenir Book" panose="02000503020000020003" pitchFamily="2" charset="0"/>
                <a:ea typeface="ＭＳ Ｐゴシック" pitchFamily="34" charset="-128"/>
              </a:rPr>
              <a:t>Merken Sie sich: </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Schreiben ist eine Form der Kommunikation.</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Schreiben ist eine Form auf etwas/sich aufmerksam zu machen.</a:t>
            </a:r>
          </a:p>
        </p:txBody>
      </p:sp>
      <p:pic>
        <p:nvPicPr>
          <p:cNvPr id="7" name="Grafik 6" descr="Kopf mit Zahnrädern Silhouette">
            <a:extLst>
              <a:ext uri="{FF2B5EF4-FFF2-40B4-BE49-F238E27FC236}">
                <a16:creationId xmlns:a16="http://schemas.microsoft.com/office/drawing/2014/main" id="{E8306EE7-2A0E-6E4F-A047-2A2FFC4534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2724" y="5446662"/>
            <a:ext cx="621849" cy="621849"/>
          </a:xfrm>
          <a:prstGeom prst="rect">
            <a:avLst/>
          </a:prstGeom>
        </p:spPr>
      </p:pic>
    </p:spTree>
    <p:extLst>
      <p:ext uri="{BB962C8B-B14F-4D97-AF65-F5344CB8AC3E}">
        <p14:creationId xmlns:p14="http://schemas.microsoft.com/office/powerpoint/2010/main" val="1056620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Inhalte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Technische Berichte schreiben  </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88612"/>
            <a:ext cx="5760640" cy="744282"/>
          </a:xfrm>
          <a:prstGeom prst="rect">
            <a:avLst/>
          </a:prstGeom>
          <a:solidFill>
            <a:schemeClr val="accent5"/>
          </a:solidFill>
        </p:spPr>
        <p:txBody>
          <a:bodyPr wrap="square" lIns="104306" tIns="52153" rIns="104306" bIns="52153" rtlCol="0">
            <a:spAutoFit/>
          </a:bodyPr>
          <a:lstStyle/>
          <a:p>
            <a:pPr marL="0" lvl="1" indent="0" defTabSz="704850" eaLnBrk="0" hangingPunct="0">
              <a:lnSpc>
                <a:spcPct val="114000"/>
              </a:lnSpc>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1. Planung &amp; Struktur eines technischen Berichts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     Entwicklung des roten Fadens</a:t>
            </a:r>
          </a:p>
        </p:txBody>
      </p:sp>
      <p:sp>
        <p:nvSpPr>
          <p:cNvPr id="11" name="Textfeld 10">
            <a:extLst>
              <a:ext uri="{FF2B5EF4-FFF2-40B4-BE49-F238E27FC236}">
                <a16:creationId xmlns:a16="http://schemas.microsoft.com/office/drawing/2014/main" id="{787EDF8B-C5EF-D743-BF32-9FCC4B03597D}"/>
              </a:ext>
            </a:extLst>
          </p:cNvPr>
          <p:cNvSpPr txBox="1"/>
          <p:nvPr/>
        </p:nvSpPr>
        <p:spPr>
          <a:xfrm>
            <a:off x="302032" y="2168408"/>
            <a:ext cx="6262642" cy="802888"/>
          </a:xfrm>
          <a:prstGeom prst="rect">
            <a:avLst/>
          </a:prstGeom>
          <a:solidFill>
            <a:schemeClr val="accent5">
              <a:lumMod val="75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2. Ausarbeitung des Berichts</a:t>
            </a:r>
          </a:p>
          <a:p>
            <a:pPr marL="0" lvl="1" indent="0" defTabSz="704850">
              <a:lnSpc>
                <a:spcPct val="114000"/>
              </a:lnSpc>
              <a:spcBef>
                <a:spcPts val="600"/>
              </a:spcBef>
              <a:tabLst>
                <a:tab pos="179388" algn="l"/>
                <a:tab pos="2151063" algn="l"/>
                <a:tab pos="2868613" algn="l"/>
              </a:tabLst>
            </a:pPr>
            <a:r>
              <a:rPr lang="de-DE" sz="1600" dirty="0">
                <a:latin typeface="Avenir Book" panose="02000503020000020003" pitchFamily="2" charset="0"/>
                <a:ea typeface="ＭＳ Ｐゴシック" pitchFamily="34" charset="-128"/>
              </a:rPr>
              <a:t>     </a:t>
            </a:r>
            <a:r>
              <a:rPr lang="de-DE" sz="1800" dirty="0">
                <a:latin typeface="Avenir Book" panose="02000503020000020003" pitchFamily="2" charset="0"/>
                <a:ea typeface="ＭＳ Ｐゴシック" pitchFamily="34" charset="-128"/>
              </a:rPr>
              <a:t>Einleitung – Hauptteil – Schluss </a:t>
            </a:r>
          </a:p>
        </p:txBody>
      </p:sp>
      <p:sp>
        <p:nvSpPr>
          <p:cNvPr id="14" name="Textfeld 13">
            <a:extLst>
              <a:ext uri="{FF2B5EF4-FFF2-40B4-BE49-F238E27FC236}">
                <a16:creationId xmlns:a16="http://schemas.microsoft.com/office/drawing/2014/main" id="{F8DC594C-7912-D14A-B5E5-1452E3DE264A}"/>
              </a:ext>
            </a:extLst>
          </p:cNvPr>
          <p:cNvSpPr txBox="1"/>
          <p:nvPr/>
        </p:nvSpPr>
        <p:spPr>
          <a:xfrm>
            <a:off x="302032" y="3533549"/>
            <a:ext cx="7348924" cy="410152"/>
          </a:xfrm>
          <a:prstGeom prst="rect">
            <a:avLst/>
          </a:prstGeom>
          <a:solidFill>
            <a:schemeClr val="accent5">
              <a:lumMod val="75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    Quellenangaben und Zitate</a:t>
            </a:r>
          </a:p>
        </p:txBody>
      </p:sp>
      <p:sp>
        <p:nvSpPr>
          <p:cNvPr id="15" name="Textfeld 14">
            <a:extLst>
              <a:ext uri="{FF2B5EF4-FFF2-40B4-BE49-F238E27FC236}">
                <a16:creationId xmlns:a16="http://schemas.microsoft.com/office/drawing/2014/main" id="{6870390F-55E2-2D4E-B365-FBA42EFB6B55}"/>
              </a:ext>
            </a:extLst>
          </p:cNvPr>
          <p:cNvSpPr txBox="1"/>
          <p:nvPr/>
        </p:nvSpPr>
        <p:spPr>
          <a:xfrm>
            <a:off x="302032" y="3983707"/>
            <a:ext cx="7848872" cy="410152"/>
          </a:xfrm>
          <a:prstGeom prst="rect">
            <a:avLst/>
          </a:prstGeom>
          <a:solidFill>
            <a:schemeClr val="accent5">
              <a:lumMod val="75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    Literaturverzeichnis</a:t>
            </a:r>
          </a:p>
        </p:txBody>
      </p:sp>
      <p:sp>
        <p:nvSpPr>
          <p:cNvPr id="16" name="Textfeld 15">
            <a:extLst>
              <a:ext uri="{FF2B5EF4-FFF2-40B4-BE49-F238E27FC236}">
                <a16:creationId xmlns:a16="http://schemas.microsoft.com/office/drawing/2014/main" id="{D327A27D-F80E-0647-BE8C-5D6D34EB3E58}"/>
              </a:ext>
            </a:extLst>
          </p:cNvPr>
          <p:cNvSpPr txBox="1"/>
          <p:nvPr/>
        </p:nvSpPr>
        <p:spPr>
          <a:xfrm>
            <a:off x="302032" y="4523767"/>
            <a:ext cx="8856984" cy="769032"/>
          </a:xfrm>
          <a:prstGeom prst="rect">
            <a:avLst/>
          </a:prstGeom>
          <a:solidFill>
            <a:schemeClr val="accent5">
              <a:lumMod val="75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    Hilfreiche Hinweise zur Textproduktion </a:t>
            </a:r>
          </a:p>
          <a:p>
            <a:pPr marL="0" lvl="1" indent="0" defTabSz="704850">
              <a:lnSpc>
                <a:spcPct val="114000"/>
              </a:lnSpc>
              <a:spcBef>
                <a:spcPts val="600"/>
              </a:spcBef>
              <a:tabLst>
                <a:tab pos="179388" algn="l"/>
                <a:tab pos="2151063" algn="l"/>
                <a:tab pos="2868613" algn="l"/>
              </a:tabLst>
            </a:pPr>
            <a:r>
              <a:rPr lang="de-DE" sz="1600" dirty="0">
                <a:latin typeface="Avenir Book" panose="02000503020000020003" pitchFamily="2" charset="0"/>
                <a:ea typeface="ＭＳ Ｐゴシック" pitchFamily="34" charset="-128"/>
              </a:rPr>
              <a:t>    (Stil, Formulierungen, Verbesserung der Verständlichkeit, häufige Fehler vermeiden)</a:t>
            </a:r>
          </a:p>
        </p:txBody>
      </p:sp>
      <p:sp>
        <p:nvSpPr>
          <p:cNvPr id="17" name="Textfeld 16">
            <a:extLst>
              <a:ext uri="{FF2B5EF4-FFF2-40B4-BE49-F238E27FC236}">
                <a16:creationId xmlns:a16="http://schemas.microsoft.com/office/drawing/2014/main" id="{0F185A70-87A9-AE44-8283-EF0EBEBCCB7D}"/>
              </a:ext>
            </a:extLst>
          </p:cNvPr>
          <p:cNvSpPr txBox="1"/>
          <p:nvPr/>
        </p:nvSpPr>
        <p:spPr>
          <a:xfrm>
            <a:off x="302032" y="5372812"/>
            <a:ext cx="9865096" cy="410152"/>
          </a:xfrm>
          <a:prstGeom prst="rect">
            <a:avLst/>
          </a:prstGeom>
          <a:solidFill>
            <a:schemeClr val="accent5">
              <a:lumMod val="50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3. Fertigstellung/Endredaktion</a:t>
            </a:r>
          </a:p>
        </p:txBody>
      </p:sp>
      <p:sp>
        <p:nvSpPr>
          <p:cNvPr id="19" name="Textfeld 18">
            <a:extLst>
              <a:ext uri="{FF2B5EF4-FFF2-40B4-BE49-F238E27FC236}">
                <a16:creationId xmlns:a16="http://schemas.microsoft.com/office/drawing/2014/main" id="{D32E261D-C449-534C-80F2-0F5245299DCE}"/>
              </a:ext>
            </a:extLst>
          </p:cNvPr>
          <p:cNvSpPr txBox="1"/>
          <p:nvPr/>
        </p:nvSpPr>
        <p:spPr>
          <a:xfrm>
            <a:off x="302032" y="3084570"/>
            <a:ext cx="6844868" cy="410152"/>
          </a:xfrm>
          <a:prstGeom prst="rect">
            <a:avLst/>
          </a:prstGeom>
          <a:solidFill>
            <a:schemeClr val="accent5">
              <a:lumMod val="75000"/>
            </a:schemeClr>
          </a:solidFill>
        </p:spPr>
        <p:txBody>
          <a:bodyPr wrap="square" lIns="104306" tIns="52153" rIns="104306" bIns="52153" rtlCol="0">
            <a:spAutoFit/>
          </a:bodyPr>
          <a:lstStyle/>
          <a:p>
            <a:pPr marL="0" lvl="1" indent="0" defTabSz="704850">
              <a:lnSpc>
                <a:spcPct val="114000"/>
              </a:lnSpc>
              <a:spcBef>
                <a:spcPts val="600"/>
              </a:spcBef>
              <a:tabLst>
                <a:tab pos="179388" algn="l"/>
                <a:tab pos="2151063" algn="l"/>
                <a:tab pos="2868613" algn="l"/>
              </a:tabLst>
            </a:pPr>
            <a:r>
              <a:rPr lang="de-DE" sz="1800" dirty="0">
                <a:latin typeface="Avenir Book" panose="02000503020000020003" pitchFamily="2" charset="0"/>
                <a:ea typeface="ＭＳ Ｐゴシック" pitchFamily="34" charset="-128"/>
              </a:rPr>
              <a:t>    Formeln, Tabellen, Abbildungen und Grafiken</a:t>
            </a:r>
          </a:p>
        </p:txBody>
      </p:sp>
    </p:spTree>
    <p:extLst>
      <p:ext uri="{BB962C8B-B14F-4D97-AF65-F5344CB8AC3E}">
        <p14:creationId xmlns:p14="http://schemas.microsoft.com/office/powerpoint/2010/main" val="3219356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Planung – Wo fange ich an?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1. Planung &amp; Struktur eines Technischen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0779"/>
            <a:ext cx="10081120" cy="4475752"/>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Versuchen Sie folgenden Fragen für sich zu beantworten – am besten schriftlich!</a:t>
            </a:r>
          </a:p>
          <a:p>
            <a:pPr marL="0" lvl="1" indent="0" defTabSz="704850" eaLnBrk="0" hangingPunct="0">
              <a:spcBef>
                <a:spcPts val="600"/>
              </a:spcBef>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Was ist mein </a:t>
            </a:r>
            <a:r>
              <a:rPr lang="de-DE" sz="1600" b="1" kern="0" dirty="0">
                <a:solidFill>
                  <a:srgbClr val="000000"/>
                </a:solidFill>
                <a:latin typeface="Avenir Book" panose="02000503020000020003" pitchFamily="2" charset="0"/>
                <a:ea typeface="ＭＳ Ｐゴシック" pitchFamily="34" charset="-128"/>
              </a:rPr>
              <a:t>Ziel</a:t>
            </a:r>
            <a:r>
              <a:rPr lang="de-DE" sz="1600" kern="0" dirty="0">
                <a:solidFill>
                  <a:srgbClr val="000000"/>
                </a:solidFill>
                <a:latin typeface="Avenir Book" panose="02000503020000020003" pitchFamily="2" charset="0"/>
                <a:ea typeface="ＭＳ Ｐゴシック" pitchFamily="34" charset="-128"/>
              </a:rPr>
              <a:t>? Was versuche ich zu erreichen?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Welche </a:t>
            </a:r>
            <a:r>
              <a:rPr lang="de-DE" sz="1600" b="1" kern="0" dirty="0">
                <a:solidFill>
                  <a:srgbClr val="000000"/>
                </a:solidFill>
                <a:latin typeface="Avenir Book" panose="02000503020000020003" pitchFamily="2" charset="0"/>
                <a:ea typeface="ＭＳ Ｐゴシック" pitchFamily="34" charset="-128"/>
              </a:rPr>
              <a:t>Fragestellung</a:t>
            </a:r>
            <a:r>
              <a:rPr lang="de-DE" sz="1600" kern="0" dirty="0">
                <a:solidFill>
                  <a:srgbClr val="000000"/>
                </a:solidFill>
                <a:latin typeface="Avenir Book" panose="02000503020000020003" pitchFamily="2" charset="0"/>
                <a:ea typeface="ＭＳ Ｐゴシック" pitchFamily="34" charset="-128"/>
              </a:rPr>
              <a:t> versuche ich zu bearbeiten?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Was ist das </a:t>
            </a:r>
            <a:r>
              <a:rPr lang="de-DE" sz="1600" b="1" kern="0" dirty="0">
                <a:solidFill>
                  <a:srgbClr val="000000"/>
                </a:solidFill>
                <a:latin typeface="Avenir Book" panose="02000503020000020003" pitchFamily="2" charset="0"/>
                <a:ea typeface="ＭＳ Ｐゴシック" pitchFamily="34" charset="-128"/>
              </a:rPr>
              <a:t>Problem</a:t>
            </a:r>
            <a:r>
              <a:rPr lang="de-DE" sz="1600" kern="0" dirty="0">
                <a:solidFill>
                  <a:srgbClr val="000000"/>
                </a:solidFill>
                <a:latin typeface="Avenir Book" panose="02000503020000020003" pitchFamily="2" charset="0"/>
                <a:ea typeface="ＭＳ Ｐゴシック" pitchFamily="34" charset="-128"/>
              </a:rPr>
              <a:t> mit dem ich mich beschäftigen soll?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Wer ist mein </a:t>
            </a:r>
            <a:r>
              <a:rPr lang="de-DE" sz="1600" b="1" kern="0" dirty="0">
                <a:solidFill>
                  <a:srgbClr val="000000"/>
                </a:solidFill>
                <a:latin typeface="Avenir Book" panose="02000503020000020003" pitchFamily="2" charset="0"/>
                <a:ea typeface="ＭＳ Ｐゴシック" pitchFamily="34" charset="-128"/>
              </a:rPr>
              <a:t>Zielpublikum</a:t>
            </a:r>
            <a:r>
              <a:rPr lang="de-DE" sz="1600" kern="0" dirty="0">
                <a:solidFill>
                  <a:srgbClr val="000000"/>
                </a:solidFill>
                <a:latin typeface="Avenir Book" panose="02000503020000020003" pitchFamily="2" charset="0"/>
                <a:ea typeface="ＭＳ Ｐゴシック" pitchFamily="34" charset="-128"/>
              </a:rPr>
              <a:t>? Für wen schreibe ich den Bericht?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Was sind </a:t>
            </a:r>
            <a:r>
              <a:rPr lang="de-DE" sz="1600" b="1" kern="0" dirty="0">
                <a:solidFill>
                  <a:srgbClr val="000000"/>
                </a:solidFill>
                <a:latin typeface="Avenir Book" panose="02000503020000020003" pitchFamily="2" charset="0"/>
                <a:ea typeface="ＭＳ Ｐゴシック" pitchFamily="34" charset="-128"/>
              </a:rPr>
              <a:t>meine Lernziele</a:t>
            </a:r>
            <a:r>
              <a:rPr lang="de-DE" sz="1600" kern="0" dirty="0">
                <a:solidFill>
                  <a:srgbClr val="000000"/>
                </a:solidFill>
                <a:latin typeface="Avenir Book" panose="02000503020000020003" pitchFamily="2" charset="0"/>
                <a:ea typeface="ＭＳ Ｐゴシック" pitchFamily="34" charset="-128"/>
              </a:rPr>
              <a: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Welche </a:t>
            </a:r>
            <a:r>
              <a:rPr lang="de-DE" sz="1600" b="1" kern="0" dirty="0">
                <a:solidFill>
                  <a:srgbClr val="000000"/>
                </a:solidFill>
                <a:latin typeface="Avenir Book" panose="02000503020000020003" pitchFamily="2" charset="0"/>
                <a:ea typeface="ＭＳ Ｐゴシック" pitchFamily="34" charset="-128"/>
              </a:rPr>
              <a:t>Arbeitsschritte</a:t>
            </a:r>
            <a:r>
              <a:rPr lang="de-DE" sz="1600" kern="0" dirty="0">
                <a:solidFill>
                  <a:srgbClr val="000000"/>
                </a:solidFill>
                <a:latin typeface="Avenir Book" panose="02000503020000020003" pitchFamily="2" charset="0"/>
                <a:ea typeface="ＭＳ Ｐゴシック" pitchFamily="34" charset="-128"/>
              </a:rPr>
              <a:t> führen mich zum Ziel?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Was brauche ich um mein Ziel zu erreichen?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	        Welche </a:t>
            </a:r>
            <a:r>
              <a:rPr lang="de-DE" sz="1600" b="1" kern="0" dirty="0">
                <a:solidFill>
                  <a:srgbClr val="000000"/>
                </a:solidFill>
                <a:latin typeface="Avenir Book" panose="02000503020000020003" pitchFamily="2" charset="0"/>
                <a:ea typeface="ＭＳ Ｐゴシック" pitchFamily="34" charset="-128"/>
              </a:rPr>
              <a:t>Ressourcen &amp; Informationen </a:t>
            </a:r>
            <a:r>
              <a:rPr lang="de-DE" sz="1600" kern="0" dirty="0">
                <a:solidFill>
                  <a:srgbClr val="000000"/>
                </a:solidFill>
                <a:latin typeface="Avenir Book" panose="02000503020000020003" pitchFamily="2" charset="0"/>
                <a:ea typeface="ＭＳ Ｐゴシック" pitchFamily="34" charset="-128"/>
              </a:rPr>
              <a:t>brauche ich?</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           Welche Informationen habe ich schon? Welche nicht?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           Woher oder von wem könnte ich diese Informationen bekommen?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Aus welcher </a:t>
            </a:r>
            <a:r>
              <a:rPr lang="de-DE" sz="1600" b="1" kern="0" dirty="0">
                <a:solidFill>
                  <a:srgbClr val="000000"/>
                </a:solidFill>
                <a:latin typeface="Avenir Book" panose="02000503020000020003" pitchFamily="2" charset="0"/>
                <a:ea typeface="ＭＳ Ｐゴシック" pitchFamily="34" charset="-128"/>
              </a:rPr>
              <a:t>Perspektive</a:t>
            </a:r>
            <a:r>
              <a:rPr lang="de-DE" sz="1600" kern="0" dirty="0">
                <a:solidFill>
                  <a:srgbClr val="000000"/>
                </a:solidFill>
                <a:latin typeface="Avenir Book" panose="02000503020000020003" pitchFamily="2" charset="0"/>
                <a:ea typeface="ＭＳ Ｐゴシック" pitchFamily="34" charset="-128"/>
              </a:rPr>
              <a:t> betrachte ich das Problem? Welche anderen Blickwinkel sollte ich noch beachten? Welche sind relevant?</a:t>
            </a:r>
          </a:p>
        </p:txBody>
      </p:sp>
      <p:pic>
        <p:nvPicPr>
          <p:cNvPr id="7" name="Grafik 6" descr="Kopf mit Zahnrädern Silhouette">
            <a:extLst>
              <a:ext uri="{FF2B5EF4-FFF2-40B4-BE49-F238E27FC236}">
                <a16:creationId xmlns:a16="http://schemas.microsoft.com/office/drawing/2014/main" id="{E8306EE7-2A0E-6E4F-A047-2A2FFC4534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51156" y="2042867"/>
            <a:ext cx="1072606" cy="1072606"/>
          </a:xfrm>
          <a:prstGeom prst="rect">
            <a:avLst/>
          </a:prstGeom>
        </p:spPr>
      </p:pic>
      <p:pic>
        <p:nvPicPr>
          <p:cNvPr id="3" name="Grafik 2" descr="Klemmbrett abgehakt Silhouette">
            <a:extLst>
              <a:ext uri="{FF2B5EF4-FFF2-40B4-BE49-F238E27FC236}">
                <a16:creationId xmlns:a16="http://schemas.microsoft.com/office/drawing/2014/main" id="{4F3769B9-E62B-2349-BC1D-73126E6EE8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40084" y="4068663"/>
            <a:ext cx="914400" cy="914400"/>
          </a:xfrm>
          <a:prstGeom prst="rect">
            <a:avLst/>
          </a:prstGeom>
        </p:spPr>
      </p:pic>
      <p:pic>
        <p:nvPicPr>
          <p:cNvPr id="11" name="Grafik 10" descr="Skizze Silhouette">
            <a:extLst>
              <a:ext uri="{FF2B5EF4-FFF2-40B4-BE49-F238E27FC236}">
                <a16:creationId xmlns:a16="http://schemas.microsoft.com/office/drawing/2014/main" id="{9E9E52A4-2A93-B342-BCAE-5CA03DB490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94366" y="3303761"/>
            <a:ext cx="692894" cy="692894"/>
          </a:xfrm>
          <a:prstGeom prst="rect">
            <a:avLst/>
          </a:prstGeom>
        </p:spPr>
      </p:pic>
    </p:spTree>
    <p:extLst>
      <p:ext uri="{BB962C8B-B14F-4D97-AF65-F5344CB8AC3E}">
        <p14:creationId xmlns:p14="http://schemas.microsoft.com/office/powerpoint/2010/main" val="391413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8E0B3EEF-4472-4343-8773-38139AA2D970}"/>
              </a:ext>
            </a:extLst>
          </p:cNvPr>
          <p:cNvSpPr/>
          <p:nvPr/>
        </p:nvSpPr>
        <p:spPr>
          <a:xfrm>
            <a:off x="2812827" y="5048169"/>
            <a:ext cx="4968552" cy="14687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D6648615-19AF-1B43-AD16-35CEC7897098}"/>
              </a:ext>
            </a:extLst>
          </p:cNvPr>
          <p:cNvSpPr/>
          <p:nvPr/>
        </p:nvSpPr>
        <p:spPr>
          <a:xfrm>
            <a:off x="2812827" y="4712134"/>
            <a:ext cx="4968552" cy="2709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DDE78D1C-B933-DD4D-A7B5-A30989F7A5C1}"/>
              </a:ext>
            </a:extLst>
          </p:cNvPr>
          <p:cNvSpPr/>
          <p:nvPr/>
        </p:nvSpPr>
        <p:spPr>
          <a:xfrm>
            <a:off x="2812827" y="3425192"/>
            <a:ext cx="4968552" cy="2834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hteck 11">
            <a:extLst>
              <a:ext uri="{FF2B5EF4-FFF2-40B4-BE49-F238E27FC236}">
                <a16:creationId xmlns:a16="http://schemas.microsoft.com/office/drawing/2014/main" id="{E850D79F-49E0-1A4F-BEF5-775191D81E59}"/>
              </a:ext>
            </a:extLst>
          </p:cNvPr>
          <p:cNvSpPr/>
          <p:nvPr/>
        </p:nvSpPr>
        <p:spPr>
          <a:xfrm>
            <a:off x="2814821" y="3780631"/>
            <a:ext cx="4968552" cy="86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D2083070-3F2B-3E49-BB7A-C3873EDC1A20}"/>
              </a:ext>
            </a:extLst>
          </p:cNvPr>
          <p:cNvSpPr/>
          <p:nvPr/>
        </p:nvSpPr>
        <p:spPr>
          <a:xfrm>
            <a:off x="2812827" y="1476375"/>
            <a:ext cx="4968552" cy="18768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Struktur – Wie ist ein Bericht aufgebaut?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1. Planung &amp; Struktur eines Technischen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2444" y="1476375"/>
            <a:ext cx="4412428" cy="5122083"/>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Deckblatt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Eidesstattliche Erklärung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(Vorwort und Danksagung)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Kurzfassung/</a:t>
            </a:r>
            <a:r>
              <a:rPr lang="de-DE" sz="1600" kern="0" dirty="0" err="1">
                <a:solidFill>
                  <a:srgbClr val="000000"/>
                </a:solidFill>
                <a:latin typeface="Avenir Book" panose="02000503020000020003" pitchFamily="2" charset="0"/>
                <a:ea typeface="ＭＳ Ｐゴシック" pitchFamily="34" charset="-128"/>
              </a:rPr>
              <a:t>abstract</a:t>
            </a: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Inhaltsverzeichnis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Abkürzungsverzeichnis </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Einleitung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Methodik</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Ergebnisse</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Diskussion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Zusammenfassung und Ausblick</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Literaturverzeichnis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Abbildungsverzeichnis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Tabellenverzeichnis, ggf. Formelzeichen-verzeichnis, Normenverzeichnis,…)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Anhang </a:t>
            </a:r>
          </a:p>
        </p:txBody>
      </p:sp>
      <p:sp>
        <p:nvSpPr>
          <p:cNvPr id="5" name="Geschweifte Klammer links 4">
            <a:extLst>
              <a:ext uri="{FF2B5EF4-FFF2-40B4-BE49-F238E27FC236}">
                <a16:creationId xmlns:a16="http://schemas.microsoft.com/office/drawing/2014/main" id="{5D9020DE-7CE5-1840-9D37-D75CADC3ED79}"/>
              </a:ext>
            </a:extLst>
          </p:cNvPr>
          <p:cNvSpPr/>
          <p:nvPr/>
        </p:nvSpPr>
        <p:spPr>
          <a:xfrm>
            <a:off x="2610396" y="1476375"/>
            <a:ext cx="72008" cy="1876809"/>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de-DE"/>
          </a:p>
        </p:txBody>
      </p:sp>
      <p:sp>
        <p:nvSpPr>
          <p:cNvPr id="16" name="Textfeld 15">
            <a:extLst>
              <a:ext uri="{FF2B5EF4-FFF2-40B4-BE49-F238E27FC236}">
                <a16:creationId xmlns:a16="http://schemas.microsoft.com/office/drawing/2014/main" id="{EE648759-FA6A-6A4D-B85D-D34C376ABA75}"/>
              </a:ext>
            </a:extLst>
          </p:cNvPr>
          <p:cNvSpPr txBox="1"/>
          <p:nvPr/>
        </p:nvSpPr>
        <p:spPr>
          <a:xfrm>
            <a:off x="956902" y="2208997"/>
            <a:ext cx="1545391" cy="382324"/>
          </a:xfrm>
          <a:prstGeom prst="rect">
            <a:avLst/>
          </a:prstGeom>
          <a:no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„Titelei“</a:t>
            </a:r>
          </a:p>
        </p:txBody>
      </p:sp>
      <p:sp>
        <p:nvSpPr>
          <p:cNvPr id="17" name="Textfeld 16">
            <a:extLst>
              <a:ext uri="{FF2B5EF4-FFF2-40B4-BE49-F238E27FC236}">
                <a16:creationId xmlns:a16="http://schemas.microsoft.com/office/drawing/2014/main" id="{574602AF-CB53-5549-8253-374CC47B0D45}"/>
              </a:ext>
            </a:extLst>
          </p:cNvPr>
          <p:cNvSpPr txBox="1"/>
          <p:nvPr/>
        </p:nvSpPr>
        <p:spPr>
          <a:xfrm>
            <a:off x="956901" y="3398307"/>
            <a:ext cx="1545391" cy="382324"/>
          </a:xfrm>
          <a:prstGeom prst="rect">
            <a:avLst/>
          </a:prstGeom>
          <a:no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Einleitung</a:t>
            </a:r>
          </a:p>
        </p:txBody>
      </p:sp>
      <p:sp>
        <p:nvSpPr>
          <p:cNvPr id="18" name="Textfeld 17">
            <a:extLst>
              <a:ext uri="{FF2B5EF4-FFF2-40B4-BE49-F238E27FC236}">
                <a16:creationId xmlns:a16="http://schemas.microsoft.com/office/drawing/2014/main" id="{88E21205-1528-C246-8A1F-BBA8F8E4C282}"/>
              </a:ext>
            </a:extLst>
          </p:cNvPr>
          <p:cNvSpPr txBox="1"/>
          <p:nvPr/>
        </p:nvSpPr>
        <p:spPr>
          <a:xfrm>
            <a:off x="920989" y="4046379"/>
            <a:ext cx="1545391" cy="382324"/>
          </a:xfrm>
          <a:prstGeom prst="rect">
            <a:avLst/>
          </a:prstGeom>
          <a:no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Hauptteil</a:t>
            </a:r>
          </a:p>
        </p:txBody>
      </p:sp>
      <p:sp>
        <p:nvSpPr>
          <p:cNvPr id="19" name="Textfeld 18">
            <a:extLst>
              <a:ext uri="{FF2B5EF4-FFF2-40B4-BE49-F238E27FC236}">
                <a16:creationId xmlns:a16="http://schemas.microsoft.com/office/drawing/2014/main" id="{0E455C98-0467-EA40-81E5-2D14C6D934C4}"/>
              </a:ext>
            </a:extLst>
          </p:cNvPr>
          <p:cNvSpPr txBox="1"/>
          <p:nvPr/>
        </p:nvSpPr>
        <p:spPr>
          <a:xfrm>
            <a:off x="920988" y="4694451"/>
            <a:ext cx="1545391" cy="382324"/>
          </a:xfrm>
          <a:prstGeom prst="rect">
            <a:avLst/>
          </a:prstGeom>
          <a:no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Schluss</a:t>
            </a:r>
          </a:p>
        </p:txBody>
      </p:sp>
      <p:sp>
        <p:nvSpPr>
          <p:cNvPr id="20" name="Geschweifte Klammer links 19">
            <a:extLst>
              <a:ext uri="{FF2B5EF4-FFF2-40B4-BE49-F238E27FC236}">
                <a16:creationId xmlns:a16="http://schemas.microsoft.com/office/drawing/2014/main" id="{C51B4521-4B0E-0A47-B452-4321CF11C63D}"/>
              </a:ext>
            </a:extLst>
          </p:cNvPr>
          <p:cNvSpPr/>
          <p:nvPr/>
        </p:nvSpPr>
        <p:spPr>
          <a:xfrm>
            <a:off x="2620365" y="3784720"/>
            <a:ext cx="62039" cy="859912"/>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de-DE"/>
          </a:p>
        </p:txBody>
      </p:sp>
      <p:sp>
        <p:nvSpPr>
          <p:cNvPr id="21" name="Geschweifte Klammer links 20">
            <a:extLst>
              <a:ext uri="{FF2B5EF4-FFF2-40B4-BE49-F238E27FC236}">
                <a16:creationId xmlns:a16="http://schemas.microsoft.com/office/drawing/2014/main" id="{6C1B4E4F-0828-8E41-B2FC-3FE077B2A334}"/>
              </a:ext>
            </a:extLst>
          </p:cNvPr>
          <p:cNvSpPr/>
          <p:nvPr/>
        </p:nvSpPr>
        <p:spPr>
          <a:xfrm>
            <a:off x="2630709" y="5080381"/>
            <a:ext cx="62039" cy="1436553"/>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de-DE"/>
          </a:p>
        </p:txBody>
      </p:sp>
      <p:sp>
        <p:nvSpPr>
          <p:cNvPr id="22" name="Textfeld 21">
            <a:extLst>
              <a:ext uri="{FF2B5EF4-FFF2-40B4-BE49-F238E27FC236}">
                <a16:creationId xmlns:a16="http://schemas.microsoft.com/office/drawing/2014/main" id="{B9041F57-A8FC-7541-8B21-4D50EE1563C5}"/>
              </a:ext>
            </a:extLst>
          </p:cNvPr>
          <p:cNvSpPr txBox="1"/>
          <p:nvPr/>
        </p:nvSpPr>
        <p:spPr>
          <a:xfrm>
            <a:off x="450157" y="5364807"/>
            <a:ext cx="2016222" cy="659322"/>
          </a:xfrm>
          <a:prstGeom prst="rect">
            <a:avLst/>
          </a:prstGeom>
          <a:no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Quellen &amp; zusätzliche Daten</a:t>
            </a:r>
          </a:p>
        </p:txBody>
      </p:sp>
      <p:pic>
        <p:nvPicPr>
          <p:cNvPr id="23" name="Grafik 22" descr="Gebäudesteinmauer Silhouette">
            <a:extLst>
              <a:ext uri="{FF2B5EF4-FFF2-40B4-BE49-F238E27FC236}">
                <a16:creationId xmlns:a16="http://schemas.microsoft.com/office/drawing/2014/main" id="{05BD14A8-47C5-9F4D-AFC8-B36FBA6341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8443" y="2864460"/>
            <a:ext cx="914400" cy="914400"/>
          </a:xfrm>
          <a:prstGeom prst="rect">
            <a:avLst/>
          </a:prstGeom>
        </p:spPr>
      </p:pic>
      <p:pic>
        <p:nvPicPr>
          <p:cNvPr id="27" name="Grafik 26" descr="Liste Silhouette">
            <a:extLst>
              <a:ext uri="{FF2B5EF4-FFF2-40B4-BE49-F238E27FC236}">
                <a16:creationId xmlns:a16="http://schemas.microsoft.com/office/drawing/2014/main" id="{F925038A-1A71-2D47-8054-506B69ABBA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8443" y="3797734"/>
            <a:ext cx="914400" cy="914400"/>
          </a:xfrm>
          <a:prstGeom prst="rect">
            <a:avLst/>
          </a:prstGeom>
        </p:spPr>
      </p:pic>
    </p:spTree>
    <p:extLst>
      <p:ext uri="{BB962C8B-B14F-4D97-AF65-F5344CB8AC3E}">
        <p14:creationId xmlns:p14="http://schemas.microsoft.com/office/powerpoint/2010/main" val="295542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8C815326-D0FA-C048-8517-4366F640173C}"/>
              </a:ext>
            </a:extLst>
          </p:cNvPr>
          <p:cNvSpPr/>
          <p:nvPr/>
        </p:nvSpPr>
        <p:spPr>
          <a:xfrm>
            <a:off x="376094" y="1496756"/>
            <a:ext cx="3446027" cy="18768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Struktur - Zusätzliche Bemerkungen </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1. Planung &amp; Struktur eines Technischen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509753" y="1451475"/>
            <a:ext cx="3312368" cy="1967373"/>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Deckblatt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Eidesstattliche Erklärung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(Vorwort und Danksagung)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Kurzfassung/</a:t>
            </a:r>
            <a:r>
              <a:rPr lang="de-DE" sz="1600" kern="0" dirty="0" err="1">
                <a:solidFill>
                  <a:srgbClr val="000000"/>
                </a:solidFill>
                <a:latin typeface="Avenir Book" panose="02000503020000020003" pitchFamily="2" charset="0"/>
                <a:ea typeface="ＭＳ Ｐゴシック" pitchFamily="34" charset="-128"/>
              </a:rPr>
              <a:t>abstract</a:t>
            </a: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Inhaltsverzeichnis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Abkürzungsverzeichnis </a:t>
            </a:r>
          </a:p>
        </p:txBody>
      </p:sp>
      <p:sp>
        <p:nvSpPr>
          <p:cNvPr id="25" name="Textfeld 24">
            <a:extLst>
              <a:ext uri="{FF2B5EF4-FFF2-40B4-BE49-F238E27FC236}">
                <a16:creationId xmlns:a16="http://schemas.microsoft.com/office/drawing/2014/main" id="{B05507CA-B945-EF48-935A-EE07E9D87F6D}"/>
              </a:ext>
            </a:extLst>
          </p:cNvPr>
          <p:cNvSpPr txBox="1"/>
          <p:nvPr/>
        </p:nvSpPr>
        <p:spPr>
          <a:xfrm>
            <a:off x="4914652" y="1485587"/>
            <a:ext cx="4608512" cy="4152586"/>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Welche Angaben sollten auf dem Deckblatt enthalten sein?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Titel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ggf. Untertitel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Logo(s) (Hochschule, Firmen, Institutionen)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Art der Arbeit (z.B. Projektarbeit)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Ort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Zeitraum der Erstellung (z.B. Semester)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Name der Verfasser*innen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Matrikelnummer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Betreuer*innen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Veranstaltung/Modul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p:txBody>
      </p:sp>
      <p:cxnSp>
        <p:nvCxnSpPr>
          <p:cNvPr id="7" name="Gerade Verbindung mit Pfeil 6">
            <a:extLst>
              <a:ext uri="{FF2B5EF4-FFF2-40B4-BE49-F238E27FC236}">
                <a16:creationId xmlns:a16="http://schemas.microsoft.com/office/drawing/2014/main" id="{D8CFA756-CA95-544D-8760-3545106042F5}"/>
              </a:ext>
            </a:extLst>
          </p:cNvPr>
          <p:cNvCxnSpPr>
            <a:cxnSpLocks/>
          </p:cNvCxnSpPr>
          <p:nvPr/>
        </p:nvCxnSpPr>
        <p:spPr>
          <a:xfrm>
            <a:off x="1674292" y="1620391"/>
            <a:ext cx="302433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3120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8C815326-D0FA-C048-8517-4366F640173C}"/>
              </a:ext>
            </a:extLst>
          </p:cNvPr>
          <p:cNvSpPr/>
          <p:nvPr/>
        </p:nvSpPr>
        <p:spPr>
          <a:xfrm>
            <a:off x="376094" y="1496756"/>
            <a:ext cx="3446027" cy="18768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Struktur - Zusätzliche Bemerkungen </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1. Planung &amp; Struktur eines Technischen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509753" y="1451475"/>
            <a:ext cx="3312368" cy="1967373"/>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Deckblatt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Eidesstattliche Erklärung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(Vorwort und Danksagung)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Kurzfassung/</a:t>
            </a:r>
            <a:r>
              <a:rPr lang="de-DE" sz="1600" kern="0" dirty="0" err="1">
                <a:solidFill>
                  <a:srgbClr val="000000"/>
                </a:solidFill>
                <a:latin typeface="Avenir Book" panose="02000503020000020003" pitchFamily="2" charset="0"/>
                <a:ea typeface="ＭＳ Ｐゴシック" pitchFamily="34" charset="-128"/>
              </a:rPr>
              <a:t>abstract</a:t>
            </a: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Inhaltsverzeichnis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Abkürzungsverzeichnis </a:t>
            </a:r>
          </a:p>
        </p:txBody>
      </p:sp>
      <p:sp>
        <p:nvSpPr>
          <p:cNvPr id="25" name="Textfeld 24">
            <a:extLst>
              <a:ext uri="{FF2B5EF4-FFF2-40B4-BE49-F238E27FC236}">
                <a16:creationId xmlns:a16="http://schemas.microsoft.com/office/drawing/2014/main" id="{B05507CA-B945-EF48-935A-EE07E9D87F6D}"/>
              </a:ext>
            </a:extLst>
          </p:cNvPr>
          <p:cNvSpPr txBox="1"/>
          <p:nvPr/>
        </p:nvSpPr>
        <p:spPr>
          <a:xfrm>
            <a:off x="4914652" y="1451475"/>
            <a:ext cx="5616624" cy="351546"/>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Wie kann eine Eidesstattliche Erklärung aussehen?</a:t>
            </a:r>
            <a:r>
              <a:rPr lang="de-DE" sz="1000" kern="0" dirty="0">
                <a:solidFill>
                  <a:srgbClr val="000000"/>
                </a:solidFill>
                <a:latin typeface="Avenir Book" panose="02000503020000020003" pitchFamily="2" charset="0"/>
                <a:ea typeface="ＭＳ Ｐゴシック" pitchFamily="34" charset="-128"/>
              </a:rPr>
              <a:t> (Ein Beispiel)</a:t>
            </a:r>
            <a:endParaRPr lang="de-DE" sz="1600" kern="0" dirty="0">
              <a:solidFill>
                <a:srgbClr val="000000"/>
              </a:solidFill>
              <a:latin typeface="Avenir Book" panose="02000503020000020003" pitchFamily="2" charset="0"/>
              <a:ea typeface="ＭＳ Ｐゴシック" pitchFamily="34" charset="-128"/>
            </a:endParaRPr>
          </a:p>
        </p:txBody>
      </p:sp>
      <p:cxnSp>
        <p:nvCxnSpPr>
          <p:cNvPr id="7" name="Gerade Verbindung mit Pfeil 6">
            <a:extLst>
              <a:ext uri="{FF2B5EF4-FFF2-40B4-BE49-F238E27FC236}">
                <a16:creationId xmlns:a16="http://schemas.microsoft.com/office/drawing/2014/main" id="{D8CFA756-CA95-544D-8760-3545106042F5}"/>
              </a:ext>
            </a:extLst>
          </p:cNvPr>
          <p:cNvCxnSpPr>
            <a:cxnSpLocks/>
          </p:cNvCxnSpPr>
          <p:nvPr/>
        </p:nvCxnSpPr>
        <p:spPr>
          <a:xfrm>
            <a:off x="2958025" y="1908423"/>
            <a:ext cx="172819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Textfeld 10">
            <a:extLst>
              <a:ext uri="{FF2B5EF4-FFF2-40B4-BE49-F238E27FC236}">
                <a16:creationId xmlns:a16="http://schemas.microsoft.com/office/drawing/2014/main" id="{320FEC27-E9E0-754C-B931-1B9438F6361B}"/>
              </a:ext>
            </a:extLst>
          </p:cNvPr>
          <p:cNvSpPr txBox="1"/>
          <p:nvPr/>
        </p:nvSpPr>
        <p:spPr>
          <a:xfrm>
            <a:off x="4936136" y="4428703"/>
            <a:ext cx="5470554" cy="1936595"/>
          </a:xfrm>
          <a:prstGeom prst="rect">
            <a:avLst/>
          </a:prstGeom>
          <a:solidFill>
            <a:schemeClr val="accent5"/>
          </a:solidFill>
          <a:ln>
            <a:solidFill>
              <a:schemeClr val="accent5">
                <a:lumMod val="50000"/>
              </a:schemeClr>
            </a:solidFill>
          </a:ln>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Warum ist sie wichtig?</a:t>
            </a:r>
            <a:endParaRPr lang="de-DE" sz="10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400" dirty="0">
                <a:latin typeface="Avenir Book" panose="02000503020000020003" pitchFamily="2" charset="0"/>
              </a:rPr>
              <a:t>Ein Plagiat liegt vor, wenn „Texte Dritter ganz oder teilweise, wörtlich oder nahezu wörtlich übernommen und als eigene wissenschaftliche Leistung ausgegeben werden. Ein solches Vorgehen widerspricht nicht nur guter wissenschaftlicher Praxis, es ist auch eine Form des geistigen Diebstahls und damit eine Verletzung des Urheberrechts.“ (Resolution des Deutschen Hochschulverbandes vom 17. Juli 2002)</a:t>
            </a:r>
            <a:endParaRPr lang="de-DE" sz="1600" kern="0" dirty="0">
              <a:solidFill>
                <a:srgbClr val="000000"/>
              </a:solidFill>
              <a:latin typeface="Avenir Book" panose="02000503020000020003" pitchFamily="2" charset="0"/>
              <a:ea typeface="ＭＳ Ｐゴシック" pitchFamily="34" charset="-128"/>
            </a:endParaRPr>
          </a:p>
        </p:txBody>
      </p:sp>
      <p:pic>
        <p:nvPicPr>
          <p:cNvPr id="5" name="Grafik 4">
            <a:extLst>
              <a:ext uri="{FF2B5EF4-FFF2-40B4-BE49-F238E27FC236}">
                <a16:creationId xmlns:a16="http://schemas.microsoft.com/office/drawing/2014/main" id="{D2AE3CAF-7346-FD42-8C05-1D1E2AEC9ABB}"/>
              </a:ext>
            </a:extLst>
          </p:cNvPr>
          <p:cNvPicPr>
            <a:picLocks noChangeAspect="1"/>
          </p:cNvPicPr>
          <p:nvPr/>
        </p:nvPicPr>
        <p:blipFill rotWithShape="1">
          <a:blip r:embed="rId2">
            <a:extLst>
              <a:ext uri="{28A0092B-C50C-407E-A947-70E740481C1C}">
                <a14:useLocalDpi xmlns:a14="http://schemas.microsoft.com/office/drawing/2010/main" val="0"/>
              </a:ext>
            </a:extLst>
          </a:blip>
          <a:srcRect l="25085" t="34160" r="20371" b="23064"/>
          <a:stretch/>
        </p:blipFill>
        <p:spPr>
          <a:xfrm>
            <a:off x="5058669" y="1897747"/>
            <a:ext cx="4536504" cy="2223547"/>
          </a:xfrm>
          <a:prstGeom prst="rect">
            <a:avLst/>
          </a:prstGeom>
          <a:ln w="28575">
            <a:solidFill>
              <a:schemeClr val="tx1"/>
            </a:solidFill>
          </a:ln>
        </p:spPr>
      </p:pic>
      <p:pic>
        <p:nvPicPr>
          <p:cNvPr id="12" name="Grafik 11" descr="Kommentar (wichtig) mit einfarbiger Füllung">
            <a:extLst>
              <a:ext uri="{FF2B5EF4-FFF2-40B4-BE49-F238E27FC236}">
                <a16:creationId xmlns:a16="http://schemas.microsoft.com/office/drawing/2014/main" id="{0B9A605A-B076-0646-8FED-7F595B4E73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61959" y="4428703"/>
            <a:ext cx="644731" cy="644731"/>
          </a:xfrm>
          <a:prstGeom prst="rect">
            <a:avLst/>
          </a:prstGeom>
        </p:spPr>
      </p:pic>
    </p:spTree>
    <p:extLst>
      <p:ext uri="{BB962C8B-B14F-4D97-AF65-F5344CB8AC3E}">
        <p14:creationId xmlns:p14="http://schemas.microsoft.com/office/powerpoint/2010/main" val="387344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8C815326-D0FA-C048-8517-4366F640173C}"/>
              </a:ext>
            </a:extLst>
          </p:cNvPr>
          <p:cNvSpPr/>
          <p:nvPr/>
        </p:nvSpPr>
        <p:spPr>
          <a:xfrm>
            <a:off x="376094" y="1496756"/>
            <a:ext cx="3446027" cy="18768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Struktur - Zusätzliche Bemerkungen </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1. Planung &amp; Struktur eines Technischen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509753" y="1451475"/>
            <a:ext cx="3312368" cy="1967373"/>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Deckblatt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Eidesstattliche Erklärung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(Vorwort und Danksagung)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Kurzfassung/</a:t>
            </a:r>
            <a:r>
              <a:rPr lang="de-DE" sz="1600" kern="0" dirty="0" err="1">
                <a:solidFill>
                  <a:srgbClr val="000000"/>
                </a:solidFill>
                <a:latin typeface="Avenir Book" panose="02000503020000020003" pitchFamily="2" charset="0"/>
                <a:ea typeface="ＭＳ Ｐゴシック" pitchFamily="34" charset="-128"/>
              </a:rPr>
              <a:t>abstract</a:t>
            </a: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Inhaltsverzeichnis</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Abkürzungsverzeichnis </a:t>
            </a:r>
          </a:p>
        </p:txBody>
      </p:sp>
      <p:sp>
        <p:nvSpPr>
          <p:cNvPr id="25" name="Textfeld 24">
            <a:extLst>
              <a:ext uri="{FF2B5EF4-FFF2-40B4-BE49-F238E27FC236}">
                <a16:creationId xmlns:a16="http://schemas.microsoft.com/office/drawing/2014/main" id="{B05507CA-B945-EF48-935A-EE07E9D87F6D}"/>
              </a:ext>
            </a:extLst>
          </p:cNvPr>
          <p:cNvSpPr txBox="1"/>
          <p:nvPr/>
        </p:nvSpPr>
        <p:spPr>
          <a:xfrm>
            <a:off x="4914652" y="2380722"/>
            <a:ext cx="5616624" cy="1890429"/>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Fasst die Arbeit in wenigen Sätzen zusammen und gibt einen kurzen Überblick über: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Problemstellung</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Methodik/Vorgehensweise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Lösungsansatz</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Ergebnisse</a:t>
            </a:r>
          </a:p>
        </p:txBody>
      </p:sp>
      <p:cxnSp>
        <p:nvCxnSpPr>
          <p:cNvPr id="7" name="Gerade Verbindung mit Pfeil 6">
            <a:extLst>
              <a:ext uri="{FF2B5EF4-FFF2-40B4-BE49-F238E27FC236}">
                <a16:creationId xmlns:a16="http://schemas.microsoft.com/office/drawing/2014/main" id="{D8CFA756-CA95-544D-8760-3545106042F5}"/>
              </a:ext>
            </a:extLst>
          </p:cNvPr>
          <p:cNvCxnSpPr>
            <a:cxnSpLocks/>
          </p:cNvCxnSpPr>
          <p:nvPr/>
        </p:nvCxnSpPr>
        <p:spPr>
          <a:xfrm>
            <a:off x="2958025" y="2556495"/>
            <a:ext cx="172819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9431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Einleitung</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2. Ausarbeitung des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795142" cy="4645029"/>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Beschriebt die </a:t>
            </a:r>
            <a:r>
              <a:rPr lang="de-DE" sz="1800" b="1" kern="0" dirty="0">
                <a:solidFill>
                  <a:srgbClr val="000000"/>
                </a:solidFill>
                <a:latin typeface="Avenir Book" panose="02000503020000020003" pitchFamily="2" charset="0"/>
                <a:ea typeface="ＭＳ Ｐゴシック" pitchFamily="34" charset="-128"/>
              </a:rPr>
              <a:t>Problemstellung</a:t>
            </a:r>
            <a:r>
              <a:rPr lang="de-DE" sz="1800" kern="0" dirty="0">
                <a:solidFill>
                  <a:srgbClr val="000000"/>
                </a:solidFill>
                <a:latin typeface="Avenir Book" panose="02000503020000020003" pitchFamily="2" charset="0"/>
                <a:ea typeface="ＭＳ Ｐゴシック" pitchFamily="34" charset="-128"/>
              </a:rPr>
              <a:t> und die </a:t>
            </a:r>
            <a:r>
              <a:rPr lang="de-DE" sz="1800" u="sng" kern="0" dirty="0">
                <a:solidFill>
                  <a:srgbClr val="000000"/>
                </a:solidFill>
                <a:latin typeface="Avenir Book" panose="02000503020000020003" pitchFamily="2" charset="0"/>
                <a:ea typeface="ＭＳ Ｐゴシック" pitchFamily="34" charset="-128"/>
              </a:rPr>
              <a:t>Relevanz</a:t>
            </a:r>
            <a:r>
              <a:rPr lang="de-DE" sz="1800" kern="0" dirty="0">
                <a:solidFill>
                  <a:srgbClr val="000000"/>
                </a:solidFill>
                <a:latin typeface="Avenir Book" panose="02000503020000020003" pitchFamily="2" charset="0"/>
                <a:ea typeface="ＭＳ Ｐゴシック" pitchFamily="34" charset="-128"/>
              </a:rPr>
              <a:t> des Projektes für die jeweilige wissenschaftliche </a:t>
            </a:r>
            <a:r>
              <a:rPr lang="de-DE" sz="1800" u="sng" kern="0" dirty="0">
                <a:solidFill>
                  <a:srgbClr val="000000"/>
                </a:solidFill>
                <a:latin typeface="Avenir Book" panose="02000503020000020003" pitchFamily="2" charset="0"/>
                <a:ea typeface="ＭＳ Ｐゴシック" pitchFamily="34" charset="-128"/>
              </a:rPr>
              <a:t>Fachdisziplin</a:t>
            </a:r>
            <a:r>
              <a:rPr lang="de-DE" sz="1800" kern="0" dirty="0">
                <a:solidFill>
                  <a:srgbClr val="000000"/>
                </a:solidFill>
                <a:latin typeface="Avenir Book" panose="02000503020000020003" pitchFamily="2" charset="0"/>
                <a:ea typeface="ＭＳ Ｐゴシック" pitchFamily="34" charset="-128"/>
              </a:rPr>
              <a:t> und die für die </a:t>
            </a:r>
            <a:r>
              <a:rPr lang="de-DE" sz="1800" u="sng" kern="0" dirty="0">
                <a:solidFill>
                  <a:srgbClr val="000000"/>
                </a:solidFill>
                <a:latin typeface="Avenir Book" panose="02000503020000020003" pitchFamily="2" charset="0"/>
                <a:ea typeface="ＭＳ Ｐゴシック" pitchFamily="34" charset="-128"/>
              </a:rPr>
              <a:t>Gesellschaft</a:t>
            </a:r>
            <a:r>
              <a:rPr lang="de-DE" sz="1800" kern="0" dirty="0">
                <a:solidFill>
                  <a:srgbClr val="000000"/>
                </a:solidFill>
                <a:latin typeface="Avenir Book" panose="02000503020000020003" pitchFamily="2" charset="0"/>
                <a:ea typeface="ＭＳ Ｐゴシック" pitchFamily="34" charset="-128"/>
              </a:rPr>
              <a:t> zu erwartenden Auswirkungen der Forschungs- bzw. Arbeitsergebnisse etc.</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Kann Überlegungen zu Verbindungen mit anderen Bereichen enthalten (z.B. Ökologie, Soziales, Ökonomie…)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Beschreibt Rahmenbedingungen der Arbeit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Beeinflusst stark die </a:t>
            </a:r>
            <a:r>
              <a:rPr lang="de-DE" sz="1800" b="1" kern="0" dirty="0">
                <a:solidFill>
                  <a:srgbClr val="000000"/>
                </a:solidFill>
                <a:latin typeface="Avenir Book" panose="02000503020000020003" pitchFamily="2" charset="0"/>
                <a:ea typeface="ＭＳ Ｐゴシック" pitchFamily="34" charset="-128"/>
              </a:rPr>
              <a:t>Motivation</a:t>
            </a:r>
            <a:r>
              <a:rPr lang="de-DE" sz="1800" kern="0" dirty="0">
                <a:solidFill>
                  <a:srgbClr val="000000"/>
                </a:solidFill>
                <a:latin typeface="Avenir Book" panose="02000503020000020003" pitchFamily="2" charset="0"/>
                <a:ea typeface="ＭＳ Ｐゴシック" pitchFamily="34" charset="-128"/>
              </a:rPr>
              <a:t> des Lesers für die gedankliche Auseinandersetzung mit den Inhalten in Ihrem Technischen Bericht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Enthält eine kurze Beschreibung der Struktur der Arbeit mit:</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Problemstellung</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Ziel der Arbeit</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Lösungsansatz</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eingesetzte bzw. untersuchte Methoden</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p:txBody>
      </p:sp>
      <p:sp>
        <p:nvSpPr>
          <p:cNvPr id="28" name="Textfeld 27">
            <a:extLst>
              <a:ext uri="{FF2B5EF4-FFF2-40B4-BE49-F238E27FC236}">
                <a16:creationId xmlns:a16="http://schemas.microsoft.com/office/drawing/2014/main" id="{D87D2E82-637E-B04E-9051-EC90BF09243B}"/>
              </a:ext>
            </a:extLst>
          </p:cNvPr>
          <p:cNvSpPr txBox="1"/>
          <p:nvPr/>
        </p:nvSpPr>
        <p:spPr>
          <a:xfrm>
            <a:off x="6095320" y="5437665"/>
            <a:ext cx="4146480" cy="997877"/>
          </a:xfrm>
          <a:prstGeom prst="rect">
            <a:avLst/>
          </a:prstGeom>
          <a:solidFill>
            <a:schemeClr val="accent5">
              <a:lumMod val="90000"/>
            </a:schemeClr>
          </a:solidFill>
          <a:ln>
            <a:solidFill>
              <a:schemeClr val="accent5">
                <a:lumMod val="50000"/>
              </a:schemeClr>
            </a:solidFill>
          </a:ln>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b="1" kern="0" dirty="0">
                <a:solidFill>
                  <a:srgbClr val="000000"/>
                </a:solidFill>
                <a:latin typeface="Avenir Book" panose="02000503020000020003" pitchFamily="2" charset="0"/>
                <a:ea typeface="ＭＳ Ｐゴシック" pitchFamily="34" charset="-128"/>
              </a:rPr>
              <a:t>Fragen Sie sich: </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Welche Informationen brauchen Leser*innen um weiterlesen zu wollen?</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Wie schaffe ich einen guten Überblick?</a:t>
            </a:r>
          </a:p>
        </p:txBody>
      </p:sp>
      <p:pic>
        <p:nvPicPr>
          <p:cNvPr id="29" name="Grafik 28" descr="Kopf mit Zahnrädern Silhouette">
            <a:extLst>
              <a:ext uri="{FF2B5EF4-FFF2-40B4-BE49-F238E27FC236}">
                <a16:creationId xmlns:a16="http://schemas.microsoft.com/office/drawing/2014/main" id="{C80680A3-753C-B045-A1D4-3E9EF0FA26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5320" y="5443279"/>
            <a:ext cx="621849" cy="621849"/>
          </a:xfrm>
          <a:prstGeom prst="rect">
            <a:avLst/>
          </a:prstGeom>
        </p:spPr>
      </p:pic>
    </p:spTree>
    <p:extLst>
      <p:ext uri="{BB962C8B-B14F-4D97-AF65-F5344CB8AC3E}">
        <p14:creationId xmlns:p14="http://schemas.microsoft.com/office/powerpoint/2010/main" val="380877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Hauptteil</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2. Ausarbeitung des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3306201"/>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Ist die eigentliche Berichtserstattung über das technische Projekt und wird in einer verständlichen und klaren (Fach-)Sprache geschrieben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Erklärt die </a:t>
            </a:r>
            <a:r>
              <a:rPr lang="de-DE" sz="1800" b="1" kern="0" dirty="0">
                <a:solidFill>
                  <a:srgbClr val="000000"/>
                </a:solidFill>
                <a:latin typeface="Avenir Book" panose="02000503020000020003" pitchFamily="2" charset="0"/>
                <a:ea typeface="ＭＳ Ｐゴシック" pitchFamily="34" charset="-128"/>
              </a:rPr>
              <a:t>Problemstellung</a:t>
            </a:r>
            <a:r>
              <a:rPr lang="de-DE" sz="1800" kern="0" dirty="0">
                <a:solidFill>
                  <a:srgbClr val="000000"/>
                </a:solidFill>
                <a:latin typeface="Avenir Book" panose="02000503020000020003" pitchFamily="2" charset="0"/>
                <a:ea typeface="ＭＳ Ｐゴシック" pitchFamily="34" charset="-128"/>
              </a:rPr>
              <a:t> im Detail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Erklärt detailliert die </a:t>
            </a:r>
            <a:r>
              <a:rPr lang="de-DE" sz="1800" b="1" kern="0" dirty="0">
                <a:solidFill>
                  <a:srgbClr val="000000"/>
                </a:solidFill>
                <a:latin typeface="Avenir Book" panose="02000503020000020003" pitchFamily="2" charset="0"/>
                <a:ea typeface="ＭＳ Ｐゴシック" pitchFamily="34" charset="-128"/>
              </a:rPr>
              <a:t>Methodik</a:t>
            </a:r>
            <a:r>
              <a:rPr lang="de-DE" sz="1800" kern="0" dirty="0">
                <a:solidFill>
                  <a:srgbClr val="000000"/>
                </a:solidFill>
                <a:latin typeface="Avenir Book" panose="02000503020000020003" pitchFamily="2" charset="0"/>
                <a:ea typeface="ＭＳ Ｐゴシック" pitchFamily="34" charset="-128"/>
              </a:rPr>
              <a:t> bzw. Herangehensweise der Bearbeitung der Problemstellung</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Aufführung der </a:t>
            </a:r>
            <a:r>
              <a:rPr lang="de-DE" sz="1800" b="1" kern="0" dirty="0">
                <a:solidFill>
                  <a:srgbClr val="000000"/>
                </a:solidFill>
                <a:latin typeface="Avenir Book" panose="02000503020000020003" pitchFamily="2" charset="0"/>
                <a:ea typeface="ＭＳ Ｐゴシック" pitchFamily="34" charset="-128"/>
              </a:rPr>
              <a:t>Ergebnisse</a:t>
            </a:r>
            <a:r>
              <a:rPr lang="de-DE" sz="1800" kern="0" dirty="0">
                <a:solidFill>
                  <a:srgbClr val="000000"/>
                </a:solidFill>
                <a:latin typeface="Avenir Book" panose="02000503020000020003" pitchFamily="2" charset="0"/>
                <a:ea typeface="ＭＳ Ｐゴシック" pitchFamily="34" charset="-128"/>
              </a:rPr>
              <a: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Ergebnisse werden in einen umfassenden </a:t>
            </a:r>
            <a:r>
              <a:rPr lang="de-DE" sz="1800" b="1" kern="0" dirty="0">
                <a:solidFill>
                  <a:srgbClr val="000000"/>
                </a:solidFill>
                <a:latin typeface="Avenir Book" panose="02000503020000020003" pitchFamily="2" charset="0"/>
                <a:ea typeface="ＭＳ Ｐゴシック" pitchFamily="34" charset="-128"/>
              </a:rPr>
              <a:t>Kontext</a:t>
            </a:r>
            <a:r>
              <a:rPr lang="de-DE" sz="1800" kern="0" dirty="0">
                <a:solidFill>
                  <a:srgbClr val="000000"/>
                </a:solidFill>
                <a:latin typeface="Avenir Book" panose="02000503020000020003" pitchFamily="2" charset="0"/>
                <a:ea typeface="ＭＳ Ｐゴシック" pitchFamily="34" charset="-128"/>
              </a:rPr>
              <a:t> zur Ausgangslage, Problemstellung, Methodik gestellt und so </a:t>
            </a:r>
            <a:r>
              <a:rPr lang="de-DE" sz="1800" b="1" kern="0" dirty="0">
                <a:solidFill>
                  <a:srgbClr val="000000"/>
                </a:solidFill>
                <a:latin typeface="Avenir Book" panose="02000503020000020003" pitchFamily="2" charset="0"/>
                <a:ea typeface="ＭＳ Ｐゴシック" pitchFamily="34" charset="-128"/>
              </a:rPr>
              <a:t>interpretiert</a:t>
            </a:r>
            <a:r>
              <a:rPr lang="de-DE" sz="1800" kern="0" dirty="0">
                <a:solidFill>
                  <a:srgbClr val="000000"/>
                </a:solidFill>
                <a:latin typeface="Avenir Book" panose="02000503020000020003" pitchFamily="2" charset="0"/>
                <a:ea typeface="ＭＳ Ｐゴシック" pitchFamily="34" charset="-128"/>
              </a:rPr>
              <a:t> und </a:t>
            </a:r>
            <a:r>
              <a:rPr lang="de-DE" sz="1800" b="1" kern="0" dirty="0">
                <a:solidFill>
                  <a:srgbClr val="000000"/>
                </a:solidFill>
                <a:latin typeface="Avenir Book" panose="02000503020000020003" pitchFamily="2" charset="0"/>
                <a:ea typeface="ＭＳ Ｐゴシック" pitchFamily="34" charset="-128"/>
              </a:rPr>
              <a:t>diskutiert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Text wird durch Abbildungen, Diagramme, Skizzen, Tabelle etc. veranschaulicht</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p:txBody>
      </p:sp>
      <p:sp>
        <p:nvSpPr>
          <p:cNvPr id="28" name="Textfeld 27">
            <a:extLst>
              <a:ext uri="{FF2B5EF4-FFF2-40B4-BE49-F238E27FC236}">
                <a16:creationId xmlns:a16="http://schemas.microsoft.com/office/drawing/2014/main" id="{D87D2E82-637E-B04E-9051-EC90BF09243B}"/>
              </a:ext>
            </a:extLst>
          </p:cNvPr>
          <p:cNvSpPr txBox="1"/>
          <p:nvPr/>
        </p:nvSpPr>
        <p:spPr>
          <a:xfrm>
            <a:off x="6095320" y="5437665"/>
            <a:ext cx="4146480" cy="551601"/>
          </a:xfrm>
          <a:prstGeom prst="rect">
            <a:avLst/>
          </a:prstGeom>
          <a:solidFill>
            <a:schemeClr val="accent5">
              <a:lumMod val="90000"/>
            </a:schemeClr>
          </a:solidFill>
          <a:ln>
            <a:solidFill>
              <a:schemeClr val="accent5">
                <a:lumMod val="50000"/>
              </a:schemeClr>
            </a:solidFill>
          </a:ln>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b="1" kern="0" dirty="0">
                <a:solidFill>
                  <a:srgbClr val="000000"/>
                </a:solidFill>
                <a:latin typeface="Avenir Book" panose="02000503020000020003" pitchFamily="2" charset="0"/>
                <a:ea typeface="ＭＳ Ｐゴシック" pitchFamily="34" charset="-128"/>
              </a:rPr>
              <a:t>Fragen Sie sich: </a:t>
            </a:r>
          </a:p>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a:t>
            </a:r>
          </a:p>
        </p:txBody>
      </p:sp>
      <p:pic>
        <p:nvPicPr>
          <p:cNvPr id="29" name="Grafik 28" descr="Kopf mit Zahnrädern Silhouette">
            <a:extLst>
              <a:ext uri="{FF2B5EF4-FFF2-40B4-BE49-F238E27FC236}">
                <a16:creationId xmlns:a16="http://schemas.microsoft.com/office/drawing/2014/main" id="{C80680A3-753C-B045-A1D4-3E9EF0FA26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5320" y="5443279"/>
            <a:ext cx="621849" cy="621849"/>
          </a:xfrm>
          <a:prstGeom prst="rect">
            <a:avLst/>
          </a:prstGeom>
        </p:spPr>
      </p:pic>
    </p:spTree>
    <p:extLst>
      <p:ext uri="{BB962C8B-B14F-4D97-AF65-F5344CB8AC3E}">
        <p14:creationId xmlns:p14="http://schemas.microsoft.com/office/powerpoint/2010/main" val="1831512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Schluss – Zusammenfassung und Ausblick</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2. Ausarbeitung des Berichts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1721152"/>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Fasst die Kernaussage der Arbeit zusammen (</a:t>
            </a:r>
            <a:r>
              <a:rPr lang="de-DE" sz="1800" b="1" kern="0" dirty="0">
                <a:solidFill>
                  <a:srgbClr val="000000"/>
                </a:solidFill>
                <a:latin typeface="Avenir Book" panose="02000503020000020003" pitchFamily="2" charset="0"/>
                <a:ea typeface="ＭＳ Ｐゴシック" pitchFamily="34" charset="-128"/>
              </a:rPr>
              <a:t>Zusammenfassung</a:t>
            </a:r>
            <a:r>
              <a:rPr lang="de-DE" sz="1800" kern="0" dirty="0">
                <a:solidFill>
                  <a:srgbClr val="000000"/>
                </a:solidFill>
                <a:latin typeface="Avenir Book" panose="02000503020000020003" pitchFamily="2" charset="0"/>
                <a:ea typeface="ＭＳ Ｐゴシック" pitchFamily="34" charset="-128"/>
              </a:rPr>
              <a: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Beschreibt noch einmal kurz, was in welchem Kapitel steht (siehe Gliederung)</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Setzt sich kritisch mit der Aufgabenstellung auseinander: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Kann im </a:t>
            </a:r>
            <a:r>
              <a:rPr lang="de-DE" sz="1800" b="1" kern="0" dirty="0">
                <a:solidFill>
                  <a:srgbClr val="000000"/>
                </a:solidFill>
                <a:latin typeface="Avenir Book" panose="02000503020000020003" pitchFamily="2" charset="0"/>
                <a:ea typeface="ＭＳ Ｐゴシック" pitchFamily="34" charset="-128"/>
              </a:rPr>
              <a:t>Ausblick</a:t>
            </a:r>
            <a:r>
              <a:rPr lang="de-DE" sz="1800" kern="0" dirty="0">
                <a:solidFill>
                  <a:srgbClr val="000000"/>
                </a:solidFill>
                <a:latin typeface="Avenir Book" panose="02000503020000020003" pitchFamily="2" charset="0"/>
                <a:ea typeface="ＭＳ Ｐゴシック" pitchFamily="34" charset="-128"/>
              </a:rPr>
              <a:t> Empfehlungen für eine sinnvolle Fortsetzung des Projektes bzw. der Forschungsarbeit enthalten</a:t>
            </a:r>
            <a:endParaRPr lang="de-DE" sz="1600" kern="0" dirty="0">
              <a:solidFill>
                <a:srgbClr val="000000"/>
              </a:solidFill>
              <a:latin typeface="Avenir Book" panose="02000503020000020003" pitchFamily="2" charset="0"/>
              <a:ea typeface="ＭＳ Ｐゴシック" pitchFamily="34" charset="-128"/>
            </a:endParaRPr>
          </a:p>
        </p:txBody>
      </p:sp>
      <p:sp>
        <p:nvSpPr>
          <p:cNvPr id="28" name="Textfeld 27">
            <a:extLst>
              <a:ext uri="{FF2B5EF4-FFF2-40B4-BE49-F238E27FC236}">
                <a16:creationId xmlns:a16="http://schemas.microsoft.com/office/drawing/2014/main" id="{D87D2E82-637E-B04E-9051-EC90BF09243B}"/>
              </a:ext>
            </a:extLst>
          </p:cNvPr>
          <p:cNvSpPr txBox="1"/>
          <p:nvPr/>
        </p:nvSpPr>
        <p:spPr>
          <a:xfrm>
            <a:off x="5348212" y="5185440"/>
            <a:ext cx="5013466" cy="1259487"/>
          </a:xfrm>
          <a:prstGeom prst="rect">
            <a:avLst/>
          </a:prstGeom>
          <a:solidFill>
            <a:schemeClr val="accent5">
              <a:lumMod val="90000"/>
            </a:schemeClr>
          </a:solidFill>
          <a:ln>
            <a:solidFill>
              <a:schemeClr val="accent5">
                <a:lumMod val="50000"/>
              </a:schemeClr>
            </a:solidFill>
          </a:ln>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b="1" kern="0" dirty="0">
                <a:solidFill>
                  <a:srgbClr val="000000"/>
                </a:solidFill>
                <a:latin typeface="Avenir Book" panose="02000503020000020003" pitchFamily="2" charset="0"/>
                <a:ea typeface="ＭＳ Ｐゴシック" pitchFamily="34" charset="-128"/>
              </a:rPr>
              <a:t>Fragen Sie sich: </a:t>
            </a:r>
          </a:p>
          <a:p>
            <a:pPr marL="522288" lvl="2"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Was sollte getan werden und was wurde tatsächlich erreicht?</a:t>
            </a:r>
          </a:p>
          <a:p>
            <a:pPr marL="522288" lvl="2"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Wo gab es besondere Schwierigkeiten?</a:t>
            </a:r>
          </a:p>
          <a:p>
            <a:pPr marL="522288" lvl="2"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Welche Teile der Aufgabenstellung konnten eventuell gar nicht bearbeitet werden und warum?</a:t>
            </a:r>
          </a:p>
        </p:txBody>
      </p:sp>
      <p:pic>
        <p:nvPicPr>
          <p:cNvPr id="29" name="Grafik 28" descr="Kopf mit Zahnrädern Silhouette">
            <a:extLst>
              <a:ext uri="{FF2B5EF4-FFF2-40B4-BE49-F238E27FC236}">
                <a16:creationId xmlns:a16="http://schemas.microsoft.com/office/drawing/2014/main" id="{C80680A3-753C-B045-A1D4-3E9EF0FA26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49939" y="5193334"/>
            <a:ext cx="621849" cy="621849"/>
          </a:xfrm>
          <a:prstGeom prst="rect">
            <a:avLst/>
          </a:prstGeom>
        </p:spPr>
      </p:pic>
    </p:spTree>
    <p:extLst>
      <p:ext uri="{BB962C8B-B14F-4D97-AF65-F5344CB8AC3E}">
        <p14:creationId xmlns:p14="http://schemas.microsoft.com/office/powerpoint/2010/main" val="1916204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Formeln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Formeln, Tabellen, Abbildungen und Grafiken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1567263"/>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Enthält ein Textabschnitt wenige Gleichungen, werden diese durch Leerzeilen davor/dahinter und ggf. durch Einrücken von etwa 2 cm hervorgehoben.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Enthält ein Text viele Gleichungen, werden diese zusätzlich mit Gleichungsnummern, z.B. „(16)“, „(3-4)“ oder „(3.4)“ am rechten Rand gekennzeichnet, damit man sich im Text auf die jeweilige Gleichung beziehen kann.</a:t>
            </a:r>
          </a:p>
        </p:txBody>
      </p:sp>
      <p:sp>
        <p:nvSpPr>
          <p:cNvPr id="12" name="Textfeld 11">
            <a:extLst>
              <a:ext uri="{FF2B5EF4-FFF2-40B4-BE49-F238E27FC236}">
                <a16:creationId xmlns:a16="http://schemas.microsoft.com/office/drawing/2014/main" id="{A619B3E9-1655-A44D-9E96-8F9C425F7977}"/>
              </a:ext>
            </a:extLst>
          </p:cNvPr>
          <p:cNvSpPr txBox="1"/>
          <p:nvPr/>
        </p:nvSpPr>
        <p:spPr>
          <a:xfrm>
            <a:off x="3834532" y="4324160"/>
            <a:ext cx="259228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 Formel </a:t>
            </a:r>
          </a:p>
        </p:txBody>
      </p:sp>
    </p:spTree>
    <p:extLst>
      <p:ext uri="{BB962C8B-B14F-4D97-AF65-F5344CB8AC3E}">
        <p14:creationId xmlns:p14="http://schemas.microsoft.com/office/powerpoint/2010/main" val="1338651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Tabellen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Formeln, Tabellen, Abbildungen und Grafiken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5" y="1252609"/>
            <a:ext cx="9614095" cy="1998150"/>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Tabellen haben eine </a:t>
            </a:r>
            <a:r>
              <a:rPr lang="de-DE" sz="1800" b="1" kern="0" dirty="0">
                <a:solidFill>
                  <a:srgbClr val="000000"/>
                </a:solidFill>
                <a:latin typeface="Avenir Book" panose="02000503020000020003" pitchFamily="2" charset="0"/>
                <a:ea typeface="ＭＳ Ｐゴシック" pitchFamily="34" charset="-128"/>
              </a:rPr>
              <a:t>Tabellenüberschrift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Eine Tabellenüberschrift erklärt kurz wie die Tabelle zu lesen ist oder was darin abgebildet wird</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Die Tabellennummern werden fortlaufend nummeriert (</a:t>
            </a:r>
            <a:r>
              <a:rPr lang="de-DE" sz="1800" kern="0" dirty="0" err="1">
                <a:solidFill>
                  <a:srgbClr val="000000"/>
                </a:solidFill>
                <a:latin typeface="Avenir Book" panose="02000503020000020003" pitchFamily="2" charset="0"/>
                <a:ea typeface="ＭＳ Ｐゴシック" pitchFamily="34" charset="-128"/>
              </a:rPr>
              <a:t>Bsp</a:t>
            </a:r>
            <a:r>
              <a:rPr lang="de-DE" sz="1800" kern="0" dirty="0">
                <a:solidFill>
                  <a:srgbClr val="000000"/>
                </a:solidFill>
                <a:latin typeface="Avenir Book" panose="02000503020000020003" pitchFamily="2" charset="0"/>
                <a:ea typeface="ＭＳ Ｐゴシック" pitchFamily="34" charset="-128"/>
              </a:rPr>
              <a:t>: 1, 2, 3, . . . , 68, 69).</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Umfangreiche bzw. große Tabellen werden im Anhang aufgeführt. Im Text wird verwiesen, wo die Tabelle im Anhang zu finden ist</a:t>
            </a:r>
          </a:p>
        </p:txBody>
      </p:sp>
      <p:sp>
        <p:nvSpPr>
          <p:cNvPr id="7" name="Textfeld 6">
            <a:extLst>
              <a:ext uri="{FF2B5EF4-FFF2-40B4-BE49-F238E27FC236}">
                <a16:creationId xmlns:a16="http://schemas.microsoft.com/office/drawing/2014/main" id="{184879DE-AEF0-C147-8408-98F6C88E41FB}"/>
              </a:ext>
            </a:extLst>
          </p:cNvPr>
          <p:cNvSpPr txBox="1"/>
          <p:nvPr/>
        </p:nvSpPr>
        <p:spPr>
          <a:xfrm>
            <a:off x="2682404" y="4644727"/>
            <a:ext cx="9147070"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 Tabelle + Überschrift + Beschreibung</a:t>
            </a:r>
          </a:p>
        </p:txBody>
      </p:sp>
    </p:spTree>
    <p:extLst>
      <p:ext uri="{BB962C8B-B14F-4D97-AF65-F5344CB8AC3E}">
        <p14:creationId xmlns:p14="http://schemas.microsoft.com/office/powerpoint/2010/main" val="2925086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Abbildungen und Grafiken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Formeln, Tabellen, Abbildungen und Grafiken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3336979"/>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Der Text wird durch Abbildungen und Grafiken visualisiert und unterstützt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Bilder haben grundsätzlich eine Bildunterschrift, bestehend aus einer Bildbezeichnung und einem Bildtitel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Die Bildbezeichnung wird Fett markiert; Bildtitel wird normal geschrieben:</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a:t>
            </a:r>
            <a:r>
              <a:rPr lang="de-DE" sz="1800" b="1" kern="0" dirty="0">
                <a:solidFill>
                  <a:srgbClr val="000000"/>
                </a:solidFill>
                <a:latin typeface="Avenir Book" panose="02000503020000020003" pitchFamily="2" charset="0"/>
                <a:ea typeface="ＭＳ Ｐゴシック" pitchFamily="34" charset="-128"/>
              </a:rPr>
              <a:t>Abb. 12 </a:t>
            </a:r>
            <a:r>
              <a:rPr lang="de-DE" sz="1800" kern="0" dirty="0">
                <a:solidFill>
                  <a:srgbClr val="000000"/>
                </a:solidFill>
                <a:latin typeface="Avenir Book" panose="02000503020000020003" pitchFamily="2" charset="0"/>
                <a:ea typeface="ＭＳ Ｐゴシック" pitchFamily="34" charset="-128"/>
              </a:rPr>
              <a:t>Versuchsaufbau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 Elementtyp darf in einem Bild bzw. einer Bildserie nur eine Funktion haben. Zum Beispiel können Pfeile folgende Bedeutung haben: - Kraftrichtung, - Drehmoment, - Bewegungsrichtung usw.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Grafiken wenn möglich selbst erstellen</a:t>
            </a:r>
          </a:p>
        </p:txBody>
      </p:sp>
    </p:spTree>
    <p:extLst>
      <p:ext uri="{BB962C8B-B14F-4D97-AF65-F5344CB8AC3E}">
        <p14:creationId xmlns:p14="http://schemas.microsoft.com/office/powerpoint/2010/main" val="235945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Abbildungen und Grafiken - Zusammenfassung</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Formeln, Tabellen, Abbildungen und Grafiken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4797869"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Do‘s</a:t>
            </a:r>
            <a:endParaRPr lang="de-DE" sz="1800" kern="0" dirty="0">
              <a:solidFill>
                <a:srgbClr val="000000"/>
              </a:solidFill>
              <a:latin typeface="Avenir Book" panose="02000503020000020003" pitchFamily="2" charset="0"/>
              <a:ea typeface="ＭＳ Ｐゴシック" pitchFamily="34" charset="-128"/>
            </a:endParaRPr>
          </a:p>
        </p:txBody>
      </p:sp>
      <p:sp>
        <p:nvSpPr>
          <p:cNvPr id="6" name="Textfeld 5">
            <a:extLst>
              <a:ext uri="{FF2B5EF4-FFF2-40B4-BE49-F238E27FC236}">
                <a16:creationId xmlns:a16="http://schemas.microsoft.com/office/drawing/2014/main" id="{FAF872AE-2B7A-3545-B494-D8DE291B6AB6}"/>
              </a:ext>
            </a:extLst>
          </p:cNvPr>
          <p:cNvSpPr txBox="1"/>
          <p:nvPr/>
        </p:nvSpPr>
        <p:spPr>
          <a:xfrm>
            <a:off x="5562723" y="1270184"/>
            <a:ext cx="4822471"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Dont‘s</a:t>
            </a:r>
            <a:endParaRPr lang="de-DE" sz="1800" kern="0" dirty="0">
              <a:solidFill>
                <a:srgbClr val="000000"/>
              </a:solidFill>
              <a:latin typeface="Avenir Book" panose="02000503020000020003" pitchFamily="2" charset="0"/>
              <a:ea typeface="ＭＳ Ｐゴシック" pitchFamily="34" charset="-128"/>
            </a:endParaRPr>
          </a:p>
        </p:txBody>
      </p:sp>
      <p:cxnSp>
        <p:nvCxnSpPr>
          <p:cNvPr id="3" name="Gerade Verbindung 2">
            <a:extLst>
              <a:ext uri="{FF2B5EF4-FFF2-40B4-BE49-F238E27FC236}">
                <a16:creationId xmlns:a16="http://schemas.microsoft.com/office/drawing/2014/main" id="{8D640D10-1352-A641-BEB0-1DA173D5F851}"/>
              </a:ext>
            </a:extLst>
          </p:cNvPr>
          <p:cNvCxnSpPr/>
          <p:nvPr/>
        </p:nvCxnSpPr>
        <p:spPr>
          <a:xfrm>
            <a:off x="5346700" y="1058458"/>
            <a:ext cx="0" cy="544434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7" name="Grafik 6" descr="Verbotsschild mit einfarbiger Füllung">
            <a:extLst>
              <a:ext uri="{FF2B5EF4-FFF2-40B4-BE49-F238E27FC236}">
                <a16:creationId xmlns:a16="http://schemas.microsoft.com/office/drawing/2014/main" id="{261C8FD6-41B0-B84A-A404-495D69BF7B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3308" y="1132154"/>
            <a:ext cx="529206" cy="529206"/>
          </a:xfrm>
          <a:prstGeom prst="rect">
            <a:avLst/>
          </a:prstGeom>
        </p:spPr>
      </p:pic>
      <p:pic>
        <p:nvPicPr>
          <p:cNvPr id="14" name="Grafik 13" descr="Abzeichen Tick1 mit einfarbiger Füllung">
            <a:extLst>
              <a:ext uri="{FF2B5EF4-FFF2-40B4-BE49-F238E27FC236}">
                <a16:creationId xmlns:a16="http://schemas.microsoft.com/office/drawing/2014/main" id="{4D88DC46-8A5E-D843-98F3-546F92B04D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8308" y="1145865"/>
            <a:ext cx="501785" cy="501785"/>
          </a:xfrm>
          <a:prstGeom prst="rect">
            <a:avLst/>
          </a:prstGeom>
        </p:spPr>
      </p:pic>
    </p:spTree>
    <p:extLst>
      <p:ext uri="{BB962C8B-B14F-4D97-AF65-F5344CB8AC3E}">
        <p14:creationId xmlns:p14="http://schemas.microsoft.com/office/powerpoint/2010/main" val="2715299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Abbildungen und Grafiken - Beispiele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Formeln, Tabellen, Abbildungen und Grafiken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4797869"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Do‘s</a:t>
            </a:r>
            <a:endParaRPr lang="de-DE" sz="1800" kern="0" dirty="0">
              <a:solidFill>
                <a:srgbClr val="000000"/>
              </a:solidFill>
              <a:latin typeface="Avenir Book" panose="02000503020000020003" pitchFamily="2" charset="0"/>
              <a:ea typeface="ＭＳ Ｐゴシック" pitchFamily="34" charset="-128"/>
            </a:endParaRPr>
          </a:p>
        </p:txBody>
      </p:sp>
      <p:sp>
        <p:nvSpPr>
          <p:cNvPr id="6" name="Textfeld 5">
            <a:extLst>
              <a:ext uri="{FF2B5EF4-FFF2-40B4-BE49-F238E27FC236}">
                <a16:creationId xmlns:a16="http://schemas.microsoft.com/office/drawing/2014/main" id="{FAF872AE-2B7A-3545-B494-D8DE291B6AB6}"/>
              </a:ext>
            </a:extLst>
          </p:cNvPr>
          <p:cNvSpPr txBox="1"/>
          <p:nvPr/>
        </p:nvSpPr>
        <p:spPr>
          <a:xfrm>
            <a:off x="5562723" y="1270184"/>
            <a:ext cx="4822471"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Dont‘s</a:t>
            </a:r>
            <a:endParaRPr lang="de-DE" sz="1800" kern="0" dirty="0">
              <a:solidFill>
                <a:srgbClr val="000000"/>
              </a:solidFill>
              <a:latin typeface="Avenir Book" panose="02000503020000020003" pitchFamily="2" charset="0"/>
              <a:ea typeface="ＭＳ Ｐゴシック" pitchFamily="34" charset="-128"/>
            </a:endParaRPr>
          </a:p>
        </p:txBody>
      </p:sp>
      <p:cxnSp>
        <p:nvCxnSpPr>
          <p:cNvPr id="3" name="Gerade Verbindung 2">
            <a:extLst>
              <a:ext uri="{FF2B5EF4-FFF2-40B4-BE49-F238E27FC236}">
                <a16:creationId xmlns:a16="http://schemas.microsoft.com/office/drawing/2014/main" id="{8D640D10-1352-A641-BEB0-1DA173D5F851}"/>
              </a:ext>
            </a:extLst>
          </p:cNvPr>
          <p:cNvCxnSpPr/>
          <p:nvPr/>
        </p:nvCxnSpPr>
        <p:spPr>
          <a:xfrm>
            <a:off x="5346700" y="1058458"/>
            <a:ext cx="0" cy="544434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7" name="Grafik 6" descr="Verbotsschild mit einfarbiger Füllung">
            <a:extLst>
              <a:ext uri="{FF2B5EF4-FFF2-40B4-BE49-F238E27FC236}">
                <a16:creationId xmlns:a16="http://schemas.microsoft.com/office/drawing/2014/main" id="{261C8FD6-41B0-B84A-A404-495D69BF7B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28712" y="1137012"/>
            <a:ext cx="529206" cy="529206"/>
          </a:xfrm>
          <a:prstGeom prst="rect">
            <a:avLst/>
          </a:prstGeom>
        </p:spPr>
      </p:pic>
      <p:pic>
        <p:nvPicPr>
          <p:cNvPr id="14" name="Grafik 13" descr="Abzeichen Tick1 mit einfarbiger Füllung">
            <a:extLst>
              <a:ext uri="{FF2B5EF4-FFF2-40B4-BE49-F238E27FC236}">
                <a16:creationId xmlns:a16="http://schemas.microsoft.com/office/drawing/2014/main" id="{4D88DC46-8A5E-D843-98F3-546F92B04D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5068" y="1150723"/>
            <a:ext cx="501785" cy="501785"/>
          </a:xfrm>
          <a:prstGeom prst="rect">
            <a:avLst/>
          </a:prstGeom>
        </p:spPr>
      </p:pic>
      <p:sp>
        <p:nvSpPr>
          <p:cNvPr id="15" name="Textfeld 14">
            <a:extLst>
              <a:ext uri="{FF2B5EF4-FFF2-40B4-BE49-F238E27FC236}">
                <a16:creationId xmlns:a16="http://schemas.microsoft.com/office/drawing/2014/main" id="{8276C6CE-361B-424E-AD2A-172D6B7A92C3}"/>
              </a:ext>
            </a:extLst>
          </p:cNvPr>
          <p:cNvSpPr txBox="1"/>
          <p:nvPr/>
        </p:nvSpPr>
        <p:spPr>
          <a:xfrm>
            <a:off x="5467019" y="5508823"/>
            <a:ext cx="4797869" cy="289991"/>
          </a:xfrm>
          <a:prstGeom prst="rect">
            <a:avLst/>
          </a:prstGeom>
          <a:solidFill>
            <a:schemeClr val="bg1">
              <a:lumMod val="8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Was ist schlecht daran?</a:t>
            </a:r>
          </a:p>
        </p:txBody>
      </p:sp>
      <p:sp>
        <p:nvSpPr>
          <p:cNvPr id="16" name="Textfeld 15">
            <a:extLst>
              <a:ext uri="{FF2B5EF4-FFF2-40B4-BE49-F238E27FC236}">
                <a16:creationId xmlns:a16="http://schemas.microsoft.com/office/drawing/2014/main" id="{9D9DBC99-FD02-2844-A4E5-7AFEFEF8728D}"/>
              </a:ext>
            </a:extLst>
          </p:cNvPr>
          <p:cNvSpPr txBox="1"/>
          <p:nvPr/>
        </p:nvSpPr>
        <p:spPr>
          <a:xfrm>
            <a:off x="414684" y="5508822"/>
            <a:ext cx="4797869" cy="289991"/>
          </a:xfrm>
          <a:prstGeom prst="rect">
            <a:avLst/>
          </a:prstGeom>
          <a:solidFill>
            <a:schemeClr val="bg1">
              <a:lumMod val="8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Was ist gut daran?</a:t>
            </a:r>
          </a:p>
        </p:txBody>
      </p:sp>
    </p:spTree>
    <p:extLst>
      <p:ext uri="{BB962C8B-B14F-4D97-AF65-F5344CB8AC3E}">
        <p14:creationId xmlns:p14="http://schemas.microsoft.com/office/powerpoint/2010/main" val="1861043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Zitaten – Was ist ein Zitat?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Quellenangaben und Zitate</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579118" cy="3967920"/>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 Zitat liegt dann vor, wenn </a:t>
            </a:r>
            <a:r>
              <a:rPr lang="de-DE" sz="1800" b="1" kern="0" dirty="0">
                <a:solidFill>
                  <a:srgbClr val="000000"/>
                </a:solidFill>
                <a:latin typeface="Avenir Book" panose="02000503020000020003" pitchFamily="2" charset="0"/>
                <a:ea typeface="ＭＳ Ｐゴシック" pitchFamily="34" charset="-128"/>
              </a:rPr>
              <a:t>von anderen Autoren formulierte Sachverhalte</a:t>
            </a:r>
            <a:r>
              <a:rPr lang="de-DE" sz="1800" kern="0" dirty="0">
                <a:solidFill>
                  <a:srgbClr val="000000"/>
                </a:solidFill>
                <a:latin typeface="Avenir Book" panose="02000503020000020003" pitchFamily="2" charset="0"/>
                <a:ea typeface="ＭＳ Ｐゴシック" pitchFamily="34" charset="-128"/>
              </a:rPr>
              <a:t> wörtlich oder sinngemäß in der eigenen Arbeit verwendet werden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Dazu </a:t>
            </a:r>
            <a:r>
              <a:rPr lang="de-DE" sz="1800" b="1" kern="0" dirty="0">
                <a:solidFill>
                  <a:srgbClr val="000000"/>
                </a:solidFill>
                <a:latin typeface="Avenir Book" panose="02000503020000020003" pitchFamily="2" charset="0"/>
                <a:ea typeface="ＭＳ Ｐゴシック" pitchFamily="34" charset="-128"/>
              </a:rPr>
              <a:t>muss</a:t>
            </a:r>
            <a:r>
              <a:rPr lang="de-DE" sz="1800" kern="0" dirty="0">
                <a:solidFill>
                  <a:srgbClr val="000000"/>
                </a:solidFill>
                <a:latin typeface="Avenir Book" panose="02000503020000020003" pitchFamily="2" charset="0"/>
                <a:ea typeface="ＭＳ Ｐゴシック" pitchFamily="34" charset="-128"/>
              </a:rPr>
              <a:t> die Literaturquelle, aus der die Gedanken entnommen sind, genau und </a:t>
            </a:r>
            <a:r>
              <a:rPr lang="de-DE" sz="1800" b="1" kern="0" dirty="0">
                <a:solidFill>
                  <a:srgbClr val="000000"/>
                </a:solidFill>
                <a:latin typeface="Avenir Book" panose="02000503020000020003" pitchFamily="2" charset="0"/>
                <a:ea typeface="ＭＳ Ｐゴシック" pitchFamily="34" charset="-128"/>
              </a:rPr>
              <a:t>nachvollziehbar angegeben werden</a:t>
            </a:r>
            <a:r>
              <a:rPr lang="de-DE" sz="1800" kern="0" dirty="0">
                <a:solidFill>
                  <a:srgbClr val="000000"/>
                </a:solidFill>
                <a:latin typeface="Avenir Book" panose="02000503020000020003" pitchFamily="2" charset="0"/>
                <a:ea typeface="ＭＳ Ｐゴシック" pitchFamily="34" charset="-128"/>
              </a:rPr>
              <a: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Es existieren </a:t>
            </a:r>
            <a:r>
              <a:rPr lang="de-DE" sz="1800" b="1" kern="0" dirty="0">
                <a:solidFill>
                  <a:srgbClr val="000000"/>
                </a:solidFill>
                <a:latin typeface="Avenir Book" panose="02000503020000020003" pitchFamily="2" charset="0"/>
                <a:ea typeface="ＭＳ Ｐゴシック" pitchFamily="34" charset="-128"/>
              </a:rPr>
              <a:t>verschiedene Zitierweisen </a:t>
            </a:r>
            <a:r>
              <a:rPr lang="de-DE" sz="1800" kern="0" dirty="0">
                <a:solidFill>
                  <a:srgbClr val="000000"/>
                </a:solidFill>
                <a:latin typeface="Avenir Book" panose="02000503020000020003" pitchFamily="2" charset="0"/>
                <a:ea typeface="ＭＳ Ｐゴシック" pitchFamily="34" charset="-128"/>
              </a:rPr>
              <a:t>(nach DIN, APA Style, Harvard Style etc.)</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Stimmen Sie sich mit Ihrem Betreuer ab, welche Zitierweise angewendet werden soll oder entscheiden Sie sich für eine.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b="1" kern="0" dirty="0">
                <a:solidFill>
                  <a:srgbClr val="000000"/>
                </a:solidFill>
                <a:latin typeface="Avenir Book" panose="02000503020000020003" pitchFamily="2" charset="0"/>
                <a:ea typeface="ＭＳ Ｐゴシック" pitchFamily="34" charset="-128"/>
              </a:rPr>
              <a:t>Wichtig ist, dass Sie sich im Bericht konsequent an die Zitierweise halten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Hilfreich sind dabei </a:t>
            </a:r>
            <a:r>
              <a:rPr lang="de-DE" sz="1800" b="1" kern="0" dirty="0">
                <a:solidFill>
                  <a:srgbClr val="000000"/>
                </a:solidFill>
                <a:latin typeface="Avenir Book" panose="02000503020000020003" pitchFamily="2" charset="0"/>
                <a:ea typeface="ＭＳ Ｐゴシック" pitchFamily="34" charset="-128"/>
              </a:rPr>
              <a:t>Quellenverwaltungsprogramme </a:t>
            </a:r>
            <a:r>
              <a:rPr lang="de-DE" sz="1800" kern="0" dirty="0">
                <a:solidFill>
                  <a:srgbClr val="000000"/>
                </a:solidFill>
                <a:latin typeface="Avenir Book" panose="02000503020000020003" pitchFamily="2" charset="0"/>
                <a:ea typeface="ＭＳ Ｐゴシック" pitchFamily="34" charset="-128"/>
              </a:rPr>
              <a:t>(z.B. </a:t>
            </a:r>
            <a:r>
              <a:rPr lang="de-DE" sz="1800" kern="0" dirty="0" err="1">
                <a:solidFill>
                  <a:srgbClr val="000000"/>
                </a:solidFill>
                <a:latin typeface="Avenir Book" panose="02000503020000020003" pitchFamily="2" charset="0"/>
                <a:ea typeface="ＭＳ Ｐゴシック" pitchFamily="34" charset="-128"/>
              </a:rPr>
              <a:t>citavi</a:t>
            </a:r>
            <a:r>
              <a:rPr lang="de-DE" sz="1800" kern="0" dirty="0">
                <a:solidFill>
                  <a:srgbClr val="000000"/>
                </a:solidFill>
                <a:latin typeface="Avenir Book" panose="02000503020000020003" pitchFamily="2" charset="0"/>
                <a:ea typeface="ＭＳ Ｐゴシック" pitchFamily="34" charset="-128"/>
              </a:rPr>
              <a:t>, </a:t>
            </a:r>
            <a:r>
              <a:rPr lang="de-DE" sz="1800" kern="0" dirty="0" err="1">
                <a:solidFill>
                  <a:srgbClr val="000000"/>
                </a:solidFill>
                <a:latin typeface="Avenir Book" panose="02000503020000020003" pitchFamily="2" charset="0"/>
                <a:ea typeface="ＭＳ Ｐゴシック" pitchFamily="34" charset="-128"/>
              </a:rPr>
              <a:t>EndNote</a:t>
            </a:r>
            <a:r>
              <a:rPr lang="de-DE" sz="1800" kern="0" dirty="0">
                <a:solidFill>
                  <a:srgbClr val="000000"/>
                </a:solidFill>
                <a:latin typeface="Avenir Book" panose="02000503020000020003" pitchFamily="2" charset="0"/>
                <a:ea typeface="ＭＳ Ｐゴシック" pitchFamily="34" charset="-128"/>
              </a:rPr>
              <a:t>,…)</a:t>
            </a:r>
            <a:endParaRPr lang="de-DE" sz="1800" b="1"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Im </a:t>
            </a:r>
            <a:r>
              <a:rPr lang="de-DE" sz="1800" b="1" kern="0" dirty="0">
                <a:solidFill>
                  <a:srgbClr val="000000"/>
                </a:solidFill>
                <a:latin typeface="Avenir Book" panose="02000503020000020003" pitchFamily="2" charset="0"/>
                <a:ea typeface="ＭＳ Ｐゴシック" pitchFamily="34" charset="-128"/>
              </a:rPr>
              <a:t>Fließtext</a:t>
            </a:r>
            <a:r>
              <a:rPr lang="de-DE" sz="1800" kern="0" dirty="0">
                <a:solidFill>
                  <a:srgbClr val="000000"/>
                </a:solidFill>
                <a:latin typeface="Avenir Book" panose="02000503020000020003" pitchFamily="2" charset="0"/>
                <a:ea typeface="ＭＳ Ｐゴシック" pitchFamily="34" charset="-128"/>
              </a:rPr>
              <a:t> wird ein Zitat mit einer </a:t>
            </a:r>
            <a:r>
              <a:rPr lang="de-DE" sz="1800" b="1" kern="0" dirty="0">
                <a:solidFill>
                  <a:srgbClr val="000000"/>
                </a:solidFill>
                <a:latin typeface="Avenir Book" panose="02000503020000020003" pitchFamily="2" charset="0"/>
                <a:ea typeface="ＭＳ Ｐゴシック" pitchFamily="34" charset="-128"/>
              </a:rPr>
              <a:t>kurzen Quellenangabe </a:t>
            </a:r>
            <a:r>
              <a:rPr lang="de-DE" sz="1800" kern="0" dirty="0">
                <a:solidFill>
                  <a:srgbClr val="000000"/>
                </a:solidFill>
                <a:latin typeface="Avenir Book" panose="02000503020000020003" pitchFamily="2" charset="0"/>
                <a:ea typeface="ＭＳ Ｐゴシック" pitchFamily="34" charset="-128"/>
              </a:rPr>
              <a:t>gekennzeichnet.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Im </a:t>
            </a:r>
            <a:r>
              <a:rPr lang="de-DE" sz="1800" b="1" kern="0" dirty="0">
                <a:solidFill>
                  <a:srgbClr val="000000"/>
                </a:solidFill>
                <a:latin typeface="Avenir Book" panose="02000503020000020003" pitchFamily="2" charset="0"/>
                <a:ea typeface="ＭＳ Ｐゴシック" pitchFamily="34" charset="-128"/>
              </a:rPr>
              <a:t>Literaturverzeichnis</a:t>
            </a:r>
            <a:r>
              <a:rPr lang="de-DE" sz="1800" kern="0" dirty="0">
                <a:solidFill>
                  <a:srgbClr val="000000"/>
                </a:solidFill>
                <a:latin typeface="Avenir Book" panose="02000503020000020003" pitchFamily="2" charset="0"/>
                <a:ea typeface="ＭＳ Ｐゴシック" pitchFamily="34" charset="-128"/>
              </a:rPr>
              <a:t> werden die zitierten Publikationen mit ihren ausführlichen bibliografischen Daten aufgeführt.</a:t>
            </a:r>
          </a:p>
        </p:txBody>
      </p:sp>
    </p:spTree>
    <p:extLst>
      <p:ext uri="{BB962C8B-B14F-4D97-AF65-F5344CB8AC3E}">
        <p14:creationId xmlns:p14="http://schemas.microsoft.com/office/powerpoint/2010/main" val="2145903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Zitaten – Quellenangaben im Fließtext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Quellenangaben und Zitate</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2275149"/>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In den deutschen Geistes- und Sozialwissenschaften ist die Nutzung von Fußnoten gebräuchlich (siehe 1., hochgestellte Zahl)</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In technischen Berichten wird im deutschsprachigen Raum überwiegend die Kennzeichnung mit eckigen Klammern „[ ]“ verwendet. Im anglo-amerikanischen Sprachraum sind häufig runde Klammern „( )“ anzutreffen.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Die Quelle kann kurz (siehe 2.) oder lang (siehe 3.) angegeben werden.</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
        <p:nvSpPr>
          <p:cNvPr id="11" name="Textfeld 10">
            <a:extLst>
              <a:ext uri="{FF2B5EF4-FFF2-40B4-BE49-F238E27FC236}">
                <a16:creationId xmlns:a16="http://schemas.microsoft.com/office/drawing/2014/main" id="{014CA8D3-3353-8848-9AAD-45B87FD3489C}"/>
              </a:ext>
            </a:extLst>
          </p:cNvPr>
          <p:cNvSpPr txBox="1"/>
          <p:nvPr/>
        </p:nvSpPr>
        <p:spPr>
          <a:xfrm>
            <a:off x="810196" y="3492599"/>
            <a:ext cx="8640960" cy="2454686"/>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1. “Der Versuchsaufbau erfolgt unter Berücksichtigung der zuvor angegeben Kriterien.“</a:t>
            </a:r>
            <a:r>
              <a:rPr lang="de-DE" sz="1600" kern="0" baseline="30000" dirty="0">
                <a:solidFill>
                  <a:srgbClr val="000000"/>
                </a:solidFill>
                <a:latin typeface="Avenir Book" panose="02000503020000020003" pitchFamily="2" charset="0"/>
                <a:ea typeface="ＭＳ Ｐゴシック" pitchFamily="34" charset="-128"/>
              </a:rPr>
              <a:t>9</a:t>
            </a:r>
          </a:p>
          <a:p>
            <a:pPr marL="0" lvl="1" indent="0" defTabSz="704850" eaLnBrk="0" hangingPunct="0">
              <a:spcBef>
                <a:spcPts val="600"/>
              </a:spcBef>
              <a:tabLst>
                <a:tab pos="179388" algn="l"/>
                <a:tab pos="2151063" algn="l"/>
                <a:tab pos="2868613" algn="l"/>
              </a:tabLst>
            </a:pPr>
            <a:endParaRPr lang="de-DE" sz="1600" kern="0" baseline="3000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2. “Der Versuchsaufbau erfolgt unter Berücksichtigung der zuvor angegeben Kriterien.“[9]</a:t>
            </a:r>
            <a:endParaRPr lang="de-DE" sz="1600" kern="0" baseline="3000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oder</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“Der Versuchsaufbau erfolgt unter Berücksichtigung der zuvor angegeben Kriterien.“(9)</a:t>
            </a:r>
            <a:endParaRPr lang="de-DE" sz="1600" kern="0" baseline="3000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3. “Der Versuchsaufbau erfolgt unter Berücksichtigung der zuvor angegeben Kriterien.“ 	   [Muster, 2020, S. 101]</a:t>
            </a:r>
            <a:endParaRPr lang="de-DE" sz="1600" kern="0" baseline="3000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1907402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Zitaten – Typen von Zitaten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Quellenangaben und Zitate</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57911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Vollständig übernommenes wörtliches Zitat</a:t>
            </a:r>
          </a:p>
        </p:txBody>
      </p:sp>
      <p:sp>
        <p:nvSpPr>
          <p:cNvPr id="7" name="Textfeld 6">
            <a:extLst>
              <a:ext uri="{FF2B5EF4-FFF2-40B4-BE49-F238E27FC236}">
                <a16:creationId xmlns:a16="http://schemas.microsoft.com/office/drawing/2014/main" id="{65599E1B-76C3-4D45-A2C7-0355A9F262BD}"/>
              </a:ext>
            </a:extLst>
          </p:cNvPr>
          <p:cNvSpPr txBox="1"/>
          <p:nvPr/>
        </p:nvSpPr>
        <p:spPr>
          <a:xfrm>
            <a:off x="773165" y="1669943"/>
            <a:ext cx="8640960" cy="597767"/>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„Die technische Weiterentwicklung ist eine der Ursachen zunehmenden Wohlstands in den Industrieländern.“ [Hering, 1993, S.1]</a:t>
            </a:r>
          </a:p>
        </p:txBody>
      </p:sp>
      <p:sp>
        <p:nvSpPr>
          <p:cNvPr id="11" name="Textfeld 10">
            <a:extLst>
              <a:ext uri="{FF2B5EF4-FFF2-40B4-BE49-F238E27FC236}">
                <a16:creationId xmlns:a16="http://schemas.microsoft.com/office/drawing/2014/main" id="{C9E4A257-D8AB-854A-BC3A-5683A0C0809F}"/>
              </a:ext>
            </a:extLst>
          </p:cNvPr>
          <p:cNvSpPr txBox="1"/>
          <p:nvPr/>
        </p:nvSpPr>
        <p:spPr>
          <a:xfrm>
            <a:off x="773165" y="2978733"/>
            <a:ext cx="8640960" cy="843988"/>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„Deshalb wurden schriftliche Anfragen an alle weltweit existierenden Berufsverbände für Technische Redakteure (...) sowie an die INTECOM selbst ausgesendet.“ [Hering, 1993, S. 338]</a:t>
            </a:r>
          </a:p>
        </p:txBody>
      </p:sp>
      <p:sp>
        <p:nvSpPr>
          <p:cNvPr id="12" name="Textfeld 11">
            <a:extLst>
              <a:ext uri="{FF2B5EF4-FFF2-40B4-BE49-F238E27FC236}">
                <a16:creationId xmlns:a16="http://schemas.microsoft.com/office/drawing/2014/main" id="{6033E6C1-04A2-EB4B-B7AB-61BA1DE678B6}"/>
              </a:ext>
            </a:extLst>
          </p:cNvPr>
          <p:cNvSpPr txBox="1"/>
          <p:nvPr/>
        </p:nvSpPr>
        <p:spPr>
          <a:xfrm>
            <a:off x="304086" y="2566112"/>
            <a:ext cx="957911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Zitat mit einer Auslassung</a:t>
            </a:r>
          </a:p>
        </p:txBody>
      </p:sp>
      <p:sp>
        <p:nvSpPr>
          <p:cNvPr id="13" name="Textfeld 12">
            <a:extLst>
              <a:ext uri="{FF2B5EF4-FFF2-40B4-BE49-F238E27FC236}">
                <a16:creationId xmlns:a16="http://schemas.microsoft.com/office/drawing/2014/main" id="{588966FD-C90C-5C4A-A5FB-503617D2968B}"/>
              </a:ext>
            </a:extLst>
          </p:cNvPr>
          <p:cNvSpPr txBox="1"/>
          <p:nvPr/>
        </p:nvSpPr>
        <p:spPr>
          <a:xfrm>
            <a:off x="304086" y="4140671"/>
            <a:ext cx="9579118" cy="1721152"/>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Sinngemäße Zitate</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WIERIGER geht davon aus, dass der Gasantrieb umweltfreundlicher ist [12].</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WALTER [1986a] kam zu dem Ergebnis, dass Elektrosmog gesundheitsschädlich ist.</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Erhöhte Abgaswerte haben einen Einfluss auf die Luftverschmutzung in Städten    	[MEYER, 2018].</a:t>
            </a:r>
          </a:p>
        </p:txBody>
      </p:sp>
    </p:spTree>
    <p:extLst>
      <p:ext uri="{BB962C8B-B14F-4D97-AF65-F5344CB8AC3E}">
        <p14:creationId xmlns:p14="http://schemas.microsoft.com/office/powerpoint/2010/main" val="1161354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 Zitaten – Quellenangaben in Bildunterschriften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Quellenangaben und Zitate</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93915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Bildunterschriften von Abbildungen </a:t>
            </a:r>
            <a:r>
              <a:rPr lang="de-DE" sz="1800" u="sng" kern="0" dirty="0">
                <a:solidFill>
                  <a:srgbClr val="000000"/>
                </a:solidFill>
                <a:latin typeface="Avenir Book" panose="02000503020000020003" pitchFamily="2" charset="0"/>
                <a:ea typeface="ＭＳ Ｐゴシック" pitchFamily="34" charset="-128"/>
              </a:rPr>
              <a:t>ohne</a:t>
            </a:r>
            <a:r>
              <a:rPr lang="de-DE" sz="1800" kern="0" dirty="0">
                <a:solidFill>
                  <a:srgbClr val="000000"/>
                </a:solidFill>
                <a:latin typeface="Avenir Book" panose="02000503020000020003" pitchFamily="2" charset="0"/>
                <a:ea typeface="ＭＳ Ｐゴシック" pitchFamily="34" charset="-128"/>
              </a:rPr>
              <a:t> (von Ihnen) vorgenommene Änderungen</a:t>
            </a:r>
          </a:p>
        </p:txBody>
      </p:sp>
      <p:pic>
        <p:nvPicPr>
          <p:cNvPr id="6" name="Grafik 5">
            <a:extLst>
              <a:ext uri="{FF2B5EF4-FFF2-40B4-BE49-F238E27FC236}">
                <a16:creationId xmlns:a16="http://schemas.microsoft.com/office/drawing/2014/main" id="{7415B9B0-C1A6-9A4F-9161-8369C3F3D06F}"/>
              </a:ext>
            </a:extLst>
          </p:cNvPr>
          <p:cNvPicPr>
            <a:picLocks noChangeAspect="1"/>
          </p:cNvPicPr>
          <p:nvPr/>
        </p:nvPicPr>
        <p:blipFill>
          <a:blip r:embed="rId2"/>
          <a:stretch>
            <a:fillRect/>
          </a:stretch>
        </p:blipFill>
        <p:spPr>
          <a:xfrm>
            <a:off x="742596" y="4716735"/>
            <a:ext cx="6082752" cy="1520688"/>
          </a:xfrm>
          <a:prstGeom prst="rect">
            <a:avLst/>
          </a:prstGeom>
        </p:spPr>
      </p:pic>
      <p:sp>
        <p:nvSpPr>
          <p:cNvPr id="7" name="Textfeld 6">
            <a:extLst>
              <a:ext uri="{FF2B5EF4-FFF2-40B4-BE49-F238E27FC236}">
                <a16:creationId xmlns:a16="http://schemas.microsoft.com/office/drawing/2014/main" id="{6C3B2AC5-11E8-C140-AC48-982D70526EA5}"/>
              </a:ext>
            </a:extLst>
          </p:cNvPr>
          <p:cNvSpPr txBox="1"/>
          <p:nvPr/>
        </p:nvSpPr>
        <p:spPr>
          <a:xfrm>
            <a:off x="738188" y="1669077"/>
            <a:ext cx="8640960" cy="351546"/>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Abb. 17 </a:t>
            </a:r>
            <a:r>
              <a:rPr lang="de-DE" sz="1600" kern="0" dirty="0">
                <a:solidFill>
                  <a:srgbClr val="000000"/>
                </a:solidFill>
                <a:latin typeface="Avenir Book" panose="02000503020000020003" pitchFamily="2" charset="0"/>
                <a:ea typeface="ＭＳ Ｐゴシック" pitchFamily="34" charset="-128"/>
              </a:rPr>
              <a:t>Kraftstoffverbrauch bei verschiedenen </a:t>
            </a:r>
            <a:r>
              <a:rPr lang="de-DE" sz="1600" kern="0" dirty="0" err="1">
                <a:solidFill>
                  <a:srgbClr val="000000"/>
                </a:solidFill>
                <a:latin typeface="Avenir Book" panose="02000503020000020003" pitchFamily="2" charset="0"/>
                <a:ea typeface="ＭＳ Ｐゴシック" pitchFamily="34" charset="-128"/>
              </a:rPr>
              <a:t>Brennraumgeometrien</a:t>
            </a:r>
            <a:r>
              <a:rPr lang="de-DE" sz="1600" kern="0" dirty="0">
                <a:solidFill>
                  <a:srgbClr val="000000"/>
                </a:solidFill>
                <a:latin typeface="Avenir Book" panose="02000503020000020003" pitchFamily="2" charset="0"/>
                <a:ea typeface="ＭＳ Ｐゴシック" pitchFamily="34" charset="-128"/>
              </a:rPr>
              <a:t> [Müller, 1990, S. 35]</a:t>
            </a:r>
          </a:p>
        </p:txBody>
      </p:sp>
      <p:sp>
        <p:nvSpPr>
          <p:cNvPr id="11" name="Textfeld 10">
            <a:extLst>
              <a:ext uri="{FF2B5EF4-FFF2-40B4-BE49-F238E27FC236}">
                <a16:creationId xmlns:a16="http://schemas.microsoft.com/office/drawing/2014/main" id="{C4573395-EF30-FF4A-A85A-DA4685D0390D}"/>
              </a:ext>
            </a:extLst>
          </p:cNvPr>
          <p:cNvSpPr txBox="1"/>
          <p:nvPr/>
        </p:nvSpPr>
        <p:spPr>
          <a:xfrm>
            <a:off x="304086" y="2289113"/>
            <a:ext cx="993915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Bildunterschriften von Abbildungen </a:t>
            </a:r>
            <a:r>
              <a:rPr lang="de-DE" sz="1800" u="sng" kern="0" dirty="0">
                <a:solidFill>
                  <a:srgbClr val="000000"/>
                </a:solidFill>
                <a:latin typeface="Avenir Book" panose="02000503020000020003" pitchFamily="2" charset="0"/>
                <a:ea typeface="ＭＳ Ｐゴシック" pitchFamily="34" charset="-128"/>
              </a:rPr>
              <a:t>mit</a:t>
            </a:r>
            <a:r>
              <a:rPr lang="de-DE" sz="1800" kern="0" dirty="0">
                <a:solidFill>
                  <a:srgbClr val="000000"/>
                </a:solidFill>
                <a:latin typeface="Avenir Book" panose="02000503020000020003" pitchFamily="2" charset="0"/>
                <a:ea typeface="ＭＳ Ｐゴシック" pitchFamily="34" charset="-128"/>
              </a:rPr>
              <a:t> (von Ihnen) vorgenommene Änderungen</a:t>
            </a:r>
          </a:p>
        </p:txBody>
      </p:sp>
      <p:sp>
        <p:nvSpPr>
          <p:cNvPr id="12" name="Textfeld 11">
            <a:extLst>
              <a:ext uri="{FF2B5EF4-FFF2-40B4-BE49-F238E27FC236}">
                <a16:creationId xmlns:a16="http://schemas.microsoft.com/office/drawing/2014/main" id="{9CA1B6F6-C07F-434B-88A7-3670CE3E46F7}"/>
              </a:ext>
            </a:extLst>
          </p:cNvPr>
          <p:cNvSpPr txBox="1"/>
          <p:nvPr/>
        </p:nvSpPr>
        <p:spPr>
          <a:xfrm>
            <a:off x="738188" y="2727850"/>
            <a:ext cx="8640960" cy="597767"/>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Abb. 17 </a:t>
            </a:r>
            <a:r>
              <a:rPr lang="de-DE" sz="1600" kern="0" dirty="0">
                <a:solidFill>
                  <a:srgbClr val="000000"/>
                </a:solidFill>
                <a:latin typeface="Avenir Book" panose="02000503020000020003" pitchFamily="2" charset="0"/>
                <a:ea typeface="ＭＳ Ｐゴシック" pitchFamily="34" charset="-128"/>
              </a:rPr>
              <a:t>Kraftstoffverbrauch bei verschiedenen </a:t>
            </a:r>
            <a:r>
              <a:rPr lang="de-DE" sz="1600" kern="0" dirty="0" err="1">
                <a:solidFill>
                  <a:srgbClr val="000000"/>
                </a:solidFill>
                <a:latin typeface="Avenir Book" panose="02000503020000020003" pitchFamily="2" charset="0"/>
                <a:ea typeface="ＭＳ Ｐゴシック" pitchFamily="34" charset="-128"/>
              </a:rPr>
              <a:t>Brennraumgeometrien</a:t>
            </a:r>
            <a:r>
              <a:rPr lang="de-DE" sz="1600" kern="0" dirty="0">
                <a:solidFill>
                  <a:srgbClr val="000000"/>
                </a:solidFill>
                <a:latin typeface="Avenir Book" panose="02000503020000020003" pitchFamily="2" charset="0"/>
                <a:ea typeface="ＭＳ Ｐゴシック" pitchFamily="34" charset="-128"/>
              </a:rPr>
              <a:t> nach MÜLLER     	[Müller, 1990, S. 35]</a:t>
            </a:r>
          </a:p>
        </p:txBody>
      </p:sp>
      <p:sp>
        <p:nvSpPr>
          <p:cNvPr id="13" name="Textfeld 12">
            <a:extLst>
              <a:ext uri="{FF2B5EF4-FFF2-40B4-BE49-F238E27FC236}">
                <a16:creationId xmlns:a16="http://schemas.microsoft.com/office/drawing/2014/main" id="{5FE649C0-DDEE-4B44-A910-3FCCFD78B57C}"/>
              </a:ext>
            </a:extLst>
          </p:cNvPr>
          <p:cNvSpPr txBox="1"/>
          <p:nvPr/>
        </p:nvSpPr>
        <p:spPr>
          <a:xfrm>
            <a:off x="304086" y="3636615"/>
            <a:ext cx="9939158" cy="936321"/>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Wenn Sie eine Information/Bild aus dem Internet verwenden, müssen Sie es korrekt zitieren indem Sie z.B. in der letzten Zeile der Bildunterschrift die Internet-Adresse des Bildes (a) oder die Internet-Adresse der HTML-Seite, auf der das Bild verwendet wird, (b) zu zitieren.</a:t>
            </a:r>
          </a:p>
        </p:txBody>
      </p:sp>
    </p:spTree>
    <p:extLst>
      <p:ext uri="{BB962C8B-B14F-4D97-AF65-F5344CB8AC3E}">
        <p14:creationId xmlns:p14="http://schemas.microsoft.com/office/powerpoint/2010/main" val="3790283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Literaturverzeichnis</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Literaturverzeichnis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867150" cy="2782981"/>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Im Literaturverzeichnis werden die bibliografischen Angaben zu den zitierten Publikationen (Zeitschriftenartikel, Bücher, Onlinequellen, etc.) gesammelt.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Das Literaturverzeichnis wird immer direkt nach dem letzten Textkapitel angeordnet.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Legen Sie das Layout gleich zu Beginn an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Das Literaturverzeichnis wird (meistens) alphabetisch nach Autorennamen sortiert. </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 Haben Sie die kurze Quellenangabe im Fließtext gewählt, erscheinen die</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Quellenangaben vorn im Text nicht mehr in der Reihenfolge [1], [2], [3] usw., sondern z.B.</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       in der Reihenfolge [34], [19], [83] usw.</a:t>
            </a:r>
          </a:p>
        </p:txBody>
      </p:sp>
      <p:sp>
        <p:nvSpPr>
          <p:cNvPr id="7" name="Textfeld 6">
            <a:extLst>
              <a:ext uri="{FF2B5EF4-FFF2-40B4-BE49-F238E27FC236}">
                <a16:creationId xmlns:a16="http://schemas.microsoft.com/office/drawing/2014/main" id="{51D384B2-35B8-7E48-9AA8-80ED79FDF0EE}"/>
              </a:ext>
            </a:extLst>
          </p:cNvPr>
          <p:cNvSpPr txBox="1"/>
          <p:nvPr/>
        </p:nvSpPr>
        <p:spPr>
          <a:xfrm>
            <a:off x="3834532" y="4860751"/>
            <a:ext cx="2592288"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 </a:t>
            </a:r>
            <a:r>
              <a:rPr lang="de-DE" sz="1800" kern="0" dirty="0" err="1">
                <a:solidFill>
                  <a:srgbClr val="000000"/>
                </a:solidFill>
                <a:latin typeface="Avenir Book" panose="02000503020000020003" pitchFamily="2" charset="0"/>
                <a:ea typeface="ＭＳ Ｐゴシック" pitchFamily="34" charset="-128"/>
              </a:rPr>
              <a:t>Literaturverz</a:t>
            </a:r>
            <a:r>
              <a:rPr lang="de-DE" sz="1800" kern="0" dirty="0">
                <a:solidFill>
                  <a:srgbClr val="000000"/>
                </a:solidFill>
                <a:latin typeface="Avenir Book" panose="02000503020000020003" pitchFamily="2" charset="0"/>
                <a:ea typeface="ＭＳ Ｐゴシック" pitchFamily="34" charset="-128"/>
              </a:rPr>
              <a:t>.</a:t>
            </a:r>
          </a:p>
        </p:txBody>
      </p:sp>
    </p:spTree>
    <p:extLst>
      <p:ext uri="{BB962C8B-B14F-4D97-AF65-F5344CB8AC3E}">
        <p14:creationId xmlns:p14="http://schemas.microsoft.com/office/powerpoint/2010/main" val="1352760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Literaturverzeichnis - Quellenverwaltungsprogramme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Literaturverzeichnis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867150" cy="382324"/>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Citavi</a:t>
            </a:r>
            <a:r>
              <a:rPr lang="de-DE" sz="1800" kern="0" dirty="0">
                <a:solidFill>
                  <a:srgbClr val="000000"/>
                </a:solidFill>
                <a:latin typeface="Avenir Book" panose="02000503020000020003" pitchFamily="2" charset="0"/>
                <a:ea typeface="ＭＳ Ｐゴシック" pitchFamily="34" charset="-128"/>
              </a:rPr>
              <a:t>, </a:t>
            </a:r>
            <a:r>
              <a:rPr lang="de-DE" sz="1800" kern="0" dirty="0" err="1">
                <a:solidFill>
                  <a:srgbClr val="000000"/>
                </a:solidFill>
                <a:latin typeface="Avenir Book" panose="02000503020000020003" pitchFamily="2" charset="0"/>
                <a:ea typeface="ＭＳ Ｐゴシック" pitchFamily="34" charset="-128"/>
              </a:rPr>
              <a:t>EndNote</a:t>
            </a: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767058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Literaturverzeichnis </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Literaturverzeichnis</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659322"/>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Allgemeine Hinweise zu bibliografische Angaben für gängige Publikationsarten nach DIN 1505</a:t>
            </a:r>
          </a:p>
        </p:txBody>
      </p:sp>
      <p:pic>
        <p:nvPicPr>
          <p:cNvPr id="6" name="Grafik 5">
            <a:extLst>
              <a:ext uri="{FF2B5EF4-FFF2-40B4-BE49-F238E27FC236}">
                <a16:creationId xmlns:a16="http://schemas.microsoft.com/office/drawing/2014/main" id="{44ACFA28-F8BF-234E-82AC-3798DED31B5C}"/>
              </a:ext>
            </a:extLst>
          </p:cNvPr>
          <p:cNvPicPr>
            <a:picLocks noChangeAspect="1"/>
          </p:cNvPicPr>
          <p:nvPr/>
        </p:nvPicPr>
        <p:blipFill rotWithShape="1">
          <a:blip r:embed="rId2"/>
          <a:srcRect t="54695"/>
          <a:stretch/>
        </p:blipFill>
        <p:spPr>
          <a:xfrm>
            <a:off x="4877621" y="2245454"/>
            <a:ext cx="4392488" cy="2834722"/>
          </a:xfrm>
          <a:prstGeom prst="rect">
            <a:avLst/>
          </a:prstGeom>
        </p:spPr>
      </p:pic>
      <p:pic>
        <p:nvPicPr>
          <p:cNvPr id="7" name="Grafik 6">
            <a:extLst>
              <a:ext uri="{FF2B5EF4-FFF2-40B4-BE49-F238E27FC236}">
                <a16:creationId xmlns:a16="http://schemas.microsoft.com/office/drawing/2014/main" id="{A7604487-3993-C543-BE15-26B98F0BD6F8}"/>
              </a:ext>
            </a:extLst>
          </p:cNvPr>
          <p:cNvPicPr>
            <a:picLocks noChangeAspect="1"/>
          </p:cNvPicPr>
          <p:nvPr/>
        </p:nvPicPr>
        <p:blipFill rotWithShape="1">
          <a:blip r:embed="rId2"/>
          <a:srcRect b="44975"/>
          <a:stretch/>
        </p:blipFill>
        <p:spPr>
          <a:xfrm>
            <a:off x="304086" y="2056065"/>
            <a:ext cx="4392488" cy="3442854"/>
          </a:xfrm>
          <a:prstGeom prst="rect">
            <a:avLst/>
          </a:prstGeom>
        </p:spPr>
      </p:pic>
      <p:pic>
        <p:nvPicPr>
          <p:cNvPr id="11" name="Grafik 10">
            <a:extLst>
              <a:ext uri="{FF2B5EF4-FFF2-40B4-BE49-F238E27FC236}">
                <a16:creationId xmlns:a16="http://schemas.microsoft.com/office/drawing/2014/main" id="{65C26366-408E-404B-B762-83F4FCBEEB74}"/>
              </a:ext>
            </a:extLst>
          </p:cNvPr>
          <p:cNvPicPr>
            <a:picLocks noChangeAspect="1"/>
          </p:cNvPicPr>
          <p:nvPr/>
        </p:nvPicPr>
        <p:blipFill rotWithShape="1">
          <a:blip r:embed="rId2"/>
          <a:srcRect b="96693"/>
          <a:stretch/>
        </p:blipFill>
        <p:spPr>
          <a:xfrm>
            <a:off x="4877621" y="2060380"/>
            <a:ext cx="4392488" cy="206914"/>
          </a:xfrm>
          <a:prstGeom prst="rect">
            <a:avLst/>
          </a:prstGeom>
        </p:spPr>
      </p:pic>
    </p:spTree>
    <p:extLst>
      <p:ext uri="{BB962C8B-B14F-4D97-AF65-F5344CB8AC3E}">
        <p14:creationId xmlns:p14="http://schemas.microsoft.com/office/powerpoint/2010/main" val="1764318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Hilfreiche Hinweise zur Textproduktion - Stilhinweise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4797869"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Do‘s</a:t>
            </a:r>
            <a:endParaRPr lang="de-DE" sz="1800" kern="0" dirty="0">
              <a:solidFill>
                <a:srgbClr val="000000"/>
              </a:solidFill>
              <a:latin typeface="Avenir Book" panose="02000503020000020003" pitchFamily="2" charset="0"/>
              <a:ea typeface="ＭＳ Ｐゴシック" pitchFamily="34" charset="-128"/>
            </a:endParaRPr>
          </a:p>
        </p:txBody>
      </p:sp>
      <p:sp>
        <p:nvSpPr>
          <p:cNvPr id="6" name="Textfeld 5">
            <a:extLst>
              <a:ext uri="{FF2B5EF4-FFF2-40B4-BE49-F238E27FC236}">
                <a16:creationId xmlns:a16="http://schemas.microsoft.com/office/drawing/2014/main" id="{FAF872AE-2B7A-3545-B494-D8DE291B6AB6}"/>
              </a:ext>
            </a:extLst>
          </p:cNvPr>
          <p:cNvSpPr txBox="1"/>
          <p:nvPr/>
        </p:nvSpPr>
        <p:spPr>
          <a:xfrm>
            <a:off x="5562723" y="1270184"/>
            <a:ext cx="4822471"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Dont‘s</a:t>
            </a:r>
            <a:endParaRPr lang="de-DE" sz="1800" kern="0" dirty="0">
              <a:solidFill>
                <a:srgbClr val="000000"/>
              </a:solidFill>
              <a:latin typeface="Avenir Book" panose="02000503020000020003" pitchFamily="2" charset="0"/>
              <a:ea typeface="ＭＳ Ｐゴシック" pitchFamily="34" charset="-128"/>
            </a:endParaRPr>
          </a:p>
        </p:txBody>
      </p:sp>
      <p:cxnSp>
        <p:nvCxnSpPr>
          <p:cNvPr id="3" name="Gerade Verbindung 2">
            <a:extLst>
              <a:ext uri="{FF2B5EF4-FFF2-40B4-BE49-F238E27FC236}">
                <a16:creationId xmlns:a16="http://schemas.microsoft.com/office/drawing/2014/main" id="{8D640D10-1352-A641-BEB0-1DA173D5F851}"/>
              </a:ext>
            </a:extLst>
          </p:cNvPr>
          <p:cNvCxnSpPr/>
          <p:nvPr/>
        </p:nvCxnSpPr>
        <p:spPr>
          <a:xfrm>
            <a:off x="5346700" y="1058458"/>
            <a:ext cx="0" cy="544434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7" name="Grafik 6" descr="Verbotsschild mit einfarbiger Füllung">
            <a:extLst>
              <a:ext uri="{FF2B5EF4-FFF2-40B4-BE49-F238E27FC236}">
                <a16:creationId xmlns:a16="http://schemas.microsoft.com/office/drawing/2014/main" id="{261C8FD6-41B0-B84A-A404-495D69BF7B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43044" y="1134942"/>
            <a:ext cx="529206" cy="529206"/>
          </a:xfrm>
          <a:prstGeom prst="rect">
            <a:avLst/>
          </a:prstGeom>
        </p:spPr>
      </p:pic>
      <p:pic>
        <p:nvPicPr>
          <p:cNvPr id="14" name="Grafik 13" descr="Abzeichen Tick1 mit einfarbiger Füllung">
            <a:extLst>
              <a:ext uri="{FF2B5EF4-FFF2-40B4-BE49-F238E27FC236}">
                <a16:creationId xmlns:a16="http://schemas.microsoft.com/office/drawing/2014/main" id="{4D88DC46-8A5E-D843-98F3-546F92B04D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8308" y="1142335"/>
            <a:ext cx="501785" cy="501785"/>
          </a:xfrm>
          <a:prstGeom prst="rect">
            <a:avLst/>
          </a:prstGeom>
        </p:spPr>
      </p:pic>
      <p:sp>
        <p:nvSpPr>
          <p:cNvPr id="11" name="Textfeld 10">
            <a:extLst>
              <a:ext uri="{FF2B5EF4-FFF2-40B4-BE49-F238E27FC236}">
                <a16:creationId xmlns:a16="http://schemas.microsoft.com/office/drawing/2014/main" id="{0D72E72D-0FD7-EF40-A79B-EFCA5B422F6E}"/>
              </a:ext>
            </a:extLst>
          </p:cNvPr>
          <p:cNvSpPr txBox="1"/>
          <p:nvPr/>
        </p:nvSpPr>
        <p:spPr>
          <a:xfrm>
            <a:off x="304086" y="1793215"/>
            <a:ext cx="4826591" cy="116715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Der Technische Bericht wird in der Regel „unpersönlich“ geschrieben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Es werden </a:t>
            </a:r>
            <a:r>
              <a:rPr lang="de-DE" sz="1600" b="1" kern="0" dirty="0">
                <a:solidFill>
                  <a:srgbClr val="000000"/>
                </a:solidFill>
                <a:latin typeface="Avenir Book" panose="02000503020000020003" pitchFamily="2" charset="0"/>
                <a:ea typeface="ＭＳ Ｐゴシック" pitchFamily="34" charset="-128"/>
              </a:rPr>
              <a:t>Passivkonstruktionen</a:t>
            </a:r>
            <a:r>
              <a:rPr lang="de-DE" sz="1600" kern="0" dirty="0">
                <a:solidFill>
                  <a:srgbClr val="000000"/>
                </a:solidFill>
                <a:latin typeface="Avenir Book" panose="02000503020000020003" pitchFamily="2" charset="0"/>
                <a:ea typeface="ＭＳ Ｐゴシック" pitchFamily="34" charset="-128"/>
              </a:rPr>
              <a:t> anstelle von Personalpronomen verwendet. 	</a:t>
            </a:r>
          </a:p>
        </p:txBody>
      </p:sp>
      <p:sp>
        <p:nvSpPr>
          <p:cNvPr id="12" name="Textfeld 11">
            <a:extLst>
              <a:ext uri="{FF2B5EF4-FFF2-40B4-BE49-F238E27FC236}">
                <a16:creationId xmlns:a16="http://schemas.microsoft.com/office/drawing/2014/main" id="{23050D6E-FA69-1147-BC05-421711EF86F1}"/>
              </a:ext>
            </a:extLst>
          </p:cNvPr>
          <p:cNvSpPr txBox="1"/>
          <p:nvPr/>
        </p:nvSpPr>
        <p:spPr>
          <a:xfrm>
            <a:off x="5452658" y="1786626"/>
            <a:ext cx="4826591" cy="85937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„Ich, wir, mein, unser, man usw.“ werden also nicht verwendet. </a:t>
            </a:r>
          </a:p>
          <a:p>
            <a:pPr marL="0" lvl="1" indent="0" defTabSz="704850" eaLnBrk="0" hangingPunct="0">
              <a:spcBef>
                <a:spcPts val="600"/>
              </a:spcBef>
              <a:tabLst>
                <a:tab pos="179388" algn="l"/>
                <a:tab pos="2151063" algn="l"/>
                <a:tab pos="2868613" algn="l"/>
              </a:tabLst>
            </a:pPr>
            <a:r>
              <a:rPr lang="de-DE" sz="1200" kern="0" dirty="0">
                <a:solidFill>
                  <a:srgbClr val="000000"/>
                </a:solidFill>
                <a:latin typeface="Avenir Book" panose="02000503020000020003" pitchFamily="2" charset="0"/>
                <a:ea typeface="ＭＳ Ｐゴシック" pitchFamily="34" charset="-128"/>
              </a:rPr>
              <a:t>(Ausnahme: Zusammenfassung, Diskussion, kritische Würdigung)</a:t>
            </a:r>
          </a:p>
        </p:txBody>
      </p:sp>
      <p:sp>
        <p:nvSpPr>
          <p:cNvPr id="13" name="Textfeld 12">
            <a:extLst>
              <a:ext uri="{FF2B5EF4-FFF2-40B4-BE49-F238E27FC236}">
                <a16:creationId xmlns:a16="http://schemas.microsoft.com/office/drawing/2014/main" id="{7DBE3FB8-ED3F-FA43-8CC6-8B174B91DA0A}"/>
              </a:ext>
            </a:extLst>
          </p:cNvPr>
          <p:cNvSpPr txBox="1"/>
          <p:nvPr/>
        </p:nvSpPr>
        <p:spPr>
          <a:xfrm>
            <a:off x="5440351" y="3061155"/>
            <a:ext cx="4820912" cy="597767"/>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Aktiv/persönlich: </a:t>
            </a:r>
            <a:r>
              <a:rPr lang="de-DE" sz="1600" kern="0" dirty="0">
                <a:solidFill>
                  <a:srgbClr val="000000"/>
                </a:solidFill>
                <a:latin typeface="Avenir Book" panose="02000503020000020003" pitchFamily="2" charset="0"/>
                <a:ea typeface="ＭＳ Ｐゴシック" pitchFamily="34" charset="-128"/>
              </a:rPr>
              <a:t>„Danach haben wir folgende Alternativen geprüft“</a:t>
            </a:r>
            <a:endParaRPr lang="de-DE" sz="1800" kern="0" dirty="0">
              <a:solidFill>
                <a:srgbClr val="000000"/>
              </a:solidFill>
              <a:latin typeface="Avenir Book" panose="02000503020000020003" pitchFamily="2" charset="0"/>
              <a:ea typeface="ＭＳ Ｐゴシック" pitchFamily="34" charset="-128"/>
            </a:endParaRPr>
          </a:p>
        </p:txBody>
      </p:sp>
      <p:sp>
        <p:nvSpPr>
          <p:cNvPr id="15" name="Textfeld 14">
            <a:extLst>
              <a:ext uri="{FF2B5EF4-FFF2-40B4-BE49-F238E27FC236}">
                <a16:creationId xmlns:a16="http://schemas.microsoft.com/office/drawing/2014/main" id="{76B47E3A-B879-CB46-9FFD-F534C6FF80AB}"/>
              </a:ext>
            </a:extLst>
          </p:cNvPr>
          <p:cNvSpPr txBox="1"/>
          <p:nvPr/>
        </p:nvSpPr>
        <p:spPr>
          <a:xfrm>
            <a:off x="422914" y="3061155"/>
            <a:ext cx="4826591" cy="597767"/>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b="1" kern="0" dirty="0">
                <a:solidFill>
                  <a:srgbClr val="000000"/>
                </a:solidFill>
                <a:latin typeface="Avenir Book" panose="02000503020000020003" pitchFamily="2" charset="0"/>
                <a:ea typeface="ＭＳ Ｐゴシック" pitchFamily="34" charset="-128"/>
              </a:rPr>
              <a:t>Passiv/unpersönlich: </a:t>
            </a:r>
            <a:r>
              <a:rPr lang="de-DE" sz="1600" kern="0" dirty="0">
                <a:solidFill>
                  <a:srgbClr val="000000"/>
                </a:solidFill>
                <a:latin typeface="Avenir Book" panose="02000503020000020003" pitchFamily="2" charset="0"/>
                <a:ea typeface="ＭＳ Ｐゴシック" pitchFamily="34" charset="-128"/>
              </a:rPr>
              <a:t>„Danach sind folgende Alternativen geprüft worden“</a:t>
            </a:r>
          </a:p>
        </p:txBody>
      </p:sp>
      <p:pic>
        <p:nvPicPr>
          <p:cNvPr id="16" name="Grafik 15" descr="Abzeichen Tick1 mit einfarbiger Füllung">
            <a:extLst>
              <a:ext uri="{FF2B5EF4-FFF2-40B4-BE49-F238E27FC236}">
                <a16:creationId xmlns:a16="http://schemas.microsoft.com/office/drawing/2014/main" id="{958D0105-A1BC-4545-86BB-9E223045DA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8619" y="3088014"/>
            <a:ext cx="501785" cy="501785"/>
          </a:xfrm>
          <a:prstGeom prst="rect">
            <a:avLst/>
          </a:prstGeom>
        </p:spPr>
      </p:pic>
      <p:pic>
        <p:nvPicPr>
          <p:cNvPr id="17" name="Grafik 16" descr="Verbotsschild mit einfarbiger Füllung">
            <a:extLst>
              <a:ext uri="{FF2B5EF4-FFF2-40B4-BE49-F238E27FC236}">
                <a16:creationId xmlns:a16="http://schemas.microsoft.com/office/drawing/2014/main" id="{F08F6743-94DD-6847-8FA4-941B6350A8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057" y="3111867"/>
            <a:ext cx="529206" cy="529206"/>
          </a:xfrm>
          <a:prstGeom prst="rect">
            <a:avLst/>
          </a:prstGeom>
        </p:spPr>
      </p:pic>
      <p:sp>
        <p:nvSpPr>
          <p:cNvPr id="18" name="Textfeld 17">
            <a:extLst>
              <a:ext uri="{FF2B5EF4-FFF2-40B4-BE49-F238E27FC236}">
                <a16:creationId xmlns:a16="http://schemas.microsoft.com/office/drawing/2014/main" id="{1034EFBF-2C44-AC40-92F2-732159B85434}"/>
              </a:ext>
            </a:extLst>
          </p:cNvPr>
          <p:cNvSpPr txBox="1"/>
          <p:nvPr/>
        </p:nvSpPr>
        <p:spPr>
          <a:xfrm>
            <a:off x="304086" y="4017317"/>
            <a:ext cx="4826591" cy="351546"/>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Umgangssprachlichen Formulierungen vermeiden</a:t>
            </a:r>
          </a:p>
        </p:txBody>
      </p:sp>
      <p:sp>
        <p:nvSpPr>
          <p:cNvPr id="23" name="Textfeld 22">
            <a:extLst>
              <a:ext uri="{FF2B5EF4-FFF2-40B4-BE49-F238E27FC236}">
                <a16:creationId xmlns:a16="http://schemas.microsoft.com/office/drawing/2014/main" id="{684C670B-C49C-154E-B36D-FEEA97FEF211}"/>
              </a:ext>
            </a:extLst>
          </p:cNvPr>
          <p:cNvSpPr txBox="1"/>
          <p:nvPr/>
        </p:nvSpPr>
        <p:spPr>
          <a:xfrm>
            <a:off x="426460" y="4500710"/>
            <a:ext cx="4826591" cy="597767"/>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„Ziel dieser Projektarbeit ist die             Entwicklung einer Zeitmaschine.“</a:t>
            </a:r>
          </a:p>
        </p:txBody>
      </p:sp>
      <p:pic>
        <p:nvPicPr>
          <p:cNvPr id="24" name="Grafik 23" descr="Abzeichen Tick1 mit einfarbiger Füllung">
            <a:extLst>
              <a:ext uri="{FF2B5EF4-FFF2-40B4-BE49-F238E27FC236}">
                <a16:creationId xmlns:a16="http://schemas.microsoft.com/office/drawing/2014/main" id="{F4DCFB12-A8A5-3A44-AE77-8068A8959A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2164" y="4571295"/>
            <a:ext cx="501785" cy="501785"/>
          </a:xfrm>
          <a:prstGeom prst="rect">
            <a:avLst/>
          </a:prstGeom>
        </p:spPr>
      </p:pic>
      <p:sp>
        <p:nvSpPr>
          <p:cNvPr id="25" name="Textfeld 24">
            <a:extLst>
              <a:ext uri="{FF2B5EF4-FFF2-40B4-BE49-F238E27FC236}">
                <a16:creationId xmlns:a16="http://schemas.microsoft.com/office/drawing/2014/main" id="{DCCB0DF1-F1DC-8547-9329-03D5244E4C76}"/>
              </a:ext>
            </a:extLst>
          </p:cNvPr>
          <p:cNvSpPr txBox="1"/>
          <p:nvPr/>
        </p:nvSpPr>
        <p:spPr>
          <a:xfrm>
            <a:off x="5440350" y="4500711"/>
            <a:ext cx="4826591" cy="597767"/>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„In der Projektarbeit geht es darum eine Zeitmaschine zu entwickeln.“</a:t>
            </a:r>
          </a:p>
        </p:txBody>
      </p:sp>
      <p:pic>
        <p:nvPicPr>
          <p:cNvPr id="26" name="Grafik 25" descr="Verbotsschild mit einfarbiger Füllung">
            <a:extLst>
              <a:ext uri="{FF2B5EF4-FFF2-40B4-BE49-F238E27FC236}">
                <a16:creationId xmlns:a16="http://schemas.microsoft.com/office/drawing/2014/main" id="{2BF876D6-E84B-6740-868C-1C68C0AEBD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057" y="4534991"/>
            <a:ext cx="529206" cy="529206"/>
          </a:xfrm>
          <a:prstGeom prst="rect">
            <a:avLst/>
          </a:prstGeom>
        </p:spPr>
      </p:pic>
      <p:sp>
        <p:nvSpPr>
          <p:cNvPr id="27" name="Textfeld 26">
            <a:extLst>
              <a:ext uri="{FF2B5EF4-FFF2-40B4-BE49-F238E27FC236}">
                <a16:creationId xmlns:a16="http://schemas.microsoft.com/office/drawing/2014/main" id="{1006A503-05D7-074D-A91A-D454794C160C}"/>
              </a:ext>
            </a:extLst>
          </p:cNvPr>
          <p:cNvSpPr txBox="1"/>
          <p:nvPr/>
        </p:nvSpPr>
        <p:spPr>
          <a:xfrm>
            <a:off x="426459" y="5180465"/>
            <a:ext cx="4826591" cy="597767"/>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„Anschließend kommt das                      Multimeter zur Anwendung.“</a:t>
            </a:r>
          </a:p>
        </p:txBody>
      </p:sp>
      <p:pic>
        <p:nvPicPr>
          <p:cNvPr id="28" name="Grafik 27" descr="Abzeichen Tick1 mit einfarbiger Füllung">
            <a:extLst>
              <a:ext uri="{FF2B5EF4-FFF2-40B4-BE49-F238E27FC236}">
                <a16:creationId xmlns:a16="http://schemas.microsoft.com/office/drawing/2014/main" id="{98A71581-7B13-234C-B60B-996137F890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2164" y="5251049"/>
            <a:ext cx="501785" cy="501785"/>
          </a:xfrm>
          <a:prstGeom prst="rect">
            <a:avLst/>
          </a:prstGeom>
        </p:spPr>
      </p:pic>
      <p:sp>
        <p:nvSpPr>
          <p:cNvPr id="29" name="Textfeld 28">
            <a:extLst>
              <a:ext uri="{FF2B5EF4-FFF2-40B4-BE49-F238E27FC236}">
                <a16:creationId xmlns:a16="http://schemas.microsoft.com/office/drawing/2014/main" id="{1C72BBB1-94C3-C544-9316-57B4297DBDE9}"/>
              </a:ext>
            </a:extLst>
          </p:cNvPr>
          <p:cNvSpPr txBox="1"/>
          <p:nvPr/>
        </p:nvSpPr>
        <p:spPr>
          <a:xfrm>
            <a:off x="5440350" y="5180465"/>
            <a:ext cx="4826591" cy="597600"/>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„Danach kommt das Multimeter ins Spiel.“</a:t>
            </a:r>
          </a:p>
        </p:txBody>
      </p:sp>
      <p:pic>
        <p:nvPicPr>
          <p:cNvPr id="30" name="Grafik 29" descr="Verbotsschild mit einfarbiger Füllung">
            <a:extLst>
              <a:ext uri="{FF2B5EF4-FFF2-40B4-BE49-F238E27FC236}">
                <a16:creationId xmlns:a16="http://schemas.microsoft.com/office/drawing/2014/main" id="{6A335E61-E15D-F440-BF8D-08F18A9B1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057" y="5214745"/>
            <a:ext cx="529206" cy="529206"/>
          </a:xfrm>
          <a:prstGeom prst="rect">
            <a:avLst/>
          </a:prstGeom>
        </p:spPr>
      </p:pic>
      <p:sp>
        <p:nvSpPr>
          <p:cNvPr id="31" name="Textfeld 30">
            <a:extLst>
              <a:ext uri="{FF2B5EF4-FFF2-40B4-BE49-F238E27FC236}">
                <a16:creationId xmlns:a16="http://schemas.microsoft.com/office/drawing/2014/main" id="{0F277AC7-20C6-BF41-BBF4-919169BC0140}"/>
              </a:ext>
            </a:extLst>
          </p:cNvPr>
          <p:cNvSpPr txBox="1"/>
          <p:nvPr/>
        </p:nvSpPr>
        <p:spPr>
          <a:xfrm>
            <a:off x="5452657" y="5871492"/>
            <a:ext cx="4826591" cy="597600"/>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„Die erstellte Software läuft echt super.“ </a:t>
            </a:r>
          </a:p>
        </p:txBody>
      </p:sp>
      <p:pic>
        <p:nvPicPr>
          <p:cNvPr id="32" name="Grafik 31" descr="Verbotsschild mit einfarbiger Füllung">
            <a:extLst>
              <a:ext uri="{FF2B5EF4-FFF2-40B4-BE49-F238E27FC236}">
                <a16:creationId xmlns:a16="http://schemas.microsoft.com/office/drawing/2014/main" id="{8CA9C066-2D13-2844-99FA-BAC33A726B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1280" y="5900729"/>
            <a:ext cx="529206" cy="529206"/>
          </a:xfrm>
          <a:prstGeom prst="rect">
            <a:avLst/>
          </a:prstGeom>
        </p:spPr>
      </p:pic>
      <p:sp>
        <p:nvSpPr>
          <p:cNvPr id="33" name="Textfeld 32">
            <a:extLst>
              <a:ext uri="{FF2B5EF4-FFF2-40B4-BE49-F238E27FC236}">
                <a16:creationId xmlns:a16="http://schemas.microsoft.com/office/drawing/2014/main" id="{C0D96D19-BB97-A142-ADBB-91822B41F631}"/>
              </a:ext>
            </a:extLst>
          </p:cNvPr>
          <p:cNvSpPr txBox="1"/>
          <p:nvPr/>
        </p:nvSpPr>
        <p:spPr>
          <a:xfrm>
            <a:off x="422914" y="5861332"/>
            <a:ext cx="4826591" cy="597767"/>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„Die erstellte Software                            funktioniert einwandfrei.“</a:t>
            </a:r>
          </a:p>
        </p:txBody>
      </p:sp>
      <p:pic>
        <p:nvPicPr>
          <p:cNvPr id="34" name="Grafik 33" descr="Abzeichen Tick1 mit einfarbiger Füllung">
            <a:extLst>
              <a:ext uri="{FF2B5EF4-FFF2-40B4-BE49-F238E27FC236}">
                <a16:creationId xmlns:a16="http://schemas.microsoft.com/office/drawing/2014/main" id="{8DADC82A-313C-3E45-8F0B-93C66CC52A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8619" y="5919400"/>
            <a:ext cx="501785" cy="501785"/>
          </a:xfrm>
          <a:prstGeom prst="rect">
            <a:avLst/>
          </a:prstGeom>
        </p:spPr>
      </p:pic>
    </p:spTree>
    <p:extLst>
      <p:ext uri="{BB962C8B-B14F-4D97-AF65-F5344CB8AC3E}">
        <p14:creationId xmlns:p14="http://schemas.microsoft.com/office/powerpoint/2010/main" val="2545136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Hilfreiche Hinweise zur Textproduktion - Stilhinweise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4797869"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Do‘s</a:t>
            </a:r>
            <a:endParaRPr lang="de-DE" sz="1800" kern="0" dirty="0">
              <a:solidFill>
                <a:srgbClr val="000000"/>
              </a:solidFill>
              <a:latin typeface="Avenir Book" panose="02000503020000020003" pitchFamily="2" charset="0"/>
              <a:ea typeface="ＭＳ Ｐゴシック" pitchFamily="34" charset="-128"/>
            </a:endParaRPr>
          </a:p>
        </p:txBody>
      </p:sp>
      <p:sp>
        <p:nvSpPr>
          <p:cNvPr id="6" name="Textfeld 5">
            <a:extLst>
              <a:ext uri="{FF2B5EF4-FFF2-40B4-BE49-F238E27FC236}">
                <a16:creationId xmlns:a16="http://schemas.microsoft.com/office/drawing/2014/main" id="{FAF872AE-2B7A-3545-B494-D8DE291B6AB6}"/>
              </a:ext>
            </a:extLst>
          </p:cNvPr>
          <p:cNvSpPr txBox="1"/>
          <p:nvPr/>
        </p:nvSpPr>
        <p:spPr>
          <a:xfrm>
            <a:off x="5562723" y="1270184"/>
            <a:ext cx="4822471" cy="382324"/>
          </a:xfrm>
          <a:prstGeom prst="rect">
            <a:avLst/>
          </a:prstGeom>
          <a:noFill/>
        </p:spPr>
        <p:txBody>
          <a:bodyPr wrap="square" lIns="104306" tIns="52153" rIns="104306" bIns="52153" rtlCol="0">
            <a:spAutoFit/>
          </a:bodyPr>
          <a:lstStyle/>
          <a:p>
            <a:pPr marL="0" lvl="1" indent="0" algn="ctr" defTabSz="704850" eaLnBrk="0" hangingPunct="0">
              <a:spcBef>
                <a:spcPts val="600"/>
              </a:spcBef>
              <a:tabLst>
                <a:tab pos="179388" algn="l"/>
                <a:tab pos="2151063" algn="l"/>
                <a:tab pos="2868613" algn="l"/>
              </a:tabLst>
            </a:pPr>
            <a:r>
              <a:rPr lang="de-DE" sz="1800" kern="0" dirty="0" err="1">
                <a:solidFill>
                  <a:srgbClr val="000000"/>
                </a:solidFill>
                <a:latin typeface="Avenir Book" panose="02000503020000020003" pitchFamily="2" charset="0"/>
                <a:ea typeface="ＭＳ Ｐゴシック" pitchFamily="34" charset="-128"/>
              </a:rPr>
              <a:t>Dont‘s</a:t>
            </a:r>
            <a:endParaRPr lang="de-DE" sz="1800" kern="0" dirty="0">
              <a:solidFill>
                <a:srgbClr val="000000"/>
              </a:solidFill>
              <a:latin typeface="Avenir Book" panose="02000503020000020003" pitchFamily="2" charset="0"/>
              <a:ea typeface="ＭＳ Ｐゴシック" pitchFamily="34" charset="-128"/>
            </a:endParaRPr>
          </a:p>
        </p:txBody>
      </p:sp>
      <p:cxnSp>
        <p:nvCxnSpPr>
          <p:cNvPr id="3" name="Gerade Verbindung 2">
            <a:extLst>
              <a:ext uri="{FF2B5EF4-FFF2-40B4-BE49-F238E27FC236}">
                <a16:creationId xmlns:a16="http://schemas.microsoft.com/office/drawing/2014/main" id="{8D640D10-1352-A641-BEB0-1DA173D5F851}"/>
              </a:ext>
            </a:extLst>
          </p:cNvPr>
          <p:cNvCxnSpPr/>
          <p:nvPr/>
        </p:nvCxnSpPr>
        <p:spPr>
          <a:xfrm>
            <a:off x="5346700" y="1058458"/>
            <a:ext cx="0" cy="544434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7" name="Grafik 6" descr="Verbotsschild mit einfarbiger Füllung">
            <a:extLst>
              <a:ext uri="{FF2B5EF4-FFF2-40B4-BE49-F238E27FC236}">
                <a16:creationId xmlns:a16="http://schemas.microsoft.com/office/drawing/2014/main" id="{261C8FD6-41B0-B84A-A404-495D69BF7B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43044" y="1146224"/>
            <a:ext cx="529206" cy="529206"/>
          </a:xfrm>
          <a:prstGeom prst="rect">
            <a:avLst/>
          </a:prstGeom>
        </p:spPr>
      </p:pic>
      <p:pic>
        <p:nvPicPr>
          <p:cNvPr id="14" name="Grafik 13" descr="Abzeichen Tick1 mit einfarbiger Füllung">
            <a:extLst>
              <a:ext uri="{FF2B5EF4-FFF2-40B4-BE49-F238E27FC236}">
                <a16:creationId xmlns:a16="http://schemas.microsoft.com/office/drawing/2014/main" id="{4D88DC46-8A5E-D843-98F3-546F92B04D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8308" y="1150723"/>
            <a:ext cx="501785" cy="501785"/>
          </a:xfrm>
          <a:prstGeom prst="rect">
            <a:avLst/>
          </a:prstGeom>
        </p:spPr>
      </p:pic>
      <p:sp>
        <p:nvSpPr>
          <p:cNvPr id="18" name="Textfeld 17">
            <a:extLst>
              <a:ext uri="{FF2B5EF4-FFF2-40B4-BE49-F238E27FC236}">
                <a16:creationId xmlns:a16="http://schemas.microsoft.com/office/drawing/2014/main" id="{1034EFBF-2C44-AC40-92F2-732159B85434}"/>
              </a:ext>
            </a:extLst>
          </p:cNvPr>
          <p:cNvSpPr txBox="1"/>
          <p:nvPr/>
        </p:nvSpPr>
        <p:spPr>
          <a:xfrm>
            <a:off x="275364" y="1749065"/>
            <a:ext cx="4826591" cy="59776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Funktionsgerechte Bezeichnungen für Gegenstände und Verfahren 	</a:t>
            </a:r>
          </a:p>
        </p:txBody>
      </p:sp>
      <p:sp>
        <p:nvSpPr>
          <p:cNvPr id="19" name="Textfeld 18">
            <a:extLst>
              <a:ext uri="{FF2B5EF4-FFF2-40B4-BE49-F238E27FC236}">
                <a16:creationId xmlns:a16="http://schemas.microsoft.com/office/drawing/2014/main" id="{AD59FD17-990C-8640-B85B-495587D810B0}"/>
              </a:ext>
            </a:extLst>
          </p:cNvPr>
          <p:cNvSpPr txBox="1"/>
          <p:nvPr/>
        </p:nvSpPr>
        <p:spPr>
          <a:xfrm>
            <a:off x="3398640" y="2361818"/>
            <a:ext cx="1921000" cy="674711"/>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Antriebsrad</a:t>
            </a:r>
          </a:p>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Leiterplatte</a:t>
            </a:r>
          </a:p>
        </p:txBody>
      </p:sp>
      <p:sp>
        <p:nvSpPr>
          <p:cNvPr id="20" name="Textfeld 19">
            <a:extLst>
              <a:ext uri="{FF2B5EF4-FFF2-40B4-BE49-F238E27FC236}">
                <a16:creationId xmlns:a16="http://schemas.microsoft.com/office/drawing/2014/main" id="{343BDE03-7D5F-624B-A9B1-3A206507EA2F}"/>
              </a:ext>
            </a:extLst>
          </p:cNvPr>
          <p:cNvSpPr txBox="1"/>
          <p:nvPr/>
        </p:nvSpPr>
        <p:spPr>
          <a:xfrm>
            <a:off x="5369916" y="2361817"/>
            <a:ext cx="1921000" cy="674711"/>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Zahnrad</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Platte</a:t>
            </a:r>
          </a:p>
        </p:txBody>
      </p:sp>
      <p:pic>
        <p:nvPicPr>
          <p:cNvPr id="21" name="Grafik 20" descr="Verbotsschild mit einfarbiger Füllung">
            <a:extLst>
              <a:ext uri="{FF2B5EF4-FFF2-40B4-BE49-F238E27FC236}">
                <a16:creationId xmlns:a16="http://schemas.microsoft.com/office/drawing/2014/main" id="{23C90C34-A13C-B043-AC2B-8AA585AAC3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38224" y="2412529"/>
            <a:ext cx="529206" cy="529206"/>
          </a:xfrm>
          <a:prstGeom prst="rect">
            <a:avLst/>
          </a:prstGeom>
        </p:spPr>
      </p:pic>
      <p:pic>
        <p:nvPicPr>
          <p:cNvPr id="22" name="Grafik 21" descr="Abzeichen Tick1 mit einfarbiger Füllung">
            <a:extLst>
              <a:ext uri="{FF2B5EF4-FFF2-40B4-BE49-F238E27FC236}">
                <a16:creationId xmlns:a16="http://schemas.microsoft.com/office/drawing/2014/main" id="{DFB35B65-28C4-924F-B772-166C76C530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28669" y="2412529"/>
            <a:ext cx="501785" cy="501785"/>
          </a:xfrm>
          <a:prstGeom prst="rect">
            <a:avLst/>
          </a:prstGeom>
        </p:spPr>
      </p:pic>
      <p:sp>
        <p:nvSpPr>
          <p:cNvPr id="23" name="Textfeld 22">
            <a:extLst>
              <a:ext uri="{FF2B5EF4-FFF2-40B4-BE49-F238E27FC236}">
                <a16:creationId xmlns:a16="http://schemas.microsoft.com/office/drawing/2014/main" id="{D047049A-F9FA-A944-96F5-D039AF512EF8}"/>
              </a:ext>
            </a:extLst>
          </p:cNvPr>
          <p:cNvSpPr txBox="1"/>
          <p:nvPr/>
        </p:nvSpPr>
        <p:spPr>
          <a:xfrm>
            <a:off x="308273" y="3343233"/>
            <a:ext cx="4826591" cy="351546"/>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Klare Formulierungen wählen, mit Zahlen belegen</a:t>
            </a:r>
          </a:p>
        </p:txBody>
      </p:sp>
      <p:sp>
        <p:nvSpPr>
          <p:cNvPr id="24" name="Textfeld 23">
            <a:extLst>
              <a:ext uri="{FF2B5EF4-FFF2-40B4-BE49-F238E27FC236}">
                <a16:creationId xmlns:a16="http://schemas.microsoft.com/office/drawing/2014/main" id="{AFDD102B-CBD3-4540-99D9-B7FE39C50B8E}"/>
              </a:ext>
            </a:extLst>
          </p:cNvPr>
          <p:cNvSpPr txBox="1"/>
          <p:nvPr/>
        </p:nvSpPr>
        <p:spPr>
          <a:xfrm>
            <a:off x="5418708" y="3719361"/>
            <a:ext cx="4826591" cy="597600"/>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„Der neue Sensor erwies sich als viel            linearer als der alte.“</a:t>
            </a:r>
          </a:p>
        </p:txBody>
      </p:sp>
      <p:pic>
        <p:nvPicPr>
          <p:cNvPr id="25" name="Grafik 24" descr="Verbotsschild mit einfarbiger Füllung">
            <a:extLst>
              <a:ext uri="{FF2B5EF4-FFF2-40B4-BE49-F238E27FC236}">
                <a16:creationId xmlns:a16="http://schemas.microsoft.com/office/drawing/2014/main" id="{61FA13D6-9A85-C445-8F7E-C2C804E48A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67180" y="3748598"/>
            <a:ext cx="529206" cy="529206"/>
          </a:xfrm>
          <a:prstGeom prst="rect">
            <a:avLst/>
          </a:prstGeom>
        </p:spPr>
      </p:pic>
      <p:sp>
        <p:nvSpPr>
          <p:cNvPr id="26" name="Textfeld 25">
            <a:extLst>
              <a:ext uri="{FF2B5EF4-FFF2-40B4-BE49-F238E27FC236}">
                <a16:creationId xmlns:a16="http://schemas.microsoft.com/office/drawing/2014/main" id="{7DFA0801-3B5A-064F-9950-24333886E975}"/>
              </a:ext>
            </a:extLst>
          </p:cNvPr>
          <p:cNvSpPr txBox="1"/>
          <p:nvPr/>
        </p:nvSpPr>
        <p:spPr>
          <a:xfrm>
            <a:off x="458918" y="3709201"/>
            <a:ext cx="4826591" cy="1336431"/>
          </a:xfrm>
          <a:prstGeom prst="rect">
            <a:avLst/>
          </a:prstGeom>
          <a:solidFill>
            <a:schemeClr val="bg1">
              <a:lumMod val="95000"/>
            </a:schemeClr>
          </a:solidFill>
        </p:spPr>
        <p:txBody>
          <a:bodyPr wrap="square" lIns="104306" tIns="52153" rIns="104306" bIns="52153" rtlCol="0">
            <a:spAutoFit/>
          </a:bodyPr>
          <a:lstStyle/>
          <a:p>
            <a:pPr marL="0" lvl="1" indent="0" algn="r"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 Die Abweichung der Sensorkennlinie des neuen Sensors von einem linearen Zusammenhang zwischen Strom und Durchfluss beträgt max. 3 %. Mit dem alten Sensor betrug die Abweichung bis max. 7,6 %.    </a:t>
            </a:r>
          </a:p>
        </p:txBody>
      </p:sp>
      <p:pic>
        <p:nvPicPr>
          <p:cNvPr id="27" name="Grafik 26" descr="Abzeichen Tick1 mit einfarbiger Füllung">
            <a:extLst>
              <a:ext uri="{FF2B5EF4-FFF2-40B4-BE49-F238E27FC236}">
                <a16:creationId xmlns:a16="http://schemas.microsoft.com/office/drawing/2014/main" id="{D69B6198-9CAF-314F-89AC-19821DD395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5705" y="3968224"/>
            <a:ext cx="501785" cy="501785"/>
          </a:xfrm>
          <a:prstGeom prst="rect">
            <a:avLst/>
          </a:prstGeom>
        </p:spPr>
      </p:pic>
      <p:sp>
        <p:nvSpPr>
          <p:cNvPr id="29" name="Textfeld 28">
            <a:extLst>
              <a:ext uri="{FF2B5EF4-FFF2-40B4-BE49-F238E27FC236}">
                <a16:creationId xmlns:a16="http://schemas.microsoft.com/office/drawing/2014/main" id="{FBF1916B-0B7F-7A42-A384-8AAEED4CEEAD}"/>
              </a:ext>
            </a:extLst>
          </p:cNvPr>
          <p:cNvSpPr txBox="1"/>
          <p:nvPr/>
        </p:nvSpPr>
        <p:spPr>
          <a:xfrm>
            <a:off x="5391466" y="5049542"/>
            <a:ext cx="4826591" cy="59776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Beispiele für unklare und vage Formulierungen, die vermieden werden sollten:</a:t>
            </a:r>
          </a:p>
        </p:txBody>
      </p:sp>
      <p:sp>
        <p:nvSpPr>
          <p:cNvPr id="30" name="Textfeld 29">
            <a:extLst>
              <a:ext uri="{FF2B5EF4-FFF2-40B4-BE49-F238E27FC236}">
                <a16:creationId xmlns:a16="http://schemas.microsoft.com/office/drawing/2014/main" id="{690B3157-4E56-CD44-A924-BA83B0E65878}"/>
              </a:ext>
            </a:extLst>
          </p:cNvPr>
          <p:cNvSpPr txBox="1"/>
          <p:nvPr/>
        </p:nvSpPr>
        <p:spPr>
          <a:xfrm>
            <a:off x="5465737" y="5647309"/>
            <a:ext cx="4826591" cy="597767"/>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Recht aufwendig, sehr schnell, fast linear, eher gering, wenig Leistung, hochempfindlich</a:t>
            </a:r>
          </a:p>
        </p:txBody>
      </p:sp>
      <p:pic>
        <p:nvPicPr>
          <p:cNvPr id="31" name="Grafik 30" descr="Verbotsschild mit einfarbiger Füllung">
            <a:extLst>
              <a:ext uri="{FF2B5EF4-FFF2-40B4-BE49-F238E27FC236}">
                <a16:creationId xmlns:a16="http://schemas.microsoft.com/office/drawing/2014/main" id="{4D8ECD3B-1874-DD4C-8A25-5A82B8D258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14209" y="5676546"/>
            <a:ext cx="529206" cy="529206"/>
          </a:xfrm>
          <a:prstGeom prst="rect">
            <a:avLst/>
          </a:prstGeom>
        </p:spPr>
      </p:pic>
    </p:spTree>
    <p:extLst>
      <p:ext uri="{BB962C8B-B14F-4D97-AF65-F5344CB8AC3E}">
        <p14:creationId xmlns:p14="http://schemas.microsoft.com/office/powerpoint/2010/main" val="3432546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Hilfreiche Hinweise zur Textproduktion - Verständlichkeit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5183638"/>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Überprüfen Sie Ihren Text immer wieder auf seine Verständlichkeit und Klarheit!</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Fragen Sie sich dazu:</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Ist der Titel aussagekräftig?</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Ist der “rote Faden“ noch zu erkennen?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Werden unbekannte Wörter beim ersten Auftreten definiert?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Werden unbekannte Abkürzungen beim ersten Auftreten definiert?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Werden zu viele Fremdwörter verwendet?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Sind die Sätze zu verschachtelt?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Hat der/die Leser*in an jeder Textstelle alle Informationen, die er/sie für das Nachvollziehen der Inhalte benötigt?</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Verbesserungen der Verständlichkeit von Sachtexten können auf drei Ebenen durchgeführt werden: auf </a:t>
            </a:r>
            <a:r>
              <a:rPr lang="de-DE" sz="1800" b="1" kern="0" dirty="0">
                <a:solidFill>
                  <a:srgbClr val="000000"/>
                </a:solidFill>
                <a:latin typeface="Avenir Book" panose="02000503020000020003" pitchFamily="2" charset="0"/>
                <a:ea typeface="ＭＳ Ｐゴシック" pitchFamily="34" charset="-128"/>
              </a:rPr>
              <a:t>Textebene</a:t>
            </a:r>
            <a:r>
              <a:rPr lang="de-DE" sz="1800" kern="0" dirty="0">
                <a:solidFill>
                  <a:srgbClr val="000000"/>
                </a:solidFill>
                <a:latin typeface="Avenir Book" panose="02000503020000020003" pitchFamily="2" charset="0"/>
                <a:ea typeface="ＭＳ Ｐゴシック" pitchFamily="34" charset="-128"/>
              </a:rPr>
              <a:t>, auf </a:t>
            </a:r>
            <a:r>
              <a:rPr lang="de-DE" sz="1800" b="1" kern="0" dirty="0">
                <a:solidFill>
                  <a:srgbClr val="000000"/>
                </a:solidFill>
                <a:latin typeface="Avenir Book" panose="02000503020000020003" pitchFamily="2" charset="0"/>
                <a:ea typeface="ＭＳ Ｐゴシック" pitchFamily="34" charset="-128"/>
              </a:rPr>
              <a:t>Satzebene</a:t>
            </a:r>
            <a:r>
              <a:rPr lang="de-DE" sz="1800" kern="0" dirty="0">
                <a:solidFill>
                  <a:srgbClr val="000000"/>
                </a:solidFill>
                <a:latin typeface="Avenir Book" panose="02000503020000020003" pitchFamily="2" charset="0"/>
                <a:ea typeface="ＭＳ Ｐゴシック" pitchFamily="34" charset="-128"/>
              </a:rPr>
              <a:t> und auf </a:t>
            </a:r>
            <a:r>
              <a:rPr lang="de-DE" sz="1800" b="1" kern="0" dirty="0">
                <a:solidFill>
                  <a:srgbClr val="000000"/>
                </a:solidFill>
                <a:latin typeface="Avenir Book" panose="02000503020000020003" pitchFamily="2" charset="0"/>
                <a:ea typeface="ＭＳ Ｐゴシック" pitchFamily="34" charset="-128"/>
              </a:rPr>
              <a:t>Wortebene</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3338615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Verständlichkeit auf Textebene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3967920"/>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Verwendung von Fußnoten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Fußnoten sind hochgestellte Zahlen, die mit Word mit: Verweise – Fußnote einfügen erzeugt werden.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Fußnoten werden im Text fortlaufend nummeriert. Die Zahl wird standardmäßig unten auf der Seite unterhalb einer linksbündigen, ca. 4 bis 5 cm langen, horizontalen Linie wiederholt. Dort können Informationen untergebracht werden, die den normalen Lesefluss stören würden.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Beispiele für derartige Informationen sind:</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umfangreiche Kommentare zu zitierten Texten,</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Hinweise bzw. Bemerkungen zum eigenen Text</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458513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8">
            <a:extLst>
              <a:ext uri="{FF2B5EF4-FFF2-40B4-BE49-F238E27FC236}">
                <a16:creationId xmlns:a16="http://schemas.microsoft.com/office/drawing/2014/main" id="{4C3A8018-6D8A-6F40-A85D-48038E359AC9}"/>
              </a:ext>
            </a:extLst>
          </p:cNvPr>
          <p:cNvSpPr txBox="1"/>
          <p:nvPr/>
        </p:nvSpPr>
        <p:spPr>
          <a:xfrm>
            <a:off x="450156" y="5349143"/>
            <a:ext cx="6984776" cy="351546"/>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Der Strom I fließt durch den Widerstand R. </a:t>
            </a:r>
            <a:r>
              <a:rPr lang="de-DE" sz="1600" b="1" kern="0" dirty="0">
                <a:solidFill>
                  <a:srgbClr val="000000"/>
                </a:solidFill>
                <a:latin typeface="Avenir Book" panose="02000503020000020003" pitchFamily="2" charset="0"/>
                <a:ea typeface="ＭＳ Ｐゴシック" pitchFamily="34" charset="-128"/>
              </a:rPr>
              <a:t>Dieser</a:t>
            </a:r>
            <a:r>
              <a:rPr lang="de-DE" sz="1600" kern="0" dirty="0">
                <a:solidFill>
                  <a:srgbClr val="000000"/>
                </a:solidFill>
                <a:latin typeface="Avenir Book" panose="02000503020000020003" pitchFamily="2" charset="0"/>
                <a:ea typeface="ＭＳ Ｐゴシック" pitchFamily="34" charset="-128"/>
              </a:rPr>
              <a:t> ist relativ klein. </a:t>
            </a:r>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Verständlichkeit auf Satzebene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73626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Kürzere Sätze </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Verwendung von Konjunktionen und Präpositionen</a:t>
            </a:r>
          </a:p>
        </p:txBody>
      </p:sp>
      <p:sp>
        <p:nvSpPr>
          <p:cNvPr id="7" name="Textfeld 6">
            <a:extLst>
              <a:ext uri="{FF2B5EF4-FFF2-40B4-BE49-F238E27FC236}">
                <a16:creationId xmlns:a16="http://schemas.microsoft.com/office/drawing/2014/main" id="{701F2D29-D4C0-8145-8E69-3C3D04E3DBC0}"/>
              </a:ext>
            </a:extLst>
          </p:cNvPr>
          <p:cNvSpPr txBox="1"/>
          <p:nvPr/>
        </p:nvSpPr>
        <p:spPr>
          <a:xfrm>
            <a:off x="450156" y="2168497"/>
            <a:ext cx="9505056" cy="843988"/>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Für Kräne wird stets eine maximal zulässige </a:t>
            </a:r>
            <a:r>
              <a:rPr lang="de-DE" sz="1600" kern="0" dirty="0" err="1">
                <a:solidFill>
                  <a:srgbClr val="000000"/>
                </a:solidFill>
                <a:latin typeface="Avenir Book" panose="02000503020000020003" pitchFamily="2" charset="0"/>
                <a:ea typeface="ＭＳ Ｐゴシック" pitchFamily="34" charset="-128"/>
              </a:rPr>
              <a:t>Hublast</a:t>
            </a:r>
            <a:r>
              <a:rPr lang="de-DE" sz="1600" kern="0" dirty="0">
                <a:solidFill>
                  <a:srgbClr val="000000"/>
                </a:solidFill>
                <a:latin typeface="Avenir Book" panose="02000503020000020003" pitchFamily="2" charset="0"/>
                <a:ea typeface="ＭＳ Ｐゴシック" pitchFamily="34" charset="-128"/>
              </a:rPr>
              <a:t> festgelegt. </a:t>
            </a:r>
            <a:r>
              <a:rPr lang="de-DE" sz="1600" b="1" kern="0" dirty="0">
                <a:solidFill>
                  <a:srgbClr val="000000"/>
                </a:solidFill>
                <a:latin typeface="Avenir Book" panose="02000503020000020003" pitchFamily="2" charset="0"/>
                <a:ea typeface="ＭＳ Ｐゴシック" pitchFamily="34" charset="-128"/>
              </a:rPr>
              <a:t>Wenn</a:t>
            </a:r>
            <a:r>
              <a:rPr lang="de-DE" sz="1600" kern="0" dirty="0">
                <a:solidFill>
                  <a:srgbClr val="000000"/>
                </a:solidFill>
                <a:latin typeface="Avenir Book" panose="02000503020000020003" pitchFamily="2" charset="0"/>
                <a:ea typeface="ＭＳ Ｐゴシック" pitchFamily="34" charset="-128"/>
              </a:rPr>
              <a:t> sie wesentlich überschritten wird, </a:t>
            </a:r>
            <a:r>
              <a:rPr lang="de-DE" sz="1600" b="1" kern="0" dirty="0">
                <a:solidFill>
                  <a:srgbClr val="000000"/>
                </a:solidFill>
                <a:latin typeface="Avenir Book" panose="02000503020000020003" pitchFamily="2" charset="0"/>
                <a:ea typeface="ＭＳ Ｐゴシック" pitchFamily="34" charset="-128"/>
              </a:rPr>
              <a:t>dann</a:t>
            </a:r>
            <a:r>
              <a:rPr lang="de-DE" sz="1600" kern="0" dirty="0">
                <a:solidFill>
                  <a:srgbClr val="000000"/>
                </a:solidFill>
                <a:latin typeface="Avenir Book" panose="02000503020000020003" pitchFamily="2" charset="0"/>
                <a:ea typeface="ＭＳ Ｐゴシック" pitchFamily="34" charset="-128"/>
              </a:rPr>
              <a:t> kann der Kranausleger abknicken, der Kran kann umkippen oder die </a:t>
            </a:r>
            <a:r>
              <a:rPr lang="de-DE" sz="1600" kern="0" dirty="0" err="1">
                <a:solidFill>
                  <a:srgbClr val="000000"/>
                </a:solidFill>
                <a:latin typeface="Avenir Book" panose="02000503020000020003" pitchFamily="2" charset="0"/>
                <a:ea typeface="ＭＳ Ｐゴシック" pitchFamily="34" charset="-128"/>
              </a:rPr>
              <a:t>Hubseile</a:t>
            </a:r>
            <a:r>
              <a:rPr lang="de-DE" sz="1600" kern="0" dirty="0">
                <a:solidFill>
                  <a:srgbClr val="000000"/>
                </a:solidFill>
                <a:latin typeface="Avenir Book" panose="02000503020000020003" pitchFamily="2" charset="0"/>
                <a:ea typeface="ＭＳ Ｐゴシック" pitchFamily="34" charset="-128"/>
              </a:rPr>
              <a:t> können reißen. </a:t>
            </a:r>
          </a:p>
        </p:txBody>
      </p:sp>
      <p:sp>
        <p:nvSpPr>
          <p:cNvPr id="11" name="Textfeld 10">
            <a:extLst>
              <a:ext uri="{FF2B5EF4-FFF2-40B4-BE49-F238E27FC236}">
                <a16:creationId xmlns:a16="http://schemas.microsoft.com/office/drawing/2014/main" id="{01860102-AA0C-334C-BB0D-628CCB0054A8}"/>
              </a:ext>
            </a:extLst>
          </p:cNvPr>
          <p:cNvSpPr txBox="1"/>
          <p:nvPr/>
        </p:nvSpPr>
        <p:spPr>
          <a:xfrm>
            <a:off x="450156" y="3169200"/>
            <a:ext cx="9505056" cy="843988"/>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Für Kräne wird stets eine maximal zulässige </a:t>
            </a:r>
            <a:r>
              <a:rPr lang="de-DE" sz="1600" kern="0" dirty="0" err="1">
                <a:solidFill>
                  <a:srgbClr val="000000"/>
                </a:solidFill>
                <a:latin typeface="Avenir Book" panose="02000503020000020003" pitchFamily="2" charset="0"/>
                <a:ea typeface="ＭＳ Ｐゴシック" pitchFamily="34" charset="-128"/>
              </a:rPr>
              <a:t>Hublast</a:t>
            </a:r>
            <a:r>
              <a:rPr lang="de-DE" sz="1600" kern="0" dirty="0">
                <a:solidFill>
                  <a:srgbClr val="000000"/>
                </a:solidFill>
                <a:latin typeface="Avenir Book" panose="02000503020000020003" pitchFamily="2" charset="0"/>
                <a:ea typeface="ＭＳ Ｐゴシック" pitchFamily="34" charset="-128"/>
              </a:rPr>
              <a:t> festgelegt, die im Fall des Überschreitens zum Abknicken des Kranauslegers, zum Umkippen des Krans oder zum Reißen der </a:t>
            </a:r>
            <a:r>
              <a:rPr lang="de-DE" sz="1600" kern="0" dirty="0" err="1">
                <a:solidFill>
                  <a:srgbClr val="000000"/>
                </a:solidFill>
                <a:latin typeface="Avenir Book" panose="02000503020000020003" pitchFamily="2" charset="0"/>
                <a:ea typeface="ＭＳ Ｐゴシック" pitchFamily="34" charset="-128"/>
              </a:rPr>
              <a:t>Hubseite</a:t>
            </a:r>
            <a:r>
              <a:rPr lang="de-DE" sz="1600" kern="0" dirty="0">
                <a:solidFill>
                  <a:srgbClr val="000000"/>
                </a:solidFill>
                <a:latin typeface="Avenir Book" panose="02000503020000020003" pitchFamily="2" charset="0"/>
                <a:ea typeface="ＭＳ Ｐゴシック" pitchFamily="34" charset="-128"/>
              </a:rPr>
              <a:t> führen      kann.</a:t>
            </a:r>
          </a:p>
        </p:txBody>
      </p:sp>
      <p:pic>
        <p:nvPicPr>
          <p:cNvPr id="12" name="Grafik 11" descr="Verbotsschild mit einfarbiger Füllung">
            <a:extLst>
              <a:ext uri="{FF2B5EF4-FFF2-40B4-BE49-F238E27FC236}">
                <a16:creationId xmlns:a16="http://schemas.microsoft.com/office/drawing/2014/main" id="{78D0D3D8-2C52-1245-8A54-7E3308AEE7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26006" y="3449610"/>
            <a:ext cx="529206" cy="529206"/>
          </a:xfrm>
          <a:prstGeom prst="rect">
            <a:avLst/>
          </a:prstGeom>
        </p:spPr>
      </p:pic>
      <p:pic>
        <p:nvPicPr>
          <p:cNvPr id="13" name="Grafik 12" descr="Abzeichen Tick1 mit einfarbiger Füllung">
            <a:extLst>
              <a:ext uri="{FF2B5EF4-FFF2-40B4-BE49-F238E27FC236}">
                <a16:creationId xmlns:a16="http://schemas.microsoft.com/office/drawing/2014/main" id="{EF25BE6D-5C75-5C4D-8835-3D5721E888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18998" y="2339598"/>
            <a:ext cx="501785" cy="501785"/>
          </a:xfrm>
          <a:prstGeom prst="rect">
            <a:avLst/>
          </a:prstGeom>
        </p:spPr>
      </p:pic>
      <p:sp>
        <p:nvSpPr>
          <p:cNvPr id="14" name="Textfeld 13">
            <a:extLst>
              <a:ext uri="{FF2B5EF4-FFF2-40B4-BE49-F238E27FC236}">
                <a16:creationId xmlns:a16="http://schemas.microsoft.com/office/drawing/2014/main" id="{41E1AEA1-AE23-974E-90F1-A40B241738C0}"/>
              </a:ext>
            </a:extLst>
          </p:cNvPr>
          <p:cNvSpPr txBox="1"/>
          <p:nvPr/>
        </p:nvSpPr>
        <p:spPr>
          <a:xfrm>
            <a:off x="333756" y="4293598"/>
            <a:ext cx="9147070"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Eindeutige Bezüge zwischen Sätzen</a:t>
            </a:r>
          </a:p>
        </p:txBody>
      </p:sp>
      <p:sp>
        <p:nvSpPr>
          <p:cNvPr id="15" name="Textfeld 14">
            <a:extLst>
              <a:ext uri="{FF2B5EF4-FFF2-40B4-BE49-F238E27FC236}">
                <a16:creationId xmlns:a16="http://schemas.microsoft.com/office/drawing/2014/main" id="{7D05AC3F-0C67-BC44-A343-2A41E43C71B4}"/>
              </a:ext>
            </a:extLst>
          </p:cNvPr>
          <p:cNvSpPr txBox="1"/>
          <p:nvPr/>
        </p:nvSpPr>
        <p:spPr>
          <a:xfrm>
            <a:off x="450156" y="4837935"/>
            <a:ext cx="6984776" cy="351546"/>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Der Strom I fließt durch den Widerstand R. </a:t>
            </a:r>
            <a:r>
              <a:rPr lang="de-DE" sz="1600" b="1" kern="0" dirty="0">
                <a:solidFill>
                  <a:srgbClr val="000000"/>
                </a:solidFill>
                <a:latin typeface="Avenir Book" panose="02000503020000020003" pitchFamily="2" charset="0"/>
                <a:ea typeface="ＭＳ Ｐゴシック" pitchFamily="34" charset="-128"/>
              </a:rPr>
              <a:t>R</a:t>
            </a:r>
            <a:r>
              <a:rPr lang="de-DE" sz="1600" kern="0" dirty="0">
                <a:solidFill>
                  <a:srgbClr val="000000"/>
                </a:solidFill>
                <a:latin typeface="Avenir Book" panose="02000503020000020003" pitchFamily="2" charset="0"/>
                <a:ea typeface="ＭＳ Ｐゴシック" pitchFamily="34" charset="-128"/>
              </a:rPr>
              <a:t> ist relativ klein. </a:t>
            </a:r>
          </a:p>
        </p:txBody>
      </p:sp>
      <p:pic>
        <p:nvPicPr>
          <p:cNvPr id="17" name="Grafik 16" descr="Verbotsschild mit einfarbiger Füllung">
            <a:extLst>
              <a:ext uri="{FF2B5EF4-FFF2-40B4-BE49-F238E27FC236}">
                <a16:creationId xmlns:a16="http://schemas.microsoft.com/office/drawing/2014/main" id="{77F48150-00DB-6D47-AAC2-2B2F12389C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07148" y="5260313"/>
            <a:ext cx="529206" cy="529206"/>
          </a:xfrm>
          <a:prstGeom prst="rect">
            <a:avLst/>
          </a:prstGeom>
        </p:spPr>
      </p:pic>
      <p:pic>
        <p:nvPicPr>
          <p:cNvPr id="18" name="Grafik 17" descr="Abzeichen Tick1 mit einfarbiger Füllung">
            <a:extLst>
              <a:ext uri="{FF2B5EF4-FFF2-40B4-BE49-F238E27FC236}">
                <a16:creationId xmlns:a16="http://schemas.microsoft.com/office/drawing/2014/main" id="{0367D909-5CBC-C244-805F-AE341DB22B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07148" y="4758528"/>
            <a:ext cx="501785" cy="501785"/>
          </a:xfrm>
          <a:prstGeom prst="rect">
            <a:avLst/>
          </a:prstGeom>
        </p:spPr>
      </p:pic>
    </p:spTree>
    <p:extLst>
      <p:ext uri="{BB962C8B-B14F-4D97-AF65-F5344CB8AC3E}">
        <p14:creationId xmlns:p14="http://schemas.microsoft.com/office/powerpoint/2010/main" val="1638098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8">
            <a:extLst>
              <a:ext uri="{FF2B5EF4-FFF2-40B4-BE49-F238E27FC236}">
                <a16:creationId xmlns:a16="http://schemas.microsoft.com/office/drawing/2014/main" id="{4C3A8018-6D8A-6F40-A85D-48038E359AC9}"/>
              </a:ext>
            </a:extLst>
          </p:cNvPr>
          <p:cNvSpPr txBox="1"/>
          <p:nvPr/>
        </p:nvSpPr>
        <p:spPr>
          <a:xfrm>
            <a:off x="450156" y="2268071"/>
            <a:ext cx="7560840" cy="363985"/>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„Dazu wurde ein </a:t>
            </a:r>
            <a:r>
              <a:rPr lang="de-DE" sz="1600" kern="0" dirty="0" err="1">
                <a:solidFill>
                  <a:srgbClr val="000000"/>
                </a:solidFill>
                <a:latin typeface="Avenir Book" panose="02000503020000020003" pitchFamily="2" charset="0"/>
                <a:ea typeface="ＭＳ Ｐゴシック" pitchFamily="34" charset="-128"/>
              </a:rPr>
              <a:t>Raspberry</a:t>
            </a:r>
            <a:r>
              <a:rPr lang="de-DE" sz="1600" kern="0" dirty="0">
                <a:solidFill>
                  <a:srgbClr val="000000"/>
                </a:solidFill>
                <a:latin typeface="Avenir Book" panose="02000503020000020003" pitchFamily="2" charset="0"/>
                <a:ea typeface="ＭＳ Ｐゴシック" pitchFamily="34" charset="-128"/>
              </a:rPr>
              <a:t> PI verwendet.“</a:t>
            </a:r>
          </a:p>
        </p:txBody>
      </p:sp>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Verständlichkeit auf Wortebene</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38232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Fachbegriffe und Abkürzungen beim ersten Auftreten erklären oder genau benennen </a:t>
            </a:r>
          </a:p>
        </p:txBody>
      </p:sp>
      <p:sp>
        <p:nvSpPr>
          <p:cNvPr id="14" name="Textfeld 13">
            <a:extLst>
              <a:ext uri="{FF2B5EF4-FFF2-40B4-BE49-F238E27FC236}">
                <a16:creationId xmlns:a16="http://schemas.microsoft.com/office/drawing/2014/main" id="{41E1AEA1-AE23-974E-90F1-A40B241738C0}"/>
              </a:ext>
            </a:extLst>
          </p:cNvPr>
          <p:cNvSpPr txBox="1"/>
          <p:nvPr/>
        </p:nvSpPr>
        <p:spPr>
          <a:xfrm>
            <a:off x="312052" y="2966259"/>
            <a:ext cx="9147070" cy="2906091"/>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Ganz allgemein gilt: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Informationen müssen </a:t>
            </a:r>
            <a:r>
              <a:rPr lang="de-DE" sz="1800" b="1" kern="0" dirty="0">
                <a:solidFill>
                  <a:srgbClr val="000000"/>
                </a:solidFill>
                <a:latin typeface="Avenir Book" panose="02000503020000020003" pitchFamily="2" charset="0"/>
                <a:ea typeface="ＭＳ Ｐゴシック" pitchFamily="34" charset="-128"/>
              </a:rPr>
              <a:t>unmissverständlich</a:t>
            </a:r>
            <a:r>
              <a:rPr lang="de-DE" sz="1800" kern="0" dirty="0">
                <a:solidFill>
                  <a:srgbClr val="000000"/>
                </a:solidFill>
                <a:latin typeface="Avenir Book" panose="02000503020000020003" pitchFamily="2" charset="0"/>
                <a:ea typeface="ＭＳ Ｐゴシック" pitchFamily="34" charset="-128"/>
              </a:rPr>
              <a:t> transportiert werden! Technische Gegenstände und Verfahren dürfen deshalb nur mit ihren einmal festgelegten Namen bezeichnet werden. Sonst können Missverständnisse und Verwechselungen entstehen.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Sparsame Verwendung von </a:t>
            </a:r>
            <a:r>
              <a:rPr lang="de-DE" sz="1800" b="1" kern="0" dirty="0">
                <a:solidFill>
                  <a:srgbClr val="000000"/>
                </a:solidFill>
                <a:latin typeface="Avenir Book" panose="02000503020000020003" pitchFamily="2" charset="0"/>
                <a:ea typeface="ＭＳ Ｐゴシック" pitchFamily="34" charset="-128"/>
              </a:rPr>
              <a:t>Fremdwörtern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b="1" kern="0" dirty="0">
                <a:solidFill>
                  <a:srgbClr val="000000"/>
                </a:solidFill>
                <a:latin typeface="Avenir Book" panose="02000503020000020003" pitchFamily="2" charset="0"/>
                <a:ea typeface="ＭＳ Ｐゴシック" pitchFamily="34" charset="-128"/>
              </a:rPr>
              <a:t>Fachbegriffe</a:t>
            </a:r>
            <a:r>
              <a:rPr lang="de-DE" sz="1800" kern="0" dirty="0">
                <a:solidFill>
                  <a:srgbClr val="000000"/>
                </a:solidFill>
                <a:latin typeface="Avenir Book" panose="02000503020000020003" pitchFamily="2" charset="0"/>
                <a:ea typeface="ＭＳ Ｐゴシック" pitchFamily="34" charset="-128"/>
              </a:rPr>
              <a:t>, die aus mehreren Substantiven bestehen, sollen möglichst aufgelöst und in einem zwar längeren, dafür aber verständlicheren Satz oder Nebensatz umschrieben werden.</a:t>
            </a:r>
          </a:p>
        </p:txBody>
      </p:sp>
      <p:sp>
        <p:nvSpPr>
          <p:cNvPr id="15" name="Textfeld 14">
            <a:extLst>
              <a:ext uri="{FF2B5EF4-FFF2-40B4-BE49-F238E27FC236}">
                <a16:creationId xmlns:a16="http://schemas.microsoft.com/office/drawing/2014/main" id="{7D05AC3F-0C67-BC44-A343-2A41E43C71B4}"/>
              </a:ext>
            </a:extLst>
          </p:cNvPr>
          <p:cNvSpPr txBox="1"/>
          <p:nvPr/>
        </p:nvSpPr>
        <p:spPr>
          <a:xfrm>
            <a:off x="450156" y="1814952"/>
            <a:ext cx="7560840" cy="351546"/>
          </a:xfrm>
          <a:prstGeom prst="rect">
            <a:avLst/>
          </a:prstGeom>
          <a:solidFill>
            <a:schemeClr val="bg1">
              <a:lumMod val="95000"/>
            </a:schemeClr>
          </a:solid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„Es wurde ein </a:t>
            </a:r>
            <a:r>
              <a:rPr lang="de-DE" sz="1600" kern="0" dirty="0" err="1">
                <a:solidFill>
                  <a:srgbClr val="000000"/>
                </a:solidFill>
                <a:latin typeface="Avenir Book" panose="02000503020000020003" pitchFamily="2" charset="0"/>
                <a:ea typeface="ＭＳ Ｐゴシック" pitchFamily="34" charset="-128"/>
              </a:rPr>
              <a:t>Einplatinencomputer</a:t>
            </a:r>
            <a:r>
              <a:rPr lang="de-DE" sz="1600" kern="0" dirty="0">
                <a:solidFill>
                  <a:srgbClr val="000000"/>
                </a:solidFill>
                <a:latin typeface="Avenir Book" panose="02000503020000020003" pitchFamily="2" charset="0"/>
                <a:ea typeface="ＭＳ Ｐゴシック" pitchFamily="34" charset="-128"/>
              </a:rPr>
              <a:t> der Marke </a:t>
            </a:r>
            <a:r>
              <a:rPr lang="de-DE" sz="1600" kern="0" dirty="0" err="1">
                <a:solidFill>
                  <a:srgbClr val="000000"/>
                </a:solidFill>
                <a:latin typeface="Avenir Book" panose="02000503020000020003" pitchFamily="2" charset="0"/>
                <a:ea typeface="ＭＳ Ｐゴシック" pitchFamily="34" charset="-128"/>
              </a:rPr>
              <a:t>Raspberry</a:t>
            </a:r>
            <a:r>
              <a:rPr lang="de-DE" sz="1600" kern="0" dirty="0">
                <a:solidFill>
                  <a:srgbClr val="000000"/>
                </a:solidFill>
                <a:latin typeface="Avenir Book" panose="02000503020000020003" pitchFamily="2" charset="0"/>
                <a:ea typeface="ＭＳ Ｐゴシック" pitchFamily="34" charset="-128"/>
              </a:rPr>
              <a:t> PI verwendet.“</a:t>
            </a:r>
          </a:p>
        </p:txBody>
      </p:sp>
      <p:pic>
        <p:nvPicPr>
          <p:cNvPr id="17" name="Grafik 16" descr="Verbotsschild mit einfarbiger Füllung">
            <a:extLst>
              <a:ext uri="{FF2B5EF4-FFF2-40B4-BE49-F238E27FC236}">
                <a16:creationId xmlns:a16="http://schemas.microsoft.com/office/drawing/2014/main" id="{77F48150-00DB-6D47-AAC2-2B2F12389C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95500" y="2196455"/>
            <a:ext cx="529206" cy="529206"/>
          </a:xfrm>
          <a:prstGeom prst="rect">
            <a:avLst/>
          </a:prstGeom>
        </p:spPr>
      </p:pic>
      <p:pic>
        <p:nvPicPr>
          <p:cNvPr id="18" name="Grafik 17" descr="Abzeichen Tick1 mit einfarbiger Füllung">
            <a:extLst>
              <a:ext uri="{FF2B5EF4-FFF2-40B4-BE49-F238E27FC236}">
                <a16:creationId xmlns:a16="http://schemas.microsoft.com/office/drawing/2014/main" id="{0367D909-5CBC-C244-805F-AE341DB22B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9211" y="1726906"/>
            <a:ext cx="501785" cy="501785"/>
          </a:xfrm>
          <a:prstGeom prst="rect">
            <a:avLst/>
          </a:prstGeom>
        </p:spPr>
      </p:pic>
    </p:spTree>
    <p:extLst>
      <p:ext uri="{BB962C8B-B14F-4D97-AF65-F5344CB8AC3E}">
        <p14:creationId xmlns:p14="http://schemas.microsoft.com/office/powerpoint/2010/main" val="941870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Weitere häufige Fehler – und wie kann ich dem vorbeugen?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4" name="Textfeld 13">
            <a:extLst>
              <a:ext uri="{FF2B5EF4-FFF2-40B4-BE49-F238E27FC236}">
                <a16:creationId xmlns:a16="http://schemas.microsoft.com/office/drawing/2014/main" id="{41E1AEA1-AE23-974E-90F1-A40B241738C0}"/>
              </a:ext>
            </a:extLst>
          </p:cNvPr>
          <p:cNvSpPr txBox="1"/>
          <p:nvPr/>
        </p:nvSpPr>
        <p:spPr>
          <a:xfrm>
            <a:off x="304086" y="1334492"/>
            <a:ext cx="4034502" cy="2859925"/>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Rechtschreibfehler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Grammatikfehler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Zeichensetzungsfehler</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„Lesbarkeit“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Verständlichkeit</a:t>
            </a:r>
          </a:p>
        </p:txBody>
      </p:sp>
      <p:sp>
        <p:nvSpPr>
          <p:cNvPr id="15" name="Textfeld 14">
            <a:extLst>
              <a:ext uri="{FF2B5EF4-FFF2-40B4-BE49-F238E27FC236}">
                <a16:creationId xmlns:a16="http://schemas.microsoft.com/office/drawing/2014/main" id="{7D05AC3F-0C67-BC44-A343-2A41E43C71B4}"/>
              </a:ext>
            </a:extLst>
          </p:cNvPr>
          <p:cNvSpPr txBox="1"/>
          <p:nvPr/>
        </p:nvSpPr>
        <p:spPr>
          <a:xfrm>
            <a:off x="5659296" y="1551572"/>
            <a:ext cx="3672408" cy="674711"/>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Rechtschreibprüfung einschalten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Korrektur lesen (selbst &amp; andere)</a:t>
            </a:r>
          </a:p>
        </p:txBody>
      </p:sp>
      <p:pic>
        <p:nvPicPr>
          <p:cNvPr id="18" name="Grafik 17" descr="Abzeichen Tick1 mit einfarbiger Füllung">
            <a:extLst>
              <a:ext uri="{FF2B5EF4-FFF2-40B4-BE49-F238E27FC236}">
                <a16:creationId xmlns:a16="http://schemas.microsoft.com/office/drawing/2014/main" id="{0367D909-5CBC-C244-805F-AE341DB22B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5807" y="1618766"/>
            <a:ext cx="501785" cy="501785"/>
          </a:xfrm>
          <a:prstGeom prst="rect">
            <a:avLst/>
          </a:prstGeom>
        </p:spPr>
      </p:pic>
      <p:cxnSp>
        <p:nvCxnSpPr>
          <p:cNvPr id="12" name="Gerade Verbindung mit Pfeil 11">
            <a:extLst>
              <a:ext uri="{FF2B5EF4-FFF2-40B4-BE49-F238E27FC236}">
                <a16:creationId xmlns:a16="http://schemas.microsoft.com/office/drawing/2014/main" id="{15BBF6D5-F1C9-634C-94FE-0760FA1B907F}"/>
              </a:ext>
            </a:extLst>
          </p:cNvPr>
          <p:cNvCxnSpPr>
            <a:cxnSpLocks/>
          </p:cNvCxnSpPr>
          <p:nvPr/>
        </p:nvCxnSpPr>
        <p:spPr>
          <a:xfrm>
            <a:off x="3258468" y="1836415"/>
            <a:ext cx="1512168"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Gerade Verbindung mit Pfeil 15">
            <a:extLst>
              <a:ext uri="{FF2B5EF4-FFF2-40B4-BE49-F238E27FC236}">
                <a16:creationId xmlns:a16="http://schemas.microsoft.com/office/drawing/2014/main" id="{CD8A0792-C06E-3D49-B48B-6072BA674793}"/>
              </a:ext>
            </a:extLst>
          </p:cNvPr>
          <p:cNvCxnSpPr>
            <a:cxnSpLocks/>
          </p:cNvCxnSpPr>
          <p:nvPr/>
        </p:nvCxnSpPr>
        <p:spPr>
          <a:xfrm>
            <a:off x="2466380" y="2556495"/>
            <a:ext cx="230425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 name="Geschweifte Klammer rechts 5">
            <a:extLst>
              <a:ext uri="{FF2B5EF4-FFF2-40B4-BE49-F238E27FC236}">
                <a16:creationId xmlns:a16="http://schemas.microsoft.com/office/drawing/2014/main" id="{07A6FE0D-E5FA-9C4B-8761-9EC10168C1D5}"/>
              </a:ext>
            </a:extLst>
          </p:cNvPr>
          <p:cNvSpPr/>
          <p:nvPr/>
        </p:nvSpPr>
        <p:spPr>
          <a:xfrm>
            <a:off x="3114452" y="1404367"/>
            <a:ext cx="72008" cy="936104"/>
          </a:xfrm>
          <a:prstGeom prst="rightBrace">
            <a:avLst/>
          </a:prstGeom>
          <a:ln w="28575">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de-DE"/>
          </a:p>
        </p:txBody>
      </p:sp>
      <p:sp>
        <p:nvSpPr>
          <p:cNvPr id="20" name="Textfeld 19">
            <a:extLst>
              <a:ext uri="{FF2B5EF4-FFF2-40B4-BE49-F238E27FC236}">
                <a16:creationId xmlns:a16="http://schemas.microsoft.com/office/drawing/2014/main" id="{5991E0C4-9EEC-024C-8F48-B063D13CA057}"/>
              </a:ext>
            </a:extLst>
          </p:cNvPr>
          <p:cNvSpPr txBox="1"/>
          <p:nvPr/>
        </p:nvSpPr>
        <p:spPr>
          <a:xfrm>
            <a:off x="5659296" y="2245943"/>
            <a:ext cx="3672408" cy="1490319"/>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Bilder groß genug abbilden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Schriftart nicht zu klein wählen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Bei Gruppenarbeiten auf Einheitlichkeit in Layout und Sprache achten</a:t>
            </a:r>
          </a:p>
        </p:txBody>
      </p:sp>
      <p:pic>
        <p:nvPicPr>
          <p:cNvPr id="21" name="Grafik 20" descr="Abzeichen Tick1 mit einfarbiger Füllung">
            <a:extLst>
              <a:ext uri="{FF2B5EF4-FFF2-40B4-BE49-F238E27FC236}">
                <a16:creationId xmlns:a16="http://schemas.microsoft.com/office/drawing/2014/main" id="{4103DC7B-F8DF-3647-B7D0-0F73C6295E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5807" y="2313137"/>
            <a:ext cx="501785" cy="501785"/>
          </a:xfrm>
          <a:prstGeom prst="rect">
            <a:avLst/>
          </a:prstGeom>
        </p:spPr>
      </p:pic>
      <p:cxnSp>
        <p:nvCxnSpPr>
          <p:cNvPr id="22" name="Gerade Verbindung mit Pfeil 21">
            <a:extLst>
              <a:ext uri="{FF2B5EF4-FFF2-40B4-BE49-F238E27FC236}">
                <a16:creationId xmlns:a16="http://schemas.microsoft.com/office/drawing/2014/main" id="{7D8E793F-594B-D743-A5B9-C4D0DFDD4841}"/>
              </a:ext>
            </a:extLst>
          </p:cNvPr>
          <p:cNvCxnSpPr>
            <a:cxnSpLocks/>
          </p:cNvCxnSpPr>
          <p:nvPr/>
        </p:nvCxnSpPr>
        <p:spPr>
          <a:xfrm>
            <a:off x="2466380" y="3996655"/>
            <a:ext cx="230425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3" name="Textfeld 22">
            <a:extLst>
              <a:ext uri="{FF2B5EF4-FFF2-40B4-BE49-F238E27FC236}">
                <a16:creationId xmlns:a16="http://schemas.microsoft.com/office/drawing/2014/main" id="{492BB801-B18A-F841-B509-1AE0D49AC75E}"/>
              </a:ext>
            </a:extLst>
          </p:cNvPr>
          <p:cNvSpPr txBox="1"/>
          <p:nvPr/>
        </p:nvSpPr>
        <p:spPr>
          <a:xfrm>
            <a:off x="5597592" y="3774441"/>
            <a:ext cx="4141596" cy="2536759"/>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Beachten Sie die universellen intellektuelle Normen:</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Klarheit	Richtigkeit</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Exaktheit	Relevanz</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Tiefgang	Vernetzung</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Logik	Fokussierung </a:t>
            </a:r>
          </a:p>
          <a:p>
            <a:pPr marL="0" lvl="1" indent="0" defTabSz="704850" eaLnBrk="0" hangingPunct="0">
              <a:spcBef>
                <a:spcPts val="600"/>
              </a:spcBef>
              <a:tabLst>
                <a:tab pos="179388" algn="l"/>
                <a:tab pos="2151063" algn="l"/>
                <a:tab pos="2868613" algn="l"/>
              </a:tabLst>
            </a:pPr>
            <a:r>
              <a:rPr lang="de-DE" sz="1600" kern="0" dirty="0">
                <a:solidFill>
                  <a:srgbClr val="000000"/>
                </a:solidFill>
                <a:latin typeface="Avenir Book" panose="02000503020000020003" pitchFamily="2" charset="0"/>
                <a:ea typeface="ＭＳ Ｐゴシック" pitchFamily="34" charset="-128"/>
              </a:rPr>
              <a:t>Fairness</a:t>
            </a:r>
          </a:p>
          <a:p>
            <a:pPr marL="0" lvl="1" indent="0" defTabSz="704850" eaLnBrk="0" hangingPunct="0">
              <a:spcBef>
                <a:spcPts val="600"/>
              </a:spcBef>
              <a:tabLst>
                <a:tab pos="179388" algn="l"/>
                <a:tab pos="2151063" algn="l"/>
                <a:tab pos="2868613" algn="l"/>
              </a:tabLst>
            </a:pPr>
            <a:endParaRPr lang="de-DE" sz="1600" kern="0" dirty="0">
              <a:solidFill>
                <a:srgbClr val="000000"/>
              </a:solidFill>
              <a:latin typeface="Avenir Book" panose="02000503020000020003" pitchFamily="2" charset="0"/>
              <a:ea typeface="ＭＳ Ｐゴシック" pitchFamily="34" charset="-128"/>
            </a:endParaRPr>
          </a:p>
        </p:txBody>
      </p:sp>
      <p:pic>
        <p:nvPicPr>
          <p:cNvPr id="24" name="Grafik 23" descr="Abzeichen Tick1 mit einfarbiger Füllung">
            <a:extLst>
              <a:ext uri="{FF2B5EF4-FFF2-40B4-BE49-F238E27FC236}">
                <a16:creationId xmlns:a16="http://schemas.microsoft.com/office/drawing/2014/main" id="{2E098350-EB9A-0A4C-8784-C7C2A386EE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34103" y="3841635"/>
            <a:ext cx="501785" cy="501785"/>
          </a:xfrm>
          <a:prstGeom prst="rect">
            <a:avLst/>
          </a:prstGeom>
        </p:spPr>
      </p:pic>
    </p:spTree>
    <p:extLst>
      <p:ext uri="{BB962C8B-B14F-4D97-AF65-F5344CB8AC3E}">
        <p14:creationId xmlns:p14="http://schemas.microsoft.com/office/powerpoint/2010/main" val="3280278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Extra: Universelle intellektuelle Normen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pic>
        <p:nvPicPr>
          <p:cNvPr id="3" name="Grafik 2">
            <a:extLst>
              <a:ext uri="{FF2B5EF4-FFF2-40B4-BE49-F238E27FC236}">
                <a16:creationId xmlns:a16="http://schemas.microsoft.com/office/drawing/2014/main" id="{9771D0BB-6B24-4A4E-AA22-1120B5373BC8}"/>
              </a:ext>
            </a:extLst>
          </p:cNvPr>
          <p:cNvPicPr>
            <a:picLocks noChangeAspect="1"/>
          </p:cNvPicPr>
          <p:nvPr/>
        </p:nvPicPr>
        <p:blipFill rotWithShape="1">
          <a:blip r:embed="rId2">
            <a:extLst>
              <a:ext uri="{28A0092B-C50C-407E-A947-70E740481C1C}">
                <a14:useLocalDpi xmlns:a14="http://schemas.microsoft.com/office/drawing/2010/main" val="0"/>
              </a:ext>
            </a:extLst>
          </a:blip>
          <a:srcRect l="31145" t="25219" r="31819" b="4094"/>
          <a:stretch/>
        </p:blipFill>
        <p:spPr>
          <a:xfrm>
            <a:off x="621032" y="1072590"/>
            <a:ext cx="4509644" cy="5379377"/>
          </a:xfrm>
          <a:prstGeom prst="rect">
            <a:avLst/>
          </a:prstGeom>
          <a:ln>
            <a:solidFill>
              <a:schemeClr val="tx1"/>
            </a:solidFill>
          </a:ln>
        </p:spPr>
      </p:pic>
      <p:pic>
        <p:nvPicPr>
          <p:cNvPr id="7" name="Grafik 6">
            <a:extLst>
              <a:ext uri="{FF2B5EF4-FFF2-40B4-BE49-F238E27FC236}">
                <a16:creationId xmlns:a16="http://schemas.microsoft.com/office/drawing/2014/main" id="{4C8FC92D-0540-D144-ABC4-79A59C5FE98B}"/>
              </a:ext>
            </a:extLst>
          </p:cNvPr>
          <p:cNvPicPr>
            <a:picLocks noChangeAspect="1"/>
          </p:cNvPicPr>
          <p:nvPr/>
        </p:nvPicPr>
        <p:blipFill rotWithShape="1">
          <a:blip r:embed="rId3">
            <a:extLst>
              <a:ext uri="{28A0092B-C50C-407E-A947-70E740481C1C}">
                <a14:useLocalDpi xmlns:a14="http://schemas.microsoft.com/office/drawing/2010/main" val="0"/>
              </a:ext>
            </a:extLst>
          </a:blip>
          <a:srcRect l="30472" t="33839" r="22391" b="24142"/>
          <a:stretch/>
        </p:blipFill>
        <p:spPr>
          <a:xfrm>
            <a:off x="5296239" y="1072590"/>
            <a:ext cx="5040560" cy="2808311"/>
          </a:xfrm>
          <a:prstGeom prst="rect">
            <a:avLst/>
          </a:prstGeom>
          <a:ln>
            <a:solidFill>
              <a:schemeClr val="tx1"/>
            </a:solidFill>
          </a:ln>
        </p:spPr>
      </p:pic>
    </p:spTree>
    <p:extLst>
      <p:ext uri="{BB962C8B-B14F-4D97-AF65-F5344CB8AC3E}">
        <p14:creationId xmlns:p14="http://schemas.microsoft.com/office/powerpoint/2010/main" val="1990704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zum Layout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5414470"/>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Neben MS WORD ist das Textverarbeitungssystem </a:t>
            </a:r>
            <a:r>
              <a:rPr lang="de-DE" sz="1800" b="1" kern="0" dirty="0">
                <a:solidFill>
                  <a:srgbClr val="000000"/>
                </a:solidFill>
                <a:latin typeface="Avenir Book" panose="02000503020000020003" pitchFamily="2" charset="0"/>
                <a:ea typeface="ＭＳ Ｐゴシック" pitchFamily="34" charset="-128"/>
              </a:rPr>
              <a:t>LATEX</a:t>
            </a:r>
            <a:r>
              <a:rPr lang="de-DE" sz="1800" kern="0" dirty="0">
                <a:solidFill>
                  <a:srgbClr val="000000"/>
                </a:solidFill>
                <a:latin typeface="Avenir Book" panose="02000503020000020003" pitchFamily="2" charset="0"/>
                <a:ea typeface="ＭＳ Ｐゴシック" pitchFamily="34" charset="-128"/>
              </a:rPr>
              <a:t> im Hochschulbereich weit verbreitetet und insbesondere für das Erstellen von Formeln und Gleichungssystemen sehr geeignet. Für die Arbeit mit LATEX ist allerdings eine intensive Einarbeitung erforderlich.</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Beachten Sie bei der Festlegung des Seitenlayouts und der Formatvorlagen die „Hausregeln“ bzgl. dem Corporate Design der Hochschule.</a:t>
            </a:r>
          </a:p>
          <a:p>
            <a:pPr marL="808038" lvl="2"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Z.B.: Kopfzeile, Position der Seitenzahl, Schriftart etc.</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Zwischen zwei Absätzen steht nach DIN 5008 grundsätzlich eine Leerzeile.               (</a:t>
            </a:r>
            <a:r>
              <a:rPr lang="de-DE" sz="1200" kern="0" dirty="0">
                <a:solidFill>
                  <a:srgbClr val="000000"/>
                </a:solidFill>
                <a:latin typeface="Avenir Book" panose="02000503020000020003" pitchFamily="2" charset="0"/>
                <a:ea typeface="ＭＳ Ｐゴシック" pitchFamily="34" charset="-128"/>
              </a:rPr>
              <a:t>Es empfiehlt sich, den Abstand mit „Format – Absatz – Abstand, Nach:“ auf einen Wert von &gt;6 </a:t>
            </a:r>
            <a:r>
              <a:rPr lang="de-DE" sz="1200" kern="0" dirty="0" err="1">
                <a:solidFill>
                  <a:srgbClr val="000000"/>
                </a:solidFill>
                <a:latin typeface="Avenir Book" panose="02000503020000020003" pitchFamily="2" charset="0"/>
                <a:ea typeface="ＭＳ Ｐゴシック" pitchFamily="34" charset="-128"/>
              </a:rPr>
              <a:t>pt</a:t>
            </a:r>
            <a:r>
              <a:rPr lang="de-DE" sz="1200" kern="0" dirty="0">
                <a:solidFill>
                  <a:srgbClr val="000000"/>
                </a:solidFill>
                <a:latin typeface="Avenir Book" panose="02000503020000020003" pitchFamily="2" charset="0"/>
                <a:ea typeface="ＭＳ Ｐゴシック" pitchFamily="34" charset="-128"/>
              </a:rPr>
              <a:t> einzustellen (Registerkarte Start, Dialogfeld Absatz))</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 Zeilenabstand von „1.5“ ist „lesefreundlich“</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Textausrichtung: Blocksatz (oder linksbündig)</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Schriftart: Schriftart „</a:t>
            </a:r>
            <a:r>
              <a:rPr lang="de-DE" sz="1800" kern="0" dirty="0">
                <a:solidFill>
                  <a:srgbClr val="000000"/>
                </a:solidFill>
                <a:latin typeface="Times" pitchFamily="2" charset="0"/>
                <a:ea typeface="ＭＳ Ｐゴシック" pitchFamily="34" charset="-128"/>
              </a:rPr>
              <a:t>Times</a:t>
            </a:r>
            <a:r>
              <a:rPr lang="de-DE" sz="1800" kern="0" dirty="0">
                <a:solidFill>
                  <a:srgbClr val="000000"/>
                </a:solidFill>
                <a:latin typeface="Avenir Book" panose="02000503020000020003" pitchFamily="2" charset="0"/>
                <a:ea typeface="ＭＳ Ｐゴシック" pitchFamily="34" charset="-128"/>
              </a:rPr>
              <a:t>“ für größere Mengen Text (oder </a:t>
            </a:r>
            <a:r>
              <a:rPr lang="de-DE" sz="1800" kern="0" dirty="0" err="1">
                <a:solidFill>
                  <a:srgbClr val="000000"/>
                </a:solidFill>
                <a:latin typeface="Avenir Book" panose="02000503020000020003" pitchFamily="2" charset="0"/>
                <a:ea typeface="ＭＳ Ｐゴシック" pitchFamily="34" charset="-128"/>
              </a:rPr>
              <a:t>ander</a:t>
            </a:r>
            <a:r>
              <a:rPr lang="de-DE" sz="1800" kern="0" dirty="0">
                <a:solidFill>
                  <a:srgbClr val="000000"/>
                </a:solidFill>
                <a:latin typeface="Avenir Book" panose="02000503020000020003" pitchFamily="2" charset="0"/>
                <a:ea typeface="ＭＳ Ｐゴシック" pitchFamily="34" charset="-128"/>
              </a:rPr>
              <a:t> Schriftart mit  Serifen, d.h. die kleinen Striche an den Buchstabenenden)</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522288" lvl="2"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552410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Hinweise zum Layout</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2. Hilfreiche Hinweise zur Textproduktion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9147070" cy="3260034"/>
          </a:xfrm>
          <a:prstGeom prst="rect">
            <a:avLst/>
          </a:prstGeom>
          <a:noFill/>
        </p:spPr>
        <p:txBody>
          <a:bodyPr wrap="square" lIns="104306" tIns="52153" rIns="104306" bIns="52153" rtlCol="0">
            <a:spAutoFit/>
          </a:bodyPr>
          <a:lstStyle/>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Eine Dokumentteil-Überschrift darf nie allein oder mit nur einer Zeile Text auf der alten Seite stehen bleiben.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Eine einzelne Zeile eines Absatzes darf weder auf der alten noch auf der neuen Seite allein auftreten, es sei denn, der Absatz besteht nur aus einer Zeile.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Bilder sollten möglichst auf der gleichen Seite wie der zugehörige Text oder allenfalls auf der folgenden Seite stehen, damit die Bildinformation </a:t>
            </a:r>
            <a:r>
              <a:rPr lang="de-DE" sz="1800" kern="0" dirty="0" err="1">
                <a:solidFill>
                  <a:srgbClr val="000000"/>
                </a:solidFill>
                <a:latin typeface="Avenir Book" panose="02000503020000020003" pitchFamily="2" charset="0"/>
                <a:ea typeface="ＭＳ Ｐゴシック" pitchFamily="34" charset="-128"/>
              </a:rPr>
              <a:t>textnah</a:t>
            </a:r>
            <a:r>
              <a:rPr lang="de-DE" sz="1800" kern="0" dirty="0">
                <a:solidFill>
                  <a:srgbClr val="000000"/>
                </a:solidFill>
                <a:latin typeface="Avenir Book" panose="02000503020000020003" pitchFamily="2" charset="0"/>
                <a:ea typeface="ＭＳ Ｐゴシック" pitchFamily="34" charset="-128"/>
              </a:rPr>
              <a:t> dargeboten wird. Dies erhöht die Verständlichkeit.</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522288" lvl="2"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1370503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Fertigstellung/Endredaktion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3. Fertigstellung/Endredaktion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10081120" cy="5506803"/>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Korrekturlesen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Notieren Sie sowohl Korrekturvermerke als auch notwendige Arbeiten am besten sofort in Ihrer </a:t>
            </a:r>
            <a:r>
              <a:rPr lang="de-DE" sz="1800" kern="0" dirty="0" err="1">
                <a:solidFill>
                  <a:srgbClr val="000000"/>
                </a:solidFill>
                <a:latin typeface="Avenir Book" panose="02000503020000020003" pitchFamily="2" charset="0"/>
                <a:ea typeface="ＭＳ Ｐゴシック" pitchFamily="34" charset="-128"/>
              </a:rPr>
              <a:t>To</a:t>
            </a:r>
            <a:r>
              <a:rPr lang="de-DE" sz="1800" kern="0" dirty="0">
                <a:solidFill>
                  <a:srgbClr val="000000"/>
                </a:solidFill>
                <a:latin typeface="Avenir Book" panose="02000503020000020003" pitchFamily="2" charset="0"/>
                <a:ea typeface="ＭＳ Ｐゴシック" pitchFamily="34" charset="-128"/>
              </a:rPr>
              <a:t>-do-Liste, damit Sie diese Ideen nicht vergessen.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Da sich die Seitenzahlen durch Umformatierungen bis zuletzt ändern können, wird das automatisch erzeugte Inhaltsverzeichnis zum Schluss noch einmal aktualisiert.</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Korrekturen sollten Sie immer in farbig markiert eintragen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Lassen Sie den Technischen Bericht möglichst auch von anderen lesen. Man selbst wird nach einigen Wochen bzw. nach häufigem Lesen der eigenen Texte „betriebsblind“ gegenüber den eigenen Formulierungen. </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Empfehlungen für den Ausdruck für die finale Abgabe: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Rücksprache mit Betreuer zu Abgabe (Online? Ausdruck? Gebunden? Papierstärke?)</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Konvertieren Sie Ihre Datei vor dem Ausdrucken zu einer PDF. Bei PDF handelt es sich um eine Seitenbeschreibungssprache. Jeder Betrachter sieht Ihren Technischen Bericht genauso, wie Sie ihn am Computer gestaltet haben. Der Zeilen und Seitenumbruch bleibt erhalten. Das ist der wesentliche Vorteil von PDF.</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2222515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Fertigstellung/Endredaktion</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3. Fertigstellung/Endredaktion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10081120" cy="736267"/>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Ich schreibe einen Bericht mit anderen. Was ist zu beachten?</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3370893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Ideen für die Umsetzung</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3. Fertigstellung/Endredaktion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304086" y="1252609"/>
            <a:ext cx="10081120" cy="4952805"/>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Check-in (10 min, Anna):</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Mini-Reflexionen: 3 Fragen im Chat (pers. Akkustand, Was war das beste, was Ihnen im letzten Semester passiert ist? Worauf freuen Sie sich in diesem?)</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Breakout-</a:t>
            </a:r>
            <a:r>
              <a:rPr lang="de-DE" sz="1800" kern="0" dirty="0" err="1">
                <a:solidFill>
                  <a:srgbClr val="000000"/>
                </a:solidFill>
                <a:latin typeface="Avenir Book" panose="02000503020000020003" pitchFamily="2" charset="0"/>
                <a:ea typeface="ＭＳ Ｐゴシック" pitchFamily="34" charset="-128"/>
              </a:rPr>
              <a:t>Rooms</a:t>
            </a:r>
            <a:r>
              <a:rPr lang="de-DE" sz="1800" kern="0" dirty="0">
                <a:solidFill>
                  <a:srgbClr val="000000"/>
                </a:solidFill>
                <a:latin typeface="Avenir Book" panose="02000503020000020003" pitchFamily="2" charset="0"/>
                <a:ea typeface="ＭＳ Ｐゴシック" pitchFamily="34" charset="-128"/>
              </a:rPr>
              <a:t>: Dreieck der Gemeinsamkeiten &gt; Ziel: persönliche Connection schaffen (Außer </a:t>
            </a:r>
            <a:r>
              <a:rPr lang="de-DE" sz="1800" kern="0" dirty="0" err="1">
                <a:solidFill>
                  <a:srgbClr val="000000"/>
                </a:solidFill>
                <a:latin typeface="Avenir Book" panose="02000503020000020003" pitchFamily="2" charset="0"/>
                <a:ea typeface="ＭＳ Ｐゴシック" pitchFamily="34" charset="-128"/>
              </a:rPr>
              <a:t>Hka</a:t>
            </a:r>
            <a:r>
              <a:rPr lang="de-DE" sz="1800" kern="0" dirty="0">
                <a:solidFill>
                  <a:srgbClr val="000000"/>
                </a:solidFill>
                <a:latin typeface="Avenir Book" panose="02000503020000020003" pitchFamily="2" charset="0"/>
                <a:ea typeface="ＭＳ Ｐゴシック" pitchFamily="34" charset="-128"/>
              </a:rPr>
              <a:t> als Uni)</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Ablauf vorstellen</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Warum sind wir hier? Warum ist Schreiben für Ingenieur*innen wichtig? Wie ist ein Bericht aufgebaut? (15 min, Anna)</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Anschließende Übung (15 min):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Kurze Einführung in </a:t>
            </a:r>
            <a:r>
              <a:rPr lang="de-DE" sz="1800" kern="0" dirty="0" err="1">
                <a:solidFill>
                  <a:srgbClr val="000000"/>
                </a:solidFill>
                <a:latin typeface="Avenir Book" panose="02000503020000020003" pitchFamily="2" charset="0"/>
                <a:ea typeface="ＭＳ Ｐゴシック" pitchFamily="34" charset="-128"/>
              </a:rPr>
              <a:t>Mural</a:t>
            </a:r>
            <a:endParaRPr lang="de-DE" sz="1800" kern="0" dirty="0">
              <a:solidFill>
                <a:srgbClr val="000000"/>
              </a:solidFill>
              <a:latin typeface="Avenir Book" panose="02000503020000020003" pitchFamily="2" charset="0"/>
              <a:ea typeface="ＭＳ Ｐゴシック" pitchFamily="34" charset="-128"/>
            </a:endParaRP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Was gehört wohin? Einleitung: XY; Schluss: YY… &gt; Studierende sollen bereits erstellte Post-</a:t>
            </a:r>
            <a:r>
              <a:rPr lang="de-DE" sz="1800" kern="0" dirty="0" err="1">
                <a:solidFill>
                  <a:srgbClr val="000000"/>
                </a:solidFill>
                <a:latin typeface="Avenir Book" panose="02000503020000020003" pitchFamily="2" charset="0"/>
                <a:ea typeface="ＭＳ Ｐゴシック" pitchFamily="34" charset="-128"/>
              </a:rPr>
              <a:t>its</a:t>
            </a:r>
            <a:r>
              <a:rPr lang="de-DE" sz="1800" kern="0" dirty="0">
                <a:solidFill>
                  <a:srgbClr val="000000"/>
                </a:solidFill>
                <a:latin typeface="Avenir Book" panose="02000503020000020003" pitchFamily="2" charset="0"/>
                <a:ea typeface="ＭＳ Ｐゴシック" pitchFamily="34" charset="-128"/>
              </a:rPr>
              <a:t> in Felder verschieben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3 exemplarische Fragen aus „Planung“ werden beantwortet (vorbereitete Textfelder mit Fragen</a:t>
            </a:r>
          </a:p>
          <a:p>
            <a:pPr marL="0" lvl="1" indent="0" defTabSz="704850" eaLnBrk="0" hangingPunct="0">
              <a:spcBef>
                <a:spcPts val="600"/>
              </a:spcBef>
              <a:tabLst>
                <a:tab pos="179388" algn="l"/>
                <a:tab pos="2151063" algn="l"/>
                <a:tab pos="2868613" algn="l"/>
              </a:tabLst>
            </a:pPr>
            <a:endParaRPr lang="de-DE" sz="1800" kern="0" dirty="0">
              <a:solidFill>
                <a:srgbClr val="000000"/>
              </a:solidFill>
              <a:latin typeface="Avenir Book" panose="02000503020000020003" pitchFamily="2" charset="0"/>
              <a:ea typeface="ＭＳ Ｐゴシック" pitchFamily="34" charset="-128"/>
            </a:endParaRPr>
          </a:p>
        </p:txBody>
      </p:sp>
    </p:spTree>
    <p:extLst>
      <p:ext uri="{BB962C8B-B14F-4D97-AF65-F5344CB8AC3E}">
        <p14:creationId xmlns:p14="http://schemas.microsoft.com/office/powerpoint/2010/main" val="4272890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0"/>
          </p:nvPr>
        </p:nvSpPr>
        <p:spPr>
          <a:xfrm>
            <a:off x="304086" y="712550"/>
            <a:ext cx="10081120" cy="360040"/>
          </a:xfrm>
        </p:spPr>
        <p:txBody>
          <a:bodyPr/>
          <a:lstStyle/>
          <a:p>
            <a:r>
              <a:rPr lang="de-DE" altLang="ja-JP" b="1" dirty="0">
                <a:latin typeface="Avenir Book" panose="02000503020000020003" pitchFamily="2" charset="0"/>
                <a:ea typeface="ＭＳ Ｐゴシック" pitchFamily="34" charset="-128"/>
              </a:rPr>
              <a:t>Ideen für die Umsetzung</a:t>
            </a:r>
          </a:p>
        </p:txBody>
      </p:sp>
      <p:cxnSp>
        <p:nvCxnSpPr>
          <p:cNvPr id="8" name="Gerade Verbindung 7">
            <a:extLst>
              <a:ext uri="{FF2B5EF4-FFF2-40B4-BE49-F238E27FC236}">
                <a16:creationId xmlns:a16="http://schemas.microsoft.com/office/drawing/2014/main" id="{CFBF3155-F2D5-4F49-84A5-854253F47985}"/>
              </a:ext>
            </a:extLst>
          </p:cNvPr>
          <p:cNvCxnSpPr/>
          <p:nvPr/>
        </p:nvCxnSpPr>
        <p:spPr>
          <a:xfrm>
            <a:off x="304086" y="532530"/>
            <a:ext cx="10081120" cy="0"/>
          </a:xfrm>
          <a:prstGeom prst="line">
            <a:avLst/>
          </a:prstGeom>
          <a:ln>
            <a:solidFill>
              <a:srgbClr val="DB0031"/>
            </a:solidFill>
          </a:ln>
        </p:spPr>
        <p:style>
          <a:lnRef idx="1">
            <a:schemeClr val="dk1"/>
          </a:lnRef>
          <a:fillRef idx="0">
            <a:schemeClr val="dk1"/>
          </a:fillRef>
          <a:effectRef idx="0">
            <a:schemeClr val="dk1"/>
          </a:effectRef>
          <a:fontRef idx="minor">
            <a:schemeClr val="tx1"/>
          </a:fontRef>
        </p:style>
      </p:cxnSp>
      <p:sp>
        <p:nvSpPr>
          <p:cNvPr id="9" name="Textplatzhalter 3">
            <a:extLst>
              <a:ext uri="{FF2B5EF4-FFF2-40B4-BE49-F238E27FC236}">
                <a16:creationId xmlns:a16="http://schemas.microsoft.com/office/drawing/2014/main" id="{636617E5-3FEB-774E-9075-2FB6E49AFD7A}"/>
              </a:ext>
            </a:extLst>
          </p:cNvPr>
          <p:cNvSpPr txBox="1">
            <a:spLocks/>
          </p:cNvSpPr>
          <p:nvPr/>
        </p:nvSpPr>
        <p:spPr>
          <a:xfrm>
            <a:off x="304086" y="172490"/>
            <a:ext cx="10081120"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altLang="ja-JP" sz="1200" kern="0" dirty="0">
                <a:solidFill>
                  <a:schemeClr val="bg2"/>
                </a:solidFill>
                <a:latin typeface="Avenir Book" panose="02000503020000020003" pitchFamily="2" charset="0"/>
                <a:ea typeface="ＭＳ Ｐゴシック" pitchFamily="34" charset="-128"/>
              </a:rPr>
              <a:t>Zu 3. Fertigstellung/Endredaktion</a:t>
            </a:r>
            <a:endParaRPr lang="de-DE" altLang="ja-JP" sz="1200" kern="0" dirty="0">
              <a:solidFill>
                <a:schemeClr val="bg2"/>
              </a:solidFill>
              <a:ea typeface="ＭＳ Ｐゴシック" pitchFamily="34" charset="-128"/>
            </a:endParaRPr>
          </a:p>
        </p:txBody>
      </p:sp>
      <p:sp>
        <p:nvSpPr>
          <p:cNvPr id="10" name="Textfeld 9">
            <a:extLst>
              <a:ext uri="{FF2B5EF4-FFF2-40B4-BE49-F238E27FC236}">
                <a16:creationId xmlns:a16="http://schemas.microsoft.com/office/drawing/2014/main" id="{EAF81D9F-2910-4E41-AA74-0E7CAA535288}"/>
              </a:ext>
            </a:extLst>
          </p:cNvPr>
          <p:cNvSpPr txBox="1"/>
          <p:nvPr/>
        </p:nvSpPr>
        <p:spPr>
          <a:xfrm>
            <a:off x="291547" y="1072590"/>
            <a:ext cx="10081120" cy="5106694"/>
          </a:xfrm>
          <a:prstGeom prst="rect">
            <a:avLst/>
          </a:prstGeom>
          <a:noFill/>
        </p:spPr>
        <p:txBody>
          <a:bodyPr wrap="square" lIns="104306" tIns="52153" rIns="104306" bIns="52153" rtlCol="0">
            <a:spAutoFit/>
          </a:bodyPr>
          <a:lstStyle/>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Formeln, Abbildungen, Tabellen, Zitat (15 min, Cosima)</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Übung (15 min, Anna?): </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“Ei“: </a:t>
            </a:r>
            <a:r>
              <a:rPr lang="de-DE" sz="1800" kern="0" dirty="0" err="1">
                <a:solidFill>
                  <a:srgbClr val="000000"/>
                </a:solidFill>
                <a:latin typeface="Avenir Book" panose="02000503020000020003" pitchFamily="2" charset="0"/>
                <a:ea typeface="ＭＳ Ｐゴシック" pitchFamily="34" charset="-128"/>
              </a:rPr>
              <a:t>Do‘s</a:t>
            </a:r>
            <a:r>
              <a:rPr lang="de-DE" sz="1800" kern="0" dirty="0">
                <a:solidFill>
                  <a:srgbClr val="000000"/>
                </a:solidFill>
                <a:latin typeface="Avenir Book" panose="02000503020000020003" pitchFamily="2" charset="0"/>
                <a:ea typeface="ＭＳ Ｐゴシック" pitchFamily="34" charset="-128"/>
              </a:rPr>
              <a:t> und </a:t>
            </a:r>
            <a:r>
              <a:rPr lang="de-DE" sz="1800" kern="0" dirty="0" err="1">
                <a:solidFill>
                  <a:srgbClr val="000000"/>
                </a:solidFill>
                <a:latin typeface="Avenir Book" panose="02000503020000020003" pitchFamily="2" charset="0"/>
                <a:ea typeface="ＭＳ Ｐゴシック" pitchFamily="34" charset="-128"/>
              </a:rPr>
              <a:t>Dont‘s</a:t>
            </a:r>
            <a:r>
              <a:rPr lang="de-DE" sz="1800" kern="0" dirty="0">
                <a:solidFill>
                  <a:srgbClr val="000000"/>
                </a:solidFill>
                <a:latin typeface="Avenir Book" panose="02000503020000020003" pitchFamily="2" charset="0"/>
                <a:ea typeface="ＭＳ Ｐゴシック" pitchFamily="34" charset="-128"/>
              </a:rPr>
              <a:t> bei Abbildungen (1 min)</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Finde den Fehler: Bilder vorgeben, Studis sollen Post-</a:t>
            </a:r>
            <a:r>
              <a:rPr lang="de-DE" sz="1800" kern="0" dirty="0" err="1">
                <a:solidFill>
                  <a:srgbClr val="000000"/>
                </a:solidFill>
                <a:latin typeface="Avenir Book" panose="02000503020000020003" pitchFamily="2" charset="0"/>
                <a:ea typeface="ＭＳ Ｐゴシック" pitchFamily="34" charset="-128"/>
              </a:rPr>
              <a:t>it</a:t>
            </a:r>
            <a:r>
              <a:rPr lang="de-DE" sz="1800" kern="0" dirty="0">
                <a:solidFill>
                  <a:srgbClr val="000000"/>
                </a:solidFill>
                <a:latin typeface="Avenir Book" panose="02000503020000020003" pitchFamily="2" charset="0"/>
                <a:ea typeface="ＭＳ Ｐゴシック" pitchFamily="34" charset="-128"/>
              </a:rPr>
              <a:t> schreiben, was an dem Foto schlecht ist (1 min pro Bild)</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Welches der vorgegeben Zitate ist gut zitiert? &gt; </a:t>
            </a:r>
            <a:r>
              <a:rPr lang="de-DE" sz="1800" kern="0" dirty="0" err="1">
                <a:solidFill>
                  <a:srgbClr val="000000"/>
                </a:solidFill>
                <a:latin typeface="Avenir Book" panose="02000503020000020003" pitchFamily="2" charset="0"/>
                <a:ea typeface="ＭＳ Ｐゴシック" pitchFamily="34" charset="-128"/>
              </a:rPr>
              <a:t>Voting</a:t>
            </a:r>
            <a:r>
              <a:rPr lang="de-DE" sz="1800" kern="0" dirty="0">
                <a:solidFill>
                  <a:srgbClr val="000000"/>
                </a:solidFill>
                <a:latin typeface="Avenir Book" panose="02000503020000020003" pitchFamily="2" charset="0"/>
                <a:ea typeface="ＭＳ Ｐゴシック" pitchFamily="34" charset="-128"/>
              </a:rPr>
              <a:t> (3x pro Zitat 1 min)</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Hinweise zur Textproduktion: Formulierungen (15 min, Cosima?)</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Übung (10 min, Anna):</a:t>
            </a:r>
          </a:p>
          <a:p>
            <a:pPr marL="285750" lvl="1" indent="-285750" defTabSz="704850" eaLnBrk="0" hangingPunct="0">
              <a:spcBef>
                <a:spcPts val="600"/>
              </a:spcBef>
              <a:buFont typeface="Arial" panose="020B0604020202020204" pitchFamily="34" charset="0"/>
              <a:buChar char="•"/>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Machen Sie es Besser &gt; Studis haben einen </a:t>
            </a:r>
            <a:r>
              <a:rPr lang="de-DE" sz="1800" kern="0" dirty="0" err="1">
                <a:solidFill>
                  <a:srgbClr val="000000"/>
                </a:solidFill>
                <a:latin typeface="Avenir Book" panose="02000503020000020003" pitchFamily="2" charset="0"/>
                <a:ea typeface="ＭＳ Ｐゴシック" pitchFamily="34" charset="-128"/>
              </a:rPr>
              <a:t>vorgegeb</a:t>
            </a:r>
            <a:r>
              <a:rPr lang="de-DE" sz="1800" kern="0" dirty="0">
                <a:solidFill>
                  <a:srgbClr val="000000"/>
                </a:solidFill>
                <a:latin typeface="Avenir Book" panose="02000503020000020003" pitchFamily="2" charset="0"/>
                <a:ea typeface="ＭＳ Ｐゴシック" pitchFamily="34" charset="-128"/>
              </a:rPr>
              <a:t>. Satz, der schlecht formuliert ist, sie sollen ihn in 2 min besser formulieren (5 Sätze vorgeben)</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Letzte Verweise + Fragen: PPT als Skript, Doc-Vorlage, PPT, Buch zu Technischen Berichten, CT </a:t>
            </a:r>
            <a:r>
              <a:rPr lang="de-DE" sz="1800" kern="0" dirty="0" err="1">
                <a:solidFill>
                  <a:srgbClr val="000000"/>
                </a:solidFill>
                <a:latin typeface="Avenir Book" panose="02000503020000020003" pitchFamily="2" charset="0"/>
                <a:ea typeface="ＭＳ Ｐゴシック" pitchFamily="34" charset="-128"/>
              </a:rPr>
              <a:t>handbuch</a:t>
            </a:r>
            <a:r>
              <a:rPr lang="de-DE" sz="1800" kern="0" dirty="0">
                <a:solidFill>
                  <a:srgbClr val="000000"/>
                </a:solidFill>
                <a:latin typeface="Avenir Book" panose="02000503020000020003" pitchFamily="2" charset="0"/>
                <a:ea typeface="ＭＳ Ｐゴシック" pitchFamily="34" charset="-128"/>
              </a:rPr>
              <a:t>, Exemplar für gelungene Bericht auf Ilias (10-20 min) </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Check-out (Anna, 5 min)</a:t>
            </a:r>
          </a:p>
          <a:p>
            <a:pPr marL="285750" lvl="1" indent="-285750" defTabSz="704850" eaLnBrk="0" hangingPunct="0">
              <a:spcBef>
                <a:spcPts val="600"/>
              </a:spcBef>
              <a:buFont typeface="Wingdings" pitchFamily="2" charset="2"/>
              <a:buChar char="Ø"/>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Feedback-</a:t>
            </a:r>
            <a:r>
              <a:rPr lang="de-DE" sz="1800" kern="0" dirty="0" err="1">
                <a:solidFill>
                  <a:srgbClr val="000000"/>
                </a:solidFill>
                <a:latin typeface="Avenir Book" panose="02000503020000020003" pitchFamily="2" charset="0"/>
                <a:ea typeface="ＭＳ Ｐゴシック" pitchFamily="34" charset="-128"/>
              </a:rPr>
              <a:t>Dart</a:t>
            </a:r>
            <a:r>
              <a:rPr lang="de-DE" sz="1800" kern="0" dirty="0">
                <a:solidFill>
                  <a:srgbClr val="000000"/>
                </a:solidFill>
                <a:latin typeface="Avenir Book" panose="02000503020000020003" pitchFamily="2" charset="0"/>
                <a:ea typeface="ＭＳ Ｐゴシック" pitchFamily="34" charset="-128"/>
              </a:rPr>
              <a:t> + Sagen Sie es mit einem GIF (</a:t>
            </a:r>
            <a:r>
              <a:rPr lang="de-DE" sz="1800" kern="0" dirty="0" err="1">
                <a:solidFill>
                  <a:srgbClr val="000000"/>
                </a:solidFill>
                <a:latin typeface="Avenir Book" panose="02000503020000020003" pitchFamily="2" charset="0"/>
                <a:ea typeface="ＭＳ Ｐゴシック" pitchFamily="34" charset="-128"/>
              </a:rPr>
              <a:t>Mural</a:t>
            </a:r>
            <a:r>
              <a:rPr lang="de-DE" sz="1800" kern="0" dirty="0">
                <a:solidFill>
                  <a:srgbClr val="000000"/>
                </a:solidFill>
                <a:latin typeface="Avenir Book" panose="02000503020000020003" pitchFamily="2" charset="0"/>
                <a:ea typeface="ＭＳ Ｐゴシック" pitchFamily="34" charset="-128"/>
              </a:rPr>
              <a:t>)</a:t>
            </a:r>
          </a:p>
          <a:p>
            <a:pPr marL="0" lvl="1" indent="0" defTabSz="704850" eaLnBrk="0" hangingPunct="0">
              <a:spcBef>
                <a:spcPts val="600"/>
              </a:spcBef>
              <a:tabLst>
                <a:tab pos="179388" algn="l"/>
                <a:tab pos="2151063" algn="l"/>
                <a:tab pos="2868613" algn="l"/>
              </a:tabLst>
            </a:pPr>
            <a:r>
              <a:rPr lang="de-DE" sz="1800" kern="0" dirty="0">
                <a:solidFill>
                  <a:srgbClr val="000000"/>
                </a:solidFill>
                <a:latin typeface="Avenir Book" panose="02000503020000020003" pitchFamily="2" charset="0"/>
                <a:ea typeface="ＭＳ Ｐゴシック" pitchFamily="34" charset="-128"/>
              </a:rPr>
              <a:t>Angebot: Wir sind jetzt noch 15 min hier, falls jemand Fragen hat</a:t>
            </a:r>
          </a:p>
        </p:txBody>
      </p:sp>
    </p:spTree>
    <p:extLst>
      <p:ext uri="{BB962C8B-B14F-4D97-AF65-F5344CB8AC3E}">
        <p14:creationId xmlns:p14="http://schemas.microsoft.com/office/powerpoint/2010/main" val="3648067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FC3338-B58C-D846-9A1E-6E49D232216D}"/>
              </a:ext>
            </a:extLst>
          </p:cNvPr>
          <p:cNvSpPr>
            <a:spLocks noGrp="1"/>
          </p:cNvSpPr>
          <p:nvPr>
            <p:ph type="title"/>
          </p:nvPr>
        </p:nvSpPr>
        <p:spPr/>
        <p:txBody>
          <a:bodyPr/>
          <a:lstStyle/>
          <a:p>
            <a:r>
              <a:rPr lang="de-DE" dirty="0"/>
              <a:t>Kommentar: Anna</a:t>
            </a:r>
          </a:p>
        </p:txBody>
      </p:sp>
      <p:sp>
        <p:nvSpPr>
          <p:cNvPr id="3" name="Inhaltsplatzhalter 2">
            <a:extLst>
              <a:ext uri="{FF2B5EF4-FFF2-40B4-BE49-F238E27FC236}">
                <a16:creationId xmlns:a16="http://schemas.microsoft.com/office/drawing/2014/main" id="{24DAFEC9-01B4-5F44-80C5-8542933BD851}"/>
              </a:ext>
            </a:extLst>
          </p:cNvPr>
          <p:cNvSpPr>
            <a:spLocks noGrp="1"/>
          </p:cNvSpPr>
          <p:nvPr>
            <p:ph idx="1"/>
          </p:nvPr>
        </p:nvSpPr>
        <p:spPr>
          <a:xfrm>
            <a:off x="306140" y="1908423"/>
            <a:ext cx="4896544" cy="4464496"/>
          </a:xfrm>
        </p:spPr>
        <p:txBody>
          <a:bodyPr/>
          <a:lstStyle/>
          <a:p>
            <a:r>
              <a:rPr lang="de-DE" dirty="0"/>
              <a:t>Übersichtlich</a:t>
            </a:r>
          </a:p>
          <a:p>
            <a:r>
              <a:rPr lang="de-DE" dirty="0"/>
              <a:t>Deckt die wichtigsten Themen ab</a:t>
            </a:r>
          </a:p>
          <a:p>
            <a:r>
              <a:rPr lang="de-DE" dirty="0"/>
              <a:t>Z.T. anschauliche Beispiele gewählt</a:t>
            </a:r>
          </a:p>
        </p:txBody>
      </p:sp>
      <p:sp>
        <p:nvSpPr>
          <p:cNvPr id="4" name="Textplatzhalter 3">
            <a:extLst>
              <a:ext uri="{FF2B5EF4-FFF2-40B4-BE49-F238E27FC236}">
                <a16:creationId xmlns:a16="http://schemas.microsoft.com/office/drawing/2014/main" id="{51D77A1D-041B-7247-BB8C-73A294DD74B4}"/>
              </a:ext>
            </a:extLst>
          </p:cNvPr>
          <p:cNvSpPr>
            <a:spLocks noGrp="1"/>
          </p:cNvSpPr>
          <p:nvPr>
            <p:ph type="body" idx="10"/>
          </p:nvPr>
        </p:nvSpPr>
        <p:spPr>
          <a:xfrm>
            <a:off x="5237892" y="1484759"/>
            <a:ext cx="4896544" cy="360040"/>
          </a:xfrm>
        </p:spPr>
        <p:txBody>
          <a:bodyPr/>
          <a:lstStyle/>
          <a:p>
            <a:r>
              <a:rPr lang="de-DE" dirty="0"/>
              <a:t>Was sollte verbessert werden?</a:t>
            </a:r>
          </a:p>
        </p:txBody>
      </p:sp>
      <p:sp>
        <p:nvSpPr>
          <p:cNvPr id="7" name="Inhaltsplatzhalter 2">
            <a:extLst>
              <a:ext uri="{FF2B5EF4-FFF2-40B4-BE49-F238E27FC236}">
                <a16:creationId xmlns:a16="http://schemas.microsoft.com/office/drawing/2014/main" id="{37E6A51D-1BEF-F84F-B05C-A1E8EBD77821}"/>
              </a:ext>
            </a:extLst>
          </p:cNvPr>
          <p:cNvSpPr txBox="1">
            <a:spLocks/>
          </p:cNvSpPr>
          <p:nvPr/>
        </p:nvSpPr>
        <p:spPr>
          <a:xfrm>
            <a:off x="5267400" y="1908423"/>
            <a:ext cx="4896544" cy="4464496"/>
          </a:xfrm>
          <a:prstGeom prst="rect">
            <a:avLst/>
          </a:prstGeom>
        </p:spPr>
        <p:txBody>
          <a:bodyPr lIns="104306" tIns="52153" rIns="104306" bIns="52153"/>
          <a:lstStyle>
            <a:lvl1pPr marL="180975" indent="-180975" algn="l" rtl="0" eaLnBrk="0" fontAlgn="base" hangingPunct="0">
              <a:spcBef>
                <a:spcPts val="1200"/>
              </a:spcBef>
              <a:spcAft>
                <a:spcPct val="0"/>
              </a:spcAft>
              <a:buChar char="•"/>
              <a:defRPr sz="1600">
                <a:solidFill>
                  <a:schemeClr val="tx1"/>
                </a:solidFill>
                <a:latin typeface="+mn-lt"/>
                <a:ea typeface="+mn-ea"/>
                <a:cs typeface="+mn-cs"/>
              </a:defRPr>
            </a:lvl1pPr>
            <a:lvl2pPr marL="452438" indent="-271463" algn="l" rtl="0" eaLnBrk="0" fontAlgn="base" hangingPunct="0">
              <a:spcBef>
                <a:spcPct val="20000"/>
              </a:spcBef>
              <a:spcAft>
                <a:spcPct val="0"/>
              </a:spcAft>
              <a:buChar char="–"/>
              <a:defRPr sz="1600">
                <a:solidFill>
                  <a:schemeClr val="tx1"/>
                </a:solidFill>
                <a:latin typeface="+mn-lt"/>
              </a:defRPr>
            </a:lvl2pPr>
            <a:lvl3pPr marL="1303338" indent="-260350" algn="l" rtl="0" eaLnBrk="0" fontAlgn="base" hangingPunct="0">
              <a:spcBef>
                <a:spcPct val="20000"/>
              </a:spcBef>
              <a:spcAft>
                <a:spcPct val="0"/>
              </a:spcAft>
              <a:buChar char="•"/>
              <a:defRPr sz="2700">
                <a:solidFill>
                  <a:schemeClr val="tx1"/>
                </a:solidFill>
                <a:latin typeface="+mn-lt"/>
              </a:defRPr>
            </a:lvl3pPr>
            <a:lvl4pPr marL="1824038" indent="-260350" algn="l" rtl="0" eaLnBrk="0" fontAlgn="base" hangingPunct="0">
              <a:spcBef>
                <a:spcPct val="20000"/>
              </a:spcBef>
              <a:spcAft>
                <a:spcPct val="0"/>
              </a:spcAft>
              <a:buChar char="–"/>
              <a:defRPr sz="2300">
                <a:solidFill>
                  <a:schemeClr val="tx1"/>
                </a:solidFill>
                <a:latin typeface="+mn-lt"/>
              </a:defRPr>
            </a:lvl4pPr>
            <a:lvl5pPr marL="2346325" indent="-260350" algn="l" rtl="0" eaLnBrk="0" fontAlgn="base" hangingPunct="0">
              <a:spcBef>
                <a:spcPct val="20000"/>
              </a:spcBef>
              <a:spcAft>
                <a:spcPct val="0"/>
              </a:spcAft>
              <a:buChar char="»"/>
              <a:defRPr sz="2300">
                <a:solidFill>
                  <a:schemeClr val="tx1"/>
                </a:solidFill>
                <a:latin typeface="+mn-lt"/>
              </a:defRPr>
            </a:lvl5pPr>
            <a:lvl6pPr marL="2868404" indent="-260764" algn="l" rtl="0" fontAlgn="base">
              <a:spcBef>
                <a:spcPct val="20000"/>
              </a:spcBef>
              <a:spcAft>
                <a:spcPct val="0"/>
              </a:spcAft>
              <a:buChar char="»"/>
              <a:defRPr sz="2300">
                <a:solidFill>
                  <a:schemeClr val="tx1"/>
                </a:solidFill>
                <a:latin typeface="+mn-lt"/>
              </a:defRPr>
            </a:lvl6pPr>
            <a:lvl7pPr marL="3389932" indent="-260764" algn="l" rtl="0" fontAlgn="base">
              <a:spcBef>
                <a:spcPct val="20000"/>
              </a:spcBef>
              <a:spcAft>
                <a:spcPct val="0"/>
              </a:spcAft>
              <a:buChar char="»"/>
              <a:defRPr sz="2300">
                <a:solidFill>
                  <a:schemeClr val="tx1"/>
                </a:solidFill>
                <a:latin typeface="+mn-lt"/>
              </a:defRPr>
            </a:lvl7pPr>
            <a:lvl8pPr marL="3911460" indent="-260764" algn="l" rtl="0" fontAlgn="base">
              <a:spcBef>
                <a:spcPct val="20000"/>
              </a:spcBef>
              <a:spcAft>
                <a:spcPct val="0"/>
              </a:spcAft>
              <a:buChar char="»"/>
              <a:defRPr sz="2300">
                <a:solidFill>
                  <a:schemeClr val="tx1"/>
                </a:solidFill>
                <a:latin typeface="+mn-lt"/>
              </a:defRPr>
            </a:lvl8pPr>
            <a:lvl9pPr marL="4432988" indent="-260764" algn="l" rtl="0" fontAlgn="base">
              <a:spcBef>
                <a:spcPct val="20000"/>
              </a:spcBef>
              <a:spcAft>
                <a:spcPct val="0"/>
              </a:spcAft>
              <a:buChar char="»"/>
              <a:defRPr sz="2300">
                <a:solidFill>
                  <a:schemeClr val="tx1"/>
                </a:solidFill>
                <a:latin typeface="+mn-lt"/>
              </a:defRPr>
            </a:lvl9pPr>
          </a:lstStyle>
          <a:p>
            <a:r>
              <a:rPr lang="de-DE" kern="0" dirty="0"/>
              <a:t>Gute Beispiele leider nicht mit Quellen belegt</a:t>
            </a:r>
          </a:p>
          <a:p>
            <a:r>
              <a:rPr lang="de-DE" kern="0" dirty="0"/>
              <a:t>Zu viele Informationen &gt; sollte es einen Fokus geben</a:t>
            </a:r>
          </a:p>
          <a:p>
            <a:r>
              <a:rPr lang="de-DE" kern="0" dirty="0" err="1"/>
              <a:t>Vlt</a:t>
            </a:r>
            <a:r>
              <a:rPr lang="de-DE" kern="0" dirty="0"/>
              <a:t> bessere Darstellung möglich</a:t>
            </a:r>
          </a:p>
          <a:p>
            <a:r>
              <a:rPr lang="de-DE" kern="0" dirty="0"/>
              <a:t>In Häppchen verteilen</a:t>
            </a:r>
          </a:p>
          <a:p>
            <a:r>
              <a:rPr lang="de-DE" kern="0" dirty="0"/>
              <a:t>Kürzen, auf das Wesentliche reduzieren</a:t>
            </a:r>
          </a:p>
          <a:p>
            <a:r>
              <a:rPr lang="de-DE" kern="0" dirty="0"/>
              <a:t>Vorlage für Studierenden</a:t>
            </a:r>
          </a:p>
          <a:p>
            <a:r>
              <a:rPr lang="de-DE" kern="0" dirty="0"/>
              <a:t>Konkrete Fragen bei einzelnen Teilen vorgeben &gt; Fragen wirken stimulierender und können besser auf spezifische Problemstellungen übertragen werden als „Vorgetragenes“</a:t>
            </a:r>
          </a:p>
          <a:p>
            <a:endParaRPr lang="de-DE" kern="0" dirty="0"/>
          </a:p>
          <a:p>
            <a:endParaRPr lang="de-DE" kern="0" dirty="0"/>
          </a:p>
        </p:txBody>
      </p:sp>
      <p:sp>
        <p:nvSpPr>
          <p:cNvPr id="8" name="Textplatzhalter 3">
            <a:extLst>
              <a:ext uri="{FF2B5EF4-FFF2-40B4-BE49-F238E27FC236}">
                <a16:creationId xmlns:a16="http://schemas.microsoft.com/office/drawing/2014/main" id="{01269F5E-4C78-4448-93DC-8F8CB3975761}"/>
              </a:ext>
            </a:extLst>
          </p:cNvPr>
          <p:cNvSpPr txBox="1">
            <a:spLocks/>
          </p:cNvSpPr>
          <p:nvPr/>
        </p:nvSpPr>
        <p:spPr>
          <a:xfrm>
            <a:off x="458540" y="1484759"/>
            <a:ext cx="4896544"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kern="0" dirty="0"/>
              <a:t>Was war gut</a:t>
            </a:r>
          </a:p>
        </p:txBody>
      </p:sp>
    </p:spTree>
    <p:extLst>
      <p:ext uri="{BB962C8B-B14F-4D97-AF65-F5344CB8AC3E}">
        <p14:creationId xmlns:p14="http://schemas.microsoft.com/office/powerpoint/2010/main" val="2254338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4BBAF0-B18E-584E-90A7-A4AA6702796F}"/>
              </a:ext>
            </a:extLst>
          </p:cNvPr>
          <p:cNvSpPr>
            <a:spLocks noGrp="1"/>
          </p:cNvSpPr>
          <p:nvPr>
            <p:ph type="title"/>
          </p:nvPr>
        </p:nvSpPr>
        <p:spPr/>
        <p:txBody>
          <a:bodyPr/>
          <a:lstStyle/>
          <a:p>
            <a:r>
              <a:rPr lang="de-DE" dirty="0"/>
              <a:t>Nächste Schritte</a:t>
            </a:r>
          </a:p>
        </p:txBody>
      </p:sp>
      <p:sp>
        <p:nvSpPr>
          <p:cNvPr id="3" name="Inhaltsplatzhalter 2">
            <a:extLst>
              <a:ext uri="{FF2B5EF4-FFF2-40B4-BE49-F238E27FC236}">
                <a16:creationId xmlns:a16="http://schemas.microsoft.com/office/drawing/2014/main" id="{27627485-B242-E147-A6E7-8DF180AAC41E}"/>
              </a:ext>
            </a:extLst>
          </p:cNvPr>
          <p:cNvSpPr>
            <a:spLocks noGrp="1"/>
          </p:cNvSpPr>
          <p:nvPr>
            <p:ph idx="1"/>
          </p:nvPr>
        </p:nvSpPr>
        <p:spPr>
          <a:xfrm>
            <a:off x="306140" y="1908423"/>
            <a:ext cx="4896544" cy="4464496"/>
          </a:xfrm>
        </p:spPr>
        <p:txBody>
          <a:bodyPr/>
          <a:lstStyle/>
          <a:p>
            <a:r>
              <a:rPr lang="de-DE" dirty="0"/>
              <a:t>Überarbeiten</a:t>
            </a:r>
          </a:p>
          <a:p>
            <a:r>
              <a:rPr lang="de-DE" dirty="0"/>
              <a:t>Anschaulichere Gestaltung</a:t>
            </a:r>
          </a:p>
          <a:p>
            <a:r>
              <a:rPr lang="de-DE" dirty="0"/>
              <a:t>Leitfragen angeben</a:t>
            </a:r>
          </a:p>
          <a:p>
            <a:r>
              <a:rPr lang="de-DE" dirty="0"/>
              <a:t>Strukturierung: </a:t>
            </a:r>
          </a:p>
          <a:p>
            <a:pPr lvl="1"/>
            <a:r>
              <a:rPr lang="de-DE" dirty="0"/>
              <a:t>In Häppchen unterteilen </a:t>
            </a:r>
          </a:p>
          <a:p>
            <a:pPr lvl="1"/>
            <a:r>
              <a:rPr lang="de-DE" dirty="0"/>
              <a:t>Kleine Übungen: Wie können die Studierenden üben? </a:t>
            </a:r>
          </a:p>
          <a:p>
            <a:pPr lvl="1"/>
            <a:r>
              <a:rPr lang="de-DE" dirty="0"/>
              <a:t>&gt;&gt; 15 min Input, dann 15 Minuten Umsetzung, 15 min Input , 15 min Umsetzung, Abschlussinput, dann wird Rest zuhause umgesetzt + kleine Hausaufgabe: erste Reflexion</a:t>
            </a:r>
          </a:p>
        </p:txBody>
      </p:sp>
      <p:sp>
        <p:nvSpPr>
          <p:cNvPr id="4" name="Textplatzhalter 3">
            <a:extLst>
              <a:ext uri="{FF2B5EF4-FFF2-40B4-BE49-F238E27FC236}">
                <a16:creationId xmlns:a16="http://schemas.microsoft.com/office/drawing/2014/main" id="{DB389A2E-0A43-7144-ADE6-B88E95A3ECCD}"/>
              </a:ext>
            </a:extLst>
          </p:cNvPr>
          <p:cNvSpPr>
            <a:spLocks noGrp="1"/>
          </p:cNvSpPr>
          <p:nvPr>
            <p:ph type="body" idx="10"/>
          </p:nvPr>
        </p:nvSpPr>
        <p:spPr>
          <a:xfrm>
            <a:off x="306140" y="1332359"/>
            <a:ext cx="4896544" cy="360040"/>
          </a:xfrm>
        </p:spPr>
        <p:txBody>
          <a:bodyPr/>
          <a:lstStyle/>
          <a:p>
            <a:r>
              <a:rPr lang="de-DE" dirty="0"/>
              <a:t>Anna</a:t>
            </a:r>
          </a:p>
        </p:txBody>
      </p:sp>
      <p:sp>
        <p:nvSpPr>
          <p:cNvPr id="5" name="Inhaltsplatzhalter 2">
            <a:extLst>
              <a:ext uri="{FF2B5EF4-FFF2-40B4-BE49-F238E27FC236}">
                <a16:creationId xmlns:a16="http://schemas.microsoft.com/office/drawing/2014/main" id="{A3AF4E47-E804-6046-83D8-B1699F3BB34A}"/>
              </a:ext>
            </a:extLst>
          </p:cNvPr>
          <p:cNvSpPr txBox="1">
            <a:spLocks/>
          </p:cNvSpPr>
          <p:nvPr/>
        </p:nvSpPr>
        <p:spPr>
          <a:xfrm>
            <a:off x="5281012" y="1908423"/>
            <a:ext cx="4896544" cy="4464496"/>
          </a:xfrm>
          <a:prstGeom prst="rect">
            <a:avLst/>
          </a:prstGeom>
        </p:spPr>
        <p:txBody>
          <a:bodyPr lIns="104306" tIns="52153" rIns="104306" bIns="52153"/>
          <a:lstStyle>
            <a:lvl1pPr marL="180975" indent="-180975" algn="l" rtl="0" eaLnBrk="0" fontAlgn="base" hangingPunct="0">
              <a:spcBef>
                <a:spcPts val="1200"/>
              </a:spcBef>
              <a:spcAft>
                <a:spcPct val="0"/>
              </a:spcAft>
              <a:buChar char="•"/>
              <a:defRPr sz="1600">
                <a:solidFill>
                  <a:schemeClr val="tx1"/>
                </a:solidFill>
                <a:latin typeface="+mn-lt"/>
                <a:ea typeface="+mn-ea"/>
                <a:cs typeface="+mn-cs"/>
              </a:defRPr>
            </a:lvl1pPr>
            <a:lvl2pPr marL="452438" indent="-271463" algn="l" rtl="0" eaLnBrk="0" fontAlgn="base" hangingPunct="0">
              <a:spcBef>
                <a:spcPct val="20000"/>
              </a:spcBef>
              <a:spcAft>
                <a:spcPct val="0"/>
              </a:spcAft>
              <a:buChar char="–"/>
              <a:defRPr sz="1600">
                <a:solidFill>
                  <a:schemeClr val="tx1"/>
                </a:solidFill>
                <a:latin typeface="+mn-lt"/>
              </a:defRPr>
            </a:lvl2pPr>
            <a:lvl3pPr marL="1303338" indent="-260350" algn="l" rtl="0" eaLnBrk="0" fontAlgn="base" hangingPunct="0">
              <a:spcBef>
                <a:spcPct val="20000"/>
              </a:spcBef>
              <a:spcAft>
                <a:spcPct val="0"/>
              </a:spcAft>
              <a:buChar char="•"/>
              <a:defRPr sz="2700">
                <a:solidFill>
                  <a:schemeClr val="tx1"/>
                </a:solidFill>
                <a:latin typeface="+mn-lt"/>
              </a:defRPr>
            </a:lvl3pPr>
            <a:lvl4pPr marL="1824038" indent="-260350" algn="l" rtl="0" eaLnBrk="0" fontAlgn="base" hangingPunct="0">
              <a:spcBef>
                <a:spcPct val="20000"/>
              </a:spcBef>
              <a:spcAft>
                <a:spcPct val="0"/>
              </a:spcAft>
              <a:buChar char="–"/>
              <a:defRPr sz="2300">
                <a:solidFill>
                  <a:schemeClr val="tx1"/>
                </a:solidFill>
                <a:latin typeface="+mn-lt"/>
              </a:defRPr>
            </a:lvl4pPr>
            <a:lvl5pPr marL="2346325" indent="-260350" algn="l" rtl="0" eaLnBrk="0" fontAlgn="base" hangingPunct="0">
              <a:spcBef>
                <a:spcPct val="20000"/>
              </a:spcBef>
              <a:spcAft>
                <a:spcPct val="0"/>
              </a:spcAft>
              <a:buChar char="»"/>
              <a:defRPr sz="2300">
                <a:solidFill>
                  <a:schemeClr val="tx1"/>
                </a:solidFill>
                <a:latin typeface="+mn-lt"/>
              </a:defRPr>
            </a:lvl5pPr>
            <a:lvl6pPr marL="2868404" indent="-260764" algn="l" rtl="0" fontAlgn="base">
              <a:spcBef>
                <a:spcPct val="20000"/>
              </a:spcBef>
              <a:spcAft>
                <a:spcPct val="0"/>
              </a:spcAft>
              <a:buChar char="»"/>
              <a:defRPr sz="2300">
                <a:solidFill>
                  <a:schemeClr val="tx1"/>
                </a:solidFill>
                <a:latin typeface="+mn-lt"/>
              </a:defRPr>
            </a:lvl6pPr>
            <a:lvl7pPr marL="3389932" indent="-260764" algn="l" rtl="0" fontAlgn="base">
              <a:spcBef>
                <a:spcPct val="20000"/>
              </a:spcBef>
              <a:spcAft>
                <a:spcPct val="0"/>
              </a:spcAft>
              <a:buChar char="»"/>
              <a:defRPr sz="2300">
                <a:solidFill>
                  <a:schemeClr val="tx1"/>
                </a:solidFill>
                <a:latin typeface="+mn-lt"/>
              </a:defRPr>
            </a:lvl7pPr>
            <a:lvl8pPr marL="3911460" indent="-260764" algn="l" rtl="0" fontAlgn="base">
              <a:spcBef>
                <a:spcPct val="20000"/>
              </a:spcBef>
              <a:spcAft>
                <a:spcPct val="0"/>
              </a:spcAft>
              <a:buChar char="»"/>
              <a:defRPr sz="2300">
                <a:solidFill>
                  <a:schemeClr val="tx1"/>
                </a:solidFill>
                <a:latin typeface="+mn-lt"/>
              </a:defRPr>
            </a:lvl8pPr>
            <a:lvl9pPr marL="4432988" indent="-260764" algn="l" rtl="0" fontAlgn="base">
              <a:spcBef>
                <a:spcPct val="20000"/>
              </a:spcBef>
              <a:spcAft>
                <a:spcPct val="0"/>
              </a:spcAft>
              <a:buChar char="»"/>
              <a:defRPr sz="2300">
                <a:solidFill>
                  <a:schemeClr val="tx1"/>
                </a:solidFill>
                <a:latin typeface="+mn-lt"/>
              </a:defRPr>
            </a:lvl9pPr>
          </a:lstStyle>
          <a:p>
            <a:r>
              <a:rPr lang="de-DE" kern="0" dirty="0"/>
              <a:t>Beispiele/Quellen raussuchen</a:t>
            </a:r>
          </a:p>
          <a:p>
            <a:r>
              <a:rPr lang="de-DE" kern="0" dirty="0"/>
              <a:t>Vorgaben von Manfred/Klaus einbetten/ kritisch überprüfen/aktualisieren</a:t>
            </a:r>
          </a:p>
          <a:p>
            <a:r>
              <a:rPr lang="de-DE" kern="0" dirty="0" err="1"/>
              <a:t>Anna‘s</a:t>
            </a:r>
            <a:r>
              <a:rPr lang="de-DE" kern="0" dirty="0"/>
              <a:t> Arbeit überprüfen</a:t>
            </a:r>
          </a:p>
          <a:p>
            <a:r>
              <a:rPr lang="de-DE" kern="0" dirty="0"/>
              <a:t>Angebote von Unis zusammenstellen</a:t>
            </a:r>
          </a:p>
          <a:p>
            <a:r>
              <a:rPr lang="de-DE" kern="0" dirty="0"/>
              <a:t>Zitat-quellen: Internet</a:t>
            </a:r>
          </a:p>
          <a:p>
            <a:r>
              <a:rPr lang="de-DE" dirty="0"/>
              <a:t>+ Recherchetools erwähnen (</a:t>
            </a:r>
            <a:r>
              <a:rPr lang="de-DE" dirty="0" err="1"/>
              <a:t>Citavi</a:t>
            </a:r>
            <a:r>
              <a:rPr lang="de-DE" dirty="0"/>
              <a:t>)</a:t>
            </a:r>
          </a:p>
          <a:p>
            <a:endParaRPr lang="de-DE" kern="0" dirty="0"/>
          </a:p>
          <a:p>
            <a:endParaRPr lang="de-DE" kern="0" dirty="0"/>
          </a:p>
          <a:p>
            <a:endParaRPr lang="de-DE" kern="0" dirty="0"/>
          </a:p>
        </p:txBody>
      </p:sp>
      <p:sp>
        <p:nvSpPr>
          <p:cNvPr id="6" name="Textplatzhalter 3">
            <a:extLst>
              <a:ext uri="{FF2B5EF4-FFF2-40B4-BE49-F238E27FC236}">
                <a16:creationId xmlns:a16="http://schemas.microsoft.com/office/drawing/2014/main" id="{EE17F6B8-999F-8D4D-B674-921B703BEC50}"/>
              </a:ext>
            </a:extLst>
          </p:cNvPr>
          <p:cNvSpPr txBox="1">
            <a:spLocks/>
          </p:cNvSpPr>
          <p:nvPr/>
        </p:nvSpPr>
        <p:spPr>
          <a:xfrm>
            <a:off x="5285854" y="1332359"/>
            <a:ext cx="4896544" cy="360040"/>
          </a:xfrm>
          <a:prstGeom prst="rect">
            <a:avLst/>
          </a:prstGeom>
        </p:spPr>
        <p:txBody>
          <a:bodyPr lIns="104306" tIns="52153" rIns="104306" bIns="52153" anchor="ctr" anchorCtr="0"/>
          <a:lstStyle>
            <a:lvl1pPr marL="0" indent="0" algn="l" rtl="0" eaLnBrk="0" fontAlgn="base" hangingPunct="0">
              <a:spcBef>
                <a:spcPct val="20000"/>
              </a:spcBef>
              <a:spcAft>
                <a:spcPct val="0"/>
              </a:spcAft>
              <a:buNone/>
              <a:defRPr sz="2000" baseline="0">
                <a:solidFill>
                  <a:schemeClr val="tx1"/>
                </a:solidFill>
                <a:latin typeface="+mn-lt"/>
                <a:ea typeface="+mn-ea"/>
                <a:cs typeface="+mn-cs"/>
              </a:defRPr>
            </a:lvl1pPr>
            <a:lvl2pPr marL="521528" indent="0" algn="l" rtl="0" eaLnBrk="0" fontAlgn="base" hangingPunct="0">
              <a:spcBef>
                <a:spcPct val="20000"/>
              </a:spcBef>
              <a:spcAft>
                <a:spcPct val="0"/>
              </a:spcAft>
              <a:buNone/>
              <a:defRPr sz="2100">
                <a:solidFill>
                  <a:schemeClr val="tx1"/>
                </a:solidFill>
                <a:latin typeface="+mn-lt"/>
              </a:defRPr>
            </a:lvl2pPr>
            <a:lvl3pPr marL="1043056" indent="0" algn="l" rtl="0" eaLnBrk="0" fontAlgn="base" hangingPunct="0">
              <a:spcBef>
                <a:spcPct val="20000"/>
              </a:spcBef>
              <a:spcAft>
                <a:spcPct val="0"/>
              </a:spcAft>
              <a:buNone/>
              <a:defRPr sz="1800">
                <a:solidFill>
                  <a:schemeClr val="tx1"/>
                </a:solidFill>
                <a:latin typeface="+mn-lt"/>
              </a:defRPr>
            </a:lvl3pPr>
            <a:lvl4pPr marL="1564584" indent="0" algn="l" rtl="0" eaLnBrk="0" fontAlgn="base" hangingPunct="0">
              <a:spcBef>
                <a:spcPct val="20000"/>
              </a:spcBef>
              <a:spcAft>
                <a:spcPct val="0"/>
              </a:spcAft>
              <a:buNone/>
              <a:defRPr sz="1600">
                <a:solidFill>
                  <a:schemeClr val="tx1"/>
                </a:solidFill>
                <a:latin typeface="+mn-lt"/>
              </a:defRPr>
            </a:lvl4pPr>
            <a:lvl5pPr marL="2086112" indent="0" algn="l" rtl="0" eaLnBrk="0" fontAlgn="base" hangingPunct="0">
              <a:spcBef>
                <a:spcPct val="20000"/>
              </a:spcBef>
              <a:spcAft>
                <a:spcPct val="0"/>
              </a:spcAft>
              <a:buNone/>
              <a:defRPr sz="1600">
                <a:solidFill>
                  <a:schemeClr val="tx1"/>
                </a:solidFill>
                <a:latin typeface="+mn-lt"/>
              </a:defRPr>
            </a:lvl5pPr>
            <a:lvl6pPr marL="2607640" indent="0" algn="l" rtl="0" fontAlgn="base">
              <a:spcBef>
                <a:spcPct val="20000"/>
              </a:spcBef>
              <a:spcAft>
                <a:spcPct val="0"/>
              </a:spcAft>
              <a:buNone/>
              <a:defRPr sz="1600">
                <a:solidFill>
                  <a:schemeClr val="tx1"/>
                </a:solidFill>
                <a:latin typeface="+mn-lt"/>
              </a:defRPr>
            </a:lvl6pPr>
            <a:lvl7pPr marL="3129168" indent="0" algn="l" rtl="0" fontAlgn="base">
              <a:spcBef>
                <a:spcPct val="20000"/>
              </a:spcBef>
              <a:spcAft>
                <a:spcPct val="0"/>
              </a:spcAft>
              <a:buNone/>
              <a:defRPr sz="1600">
                <a:solidFill>
                  <a:schemeClr val="tx1"/>
                </a:solidFill>
                <a:latin typeface="+mn-lt"/>
              </a:defRPr>
            </a:lvl7pPr>
            <a:lvl8pPr marL="3650696" indent="0" algn="l" rtl="0" fontAlgn="base">
              <a:spcBef>
                <a:spcPct val="20000"/>
              </a:spcBef>
              <a:spcAft>
                <a:spcPct val="0"/>
              </a:spcAft>
              <a:buNone/>
              <a:defRPr sz="1600">
                <a:solidFill>
                  <a:schemeClr val="tx1"/>
                </a:solidFill>
                <a:latin typeface="+mn-lt"/>
              </a:defRPr>
            </a:lvl8pPr>
            <a:lvl9pPr marL="4172224" indent="0" algn="l" rtl="0" fontAlgn="base">
              <a:spcBef>
                <a:spcPct val="20000"/>
              </a:spcBef>
              <a:spcAft>
                <a:spcPct val="0"/>
              </a:spcAft>
              <a:buNone/>
              <a:defRPr sz="1600">
                <a:solidFill>
                  <a:schemeClr val="tx1"/>
                </a:solidFill>
                <a:latin typeface="+mn-lt"/>
              </a:defRPr>
            </a:lvl9pPr>
          </a:lstStyle>
          <a:p>
            <a:r>
              <a:rPr lang="de-DE" kern="0" dirty="0"/>
              <a:t>Cosima</a:t>
            </a:r>
          </a:p>
        </p:txBody>
      </p:sp>
    </p:spTree>
    <p:extLst>
      <p:ext uri="{BB962C8B-B14F-4D97-AF65-F5344CB8AC3E}">
        <p14:creationId xmlns:p14="http://schemas.microsoft.com/office/powerpoint/2010/main" val="3636958006"/>
      </p:ext>
    </p:extLst>
  </p:cSld>
  <p:clrMapOvr>
    <a:masterClrMapping/>
  </p:clrMapOvr>
</p:sld>
</file>

<file path=ppt/theme/theme1.xml><?xml version="1.0" encoding="utf-8"?>
<a:theme xmlns:a="http://schemas.openxmlformats.org/drawingml/2006/main" name="1_Benutzerdefiniertes Design">
  <a:themeElements>
    <a:clrScheme name="1_Benutzerdefiniertes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enutzerdefiniertes 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bg1">
            <a:lumMod val="95000"/>
          </a:schemeClr>
        </a:solidFill>
      </a:spPr>
      <a:bodyPr lIns="104306" tIns="52153" rIns="104306" bIns="52153">
        <a:spAutoFit/>
      </a:bodyPr>
      <a:lstStyle>
        <a:defPPr>
          <a:defRPr sz="2400" dirty="0">
            <a:latin typeface="+mn-lt"/>
          </a:defRPr>
        </a:defPPr>
      </a:lstStyle>
    </a:txDef>
  </a:objectDefaults>
  <a:extraClrSchemeLst>
    <a:extraClrScheme>
      <a:clrScheme name="1_Benutzerdefiniertes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enutzerdefiniertes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enutzerdefiniertes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enutzerdefiniertes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enutzerdefiniertes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enutzerdefiniertes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enutzerdefiniertes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enutzerdefiniertes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enutzerdefiniertes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enutzerdefiniertes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enutzerdefiniertes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enutzerdefiniertes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enutzerdefiniertes Design">
  <a:themeElements>
    <a:clrScheme name="Benutzerdefiniert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48DD4"/>
      </a:hlink>
      <a:folHlink>
        <a:srgbClr val="C000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3663</Words>
  <Application>Microsoft Macintosh PowerPoint</Application>
  <PresentationFormat>Benutzerdefiniert</PresentationFormat>
  <Paragraphs>423</Paragraphs>
  <Slides>40</Slides>
  <Notes>0</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40</vt:i4>
      </vt:variant>
    </vt:vector>
  </HeadingPairs>
  <TitlesOfParts>
    <vt:vector size="48" baseType="lpstr">
      <vt:lpstr>Arial</vt:lpstr>
      <vt:lpstr>Avenir Book</vt:lpstr>
      <vt:lpstr>Calibri</vt:lpstr>
      <vt:lpstr>Times</vt:lpstr>
      <vt:lpstr>Times New Roman</vt:lpstr>
      <vt:lpstr>Wingdings</vt:lpstr>
      <vt:lpstr>1_Benutzerdefiniertes Design</vt:lpstr>
      <vt:lpstr>Benutzerdefiniertes 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Kommentar: Anna</vt:lpstr>
      <vt:lpstr>Nächste Schritte</vt:lpstr>
    </vt:vector>
  </TitlesOfParts>
  <Company>HS Karlsruhe, Hochschule für Technik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Joerg Berberich</dc:creator>
  <cp:lastModifiedBy>Anna Krez</cp:lastModifiedBy>
  <cp:revision>1127</cp:revision>
  <cp:lastPrinted>2014-10-07T09:12:57Z</cp:lastPrinted>
  <dcterms:created xsi:type="dcterms:W3CDTF">2001-10-18T07:53:19Z</dcterms:created>
  <dcterms:modified xsi:type="dcterms:W3CDTF">2021-02-11T10:33:34Z</dcterms:modified>
</cp:coreProperties>
</file>