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media/image1.png" ContentType="image/png"/>
  <Override PartName="/ppt/media/image2.wmf" ContentType="image/x-wmf"/>
  <Override PartName="/ppt/media/image3.png" ContentType="image/png"/>
  <Override PartName="/ppt/media/image4.wmf" ContentType="image/x-wmf"/>
  <Override PartName="/ppt/media/image5.tif" ContentType="image/tiff"/>
  <Override PartName="/ppt/media/image6.png" ContentType="image/png"/>
  <Override PartName="/ppt/media/image14.png" ContentType="image/png"/>
  <Override PartName="/ppt/media/image7.svg" ContentType="image/svg"/>
  <Override PartName="/ppt/media/image8.png" ContentType="image/png"/>
  <Override PartName="/ppt/media/image9.svg" ContentType="image/svg"/>
  <Override PartName="/ppt/media/image16.png" ContentType="image/png"/>
  <Override PartName="/ppt/media/image10.png" ContentType="image/png"/>
  <Override PartName="/ppt/media/image11.svg" ContentType="image/svg"/>
  <Override PartName="/ppt/media/image12.png" ContentType="image/png"/>
  <Override PartName="/ppt/media/image13.svg" ContentType="image/svg"/>
  <Override PartName="/ppt/media/image21.png" ContentType="image/png"/>
  <Override PartName="/ppt/media/image15.svg" ContentType="image/svg"/>
  <Override PartName="/ppt/media/image23.png" ContentType="image/png"/>
  <Override PartName="/ppt/media/image17.svg" ContentType="image/svg"/>
  <Override PartName="/ppt/media/image25.png" ContentType="image/png"/>
  <Override PartName="/ppt/media/image18.png" ContentType="image/png"/>
  <Override PartName="/ppt/media/image19.svg" ContentType="image/svg"/>
  <Override PartName="/ppt/media/image27.png" ContentType="image/png"/>
  <Override PartName="/ppt/media/image20.png" ContentType="image/png"/>
  <Override PartName="/ppt/media/image22.svg" ContentType="image/svg"/>
  <Override PartName="/ppt/media/image30.png" ContentType="image/png"/>
  <Override PartName="/ppt/media/image24.svg" ContentType="image/svg"/>
  <Override PartName="/ppt/media/image26.svg" ContentType="image/svg"/>
  <Override PartName="/ppt/media/image28.png" ContentType="image/png"/>
  <Override PartName="/ppt/media/image29.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comments/comment13.xml" ContentType="application/vnd.openxmlformats-officedocument.presentationml.comments+xml"/>
  <Override PartName="/ppt/comments/comment19.xml" ContentType="application/vnd.openxmlformats-officedocument.presentationml.comments+xml"/>
  <Override PartName="/ppt/comments/comment20.xml" ContentType="application/vnd.openxmlformats-officedocument.presentationml.comments+xml"/>
  <Override PartName="/ppt/commentAuthors.xml" ContentType="application/vnd.openxmlformats-officedocument.presentationml.commentAuthors+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10693400" cy="7561263"/>
  <p:notesSz cx="7559675" cy="10691813"/>
</p:presentation>
</file>

<file path=ppt/commentAuthors.xml><?xml version="1.0" encoding="utf-8"?>
<p:cmAuthorLst xmlns:p="http://schemas.openxmlformats.org/presentationml/2006/main">
  <p:cmAuthor id="0" name="Anna Krez" initials="AK"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presProps" Target="presProps.xml"/><Relationship Id="rId45" Type="http://schemas.openxmlformats.org/officeDocument/2006/relationships/commentAuthors" Target="commentAuthors.xml"/>
</Relationships>
</file>

<file path=ppt/comments/comment13.xml><?xml version="1.0" encoding="utf-8"?>
<p:cmLst xmlns:p="http://schemas.openxmlformats.org/presentationml/2006/main">
  <p:cm authorId="0" dt="2021-02-10T08:50:03.733000000" idx="1">
    <p:pos x="6118" y="2519"/>
    <p:text>Cosima, ab hier bis du dran;)</p:text>
  </p:cm>
</p:cmLst>
</file>

<file path=ppt/comments/comment19.xml><?xml version="1.0" encoding="utf-8"?>
<p:cmLst xmlns:p="http://schemas.openxmlformats.org/presentationml/2006/main">
  <p:cm authorId="0" dt="2021-02-10T10:44:05.211000000" idx="2">
    <p:pos x="5398" y="1799"/>
    <p:text>Wann wird es kurz angegeben? Wann lang?</p:text>
  </p:cm>
</p:cmLst>
</file>

<file path=ppt/comments/comment20.xml><?xml version="1.0" encoding="utf-8"?>
<p:cmLst xmlns:p="http://schemas.openxmlformats.org/presentationml/2006/main">
  <p:cm authorId="0" dt="2021-02-10T09:52:41.446000000" idx="3">
    <p:pos x="5758" y="2879"/>
    <p:text>Das sind drei unterschiedliche Beispiel. Ich finde es verwirrend.</p:text>
  </p:cm>
</p:cmLst>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wmf"/><Relationship Id="rId3" Type="http://schemas.openxmlformats.org/officeDocument/2006/relationships/image" Target="../media/image3.png"/><Relationship Id="rId4" Type="http://schemas.openxmlformats.org/officeDocument/2006/relationships/image" Target="../media/image4.wmf"/>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wmf"/><Relationship Id="rId3" Type="http://schemas.openxmlformats.org/officeDocument/2006/relationships/image" Target="../media/image3.png"/><Relationship Id="rId4" Type="http://schemas.openxmlformats.org/officeDocument/2006/relationships/image" Target="../media/image4.wmf"/>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bg>
      <p:bgPr>
        <a:solidFill>
          <a:srgbClr val="ffffff"/>
        </a:solidFill>
      </p:bgPr>
    </p:bg>
    <p:spTree>
      <p:nvGrpSpPr>
        <p:cNvPr id="1" name=""/>
        <p:cNvGrpSpPr/>
        <p:nvPr/>
      </p:nvGrpSpPr>
      <p:grpSpPr>
        <a:xfrm>
          <a:off x="0" y="0"/>
          <a:ext cx="0" cy="0"/>
          <a:chOff x="0" y="0"/>
          <a:chExt cx="0" cy="0"/>
        </a:xfrm>
      </p:grpSpPr>
      <p:pic>
        <p:nvPicPr>
          <p:cNvPr id="7" name="Picture 9" descr="RGB-Skala-A4-Quer"/>
          <p:cNvPicPr/>
          <p:nvPr/>
        </p:nvPicPr>
        <p:blipFill>
          <a:blip r:embed="rId2"/>
          <a:stretch/>
        </p:blipFill>
        <p:spPr>
          <a:xfrm>
            <a:off x="-54000" y="0"/>
            <a:ext cx="968040" cy="7562520"/>
          </a:xfrm>
          <a:prstGeom prst="rect">
            <a:avLst/>
          </a:prstGeom>
          <a:noFill/>
          <a:ln w="0">
            <a:noFill/>
          </a:ln>
        </p:spPr>
      </p:pic>
      <p:pic>
        <p:nvPicPr>
          <p:cNvPr id="8" name="Grafik 7" descr=""/>
          <p:cNvPicPr/>
          <p:nvPr/>
        </p:nvPicPr>
        <p:blipFill>
          <a:blip r:embed="rId3"/>
          <a:stretch/>
        </p:blipFill>
        <p:spPr>
          <a:xfrm>
            <a:off x="1025640" y="568440"/>
            <a:ext cx="3042720" cy="1052280"/>
          </a:xfrm>
          <a:prstGeom prst="rect">
            <a:avLst/>
          </a:prstGeom>
          <a:noFill/>
          <a:ln w="0">
            <a:noFill/>
          </a:ln>
        </p:spPr>
      </p:pic>
      <p:pic>
        <p:nvPicPr>
          <p:cNvPr id="9" name="Grafik 1" descr=""/>
          <p:cNvPicPr/>
          <p:nvPr/>
        </p:nvPicPr>
        <p:blipFill>
          <a:blip r:embed="rId4"/>
          <a:stretch/>
        </p:blipFill>
        <p:spPr>
          <a:xfrm>
            <a:off x="7002720" y="667440"/>
            <a:ext cx="3024000" cy="375840"/>
          </a:xfrm>
          <a:prstGeom prst="rect">
            <a:avLst/>
          </a:prstGeom>
          <a:noFill/>
          <a:ln w="0">
            <a:noFill/>
          </a:ln>
        </p:spPr>
      </p:pic>
      <p:sp>
        <p:nvSpPr>
          <p:cNvPr id="10" name="Untertitel 2"/>
          <p:cNvSpPr/>
          <p:nvPr/>
        </p:nvSpPr>
        <p:spPr>
          <a:xfrm>
            <a:off x="1031400" y="5436720"/>
            <a:ext cx="8640720" cy="719640"/>
          </a:xfrm>
          <a:prstGeom prst="rect">
            <a:avLst/>
          </a:prstGeom>
          <a:noFill/>
          <a:ln w="0">
            <a:noFill/>
          </a:ln>
        </p:spPr>
        <p:style>
          <a:lnRef idx="0"/>
          <a:fillRef idx="0"/>
          <a:effectRef idx="0"/>
          <a:fontRef idx="minor"/>
        </p:style>
        <p:txBody>
          <a:bodyPr lIns="90000" rIns="90000" tIns="45000" bIns="45000" anchor="ctr">
            <a:noAutofit/>
          </a:bodyPr>
          <a:p>
            <a:pPr marL="181080" algn="ctr">
              <a:lnSpc>
                <a:spcPct val="100000"/>
              </a:lnSpc>
              <a:spcBef>
                <a:spcPts val="479"/>
              </a:spcBef>
              <a:tabLst>
                <a:tab algn="l" pos="0"/>
              </a:tabLst>
            </a:pPr>
            <a:endParaRPr b="0" lang="de-DE" sz="2400" strike="noStrike" u="none">
              <a:solidFill>
                <a:srgbClr val="000000"/>
              </a:solidFill>
              <a:effectLst/>
              <a:uFillTx/>
              <a:latin typeface="Arial"/>
            </a:endParaRPr>
          </a:p>
          <a:p>
            <a:pPr marL="181080" algn="ctr">
              <a:lnSpc>
                <a:spcPct val="100000"/>
              </a:lnSpc>
              <a:spcBef>
                <a:spcPts val="561"/>
              </a:spcBef>
              <a:tabLst>
                <a:tab algn="l" pos="0"/>
              </a:tabLst>
            </a:pPr>
            <a:br>
              <a:rPr sz="2800"/>
            </a:br>
            <a:endParaRPr b="0" lang="de-DE" sz="2800" strike="noStrike" u="none">
              <a:solidFill>
                <a:srgbClr val="000000"/>
              </a:solidFill>
              <a:effectLst/>
              <a:uFillTx/>
              <a:latin typeface="Arial"/>
            </a:endParaRPr>
          </a:p>
          <a:p>
            <a:pPr marL="181080" algn="ctr">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281"/>
              </a:spcBef>
              <a:tabLst>
                <a:tab algn="l" pos="0"/>
              </a:tabLst>
            </a:pPr>
            <a:r>
              <a:rPr b="0" lang="de-DE" sz="1400" strike="noStrike" u="none">
                <a:solidFill>
                  <a:schemeClr val="dk1"/>
                </a:solidFill>
                <a:effectLst/>
                <a:uFillTx/>
                <a:latin typeface="Avenir Book"/>
              </a:rPr>
              <a:t>Dipl.-Ing. Cosima Klischat &amp; Anna Krez, M.A. (&amp; Dr. Jörg Berberich)</a:t>
            </a:r>
            <a:br>
              <a:rPr sz="1000"/>
            </a:br>
            <a:endParaRPr b="0" lang="de-DE" sz="1400" strike="noStrike" u="none">
              <a:solidFill>
                <a:srgbClr val="000000"/>
              </a:solidFill>
              <a:effectLst/>
              <a:uFillTx/>
              <a:latin typeface="Arial"/>
            </a:endParaRPr>
          </a:p>
          <a:p>
            <a:pPr marL="181080" algn="ctr" defTabSz="914400">
              <a:lnSpc>
                <a:spcPct val="100000"/>
              </a:lnSpc>
              <a:spcBef>
                <a:spcPts val="201"/>
              </a:spcBef>
              <a:tabLst>
                <a:tab algn="l" pos="0"/>
              </a:tabLst>
            </a:pPr>
            <a:endParaRPr b="0" lang="de-DE" sz="1000" strike="noStrike" u="none">
              <a:solidFill>
                <a:srgbClr val="000000"/>
              </a:solidFill>
              <a:effectLst/>
              <a:uFillTx/>
              <a:latin typeface="Arial"/>
            </a:endParaRPr>
          </a:p>
          <a:p>
            <a:pPr marL="181080" algn="ctr" defTabSz="914400">
              <a:lnSpc>
                <a:spcPct val="100000"/>
              </a:lnSpc>
              <a:spcBef>
                <a:spcPts val="201"/>
              </a:spcBef>
              <a:tabLst>
                <a:tab algn="l" pos="0"/>
              </a:tabLst>
            </a:pPr>
            <a:r>
              <a:rPr b="0" lang="de-DE" sz="1000" strike="noStrike" u="none">
                <a:solidFill>
                  <a:schemeClr val="dk1"/>
                </a:solidFill>
                <a:effectLst/>
                <a:uFillTx/>
                <a:latin typeface="Avenir Book"/>
              </a:rPr>
              <a:t>Teile der Präsentation basieren auf dem Buch „Technische Berichte – Verständlich gliedern, gut gestalten, überzeugend vortragen“ </a:t>
            </a:r>
            <a:br>
              <a:rPr sz="1000"/>
            </a:br>
            <a:r>
              <a:rPr b="0" lang="de-DE" sz="1000" strike="noStrike" u="none">
                <a:solidFill>
                  <a:schemeClr val="dk1"/>
                </a:solidFill>
                <a:effectLst/>
                <a:uFillTx/>
                <a:latin typeface="Avenir Book"/>
              </a:rPr>
              <a:t>von Heike und Lutz Hering (2015) und dient als Schulungsunterlage zur Verwendung innerhalb der Hochschule Karlsruhe. </a:t>
            </a:r>
            <a:endParaRPr b="0" lang="de-DE" sz="1000" strike="noStrike" u="none">
              <a:solidFill>
                <a:srgbClr val="000000"/>
              </a:solidFill>
              <a:effectLst/>
              <a:uFillTx/>
              <a:latin typeface="Arial"/>
            </a:endParaRPr>
          </a:p>
          <a:p>
            <a:pPr marL="181080" algn="ctr" defTabSz="914400">
              <a:lnSpc>
                <a:spcPct val="100000"/>
              </a:lnSpc>
              <a:spcBef>
                <a:spcPts val="201"/>
              </a:spcBef>
              <a:tabLst>
                <a:tab algn="l" pos="0"/>
              </a:tabLst>
            </a:pPr>
            <a:r>
              <a:rPr b="0" lang="de-DE" sz="1000" strike="noStrike" u="none">
                <a:solidFill>
                  <a:schemeClr val="dk1"/>
                </a:solidFill>
                <a:effectLst/>
                <a:uFillTx/>
                <a:latin typeface="Avenir Book"/>
              </a:rPr>
              <a:t>Inhalte wurden sowohl wörtlich als auch sinngemäß übernommen. Eine Vervielfältigung ist nicht gestattet.</a:t>
            </a:r>
            <a:endParaRPr b="0" lang="de-DE" sz="1000" strike="noStrike" u="none">
              <a:solidFill>
                <a:srgbClr val="000000"/>
              </a:solidFill>
              <a:effectLst/>
              <a:uFillTx/>
              <a:latin typeface="Arial"/>
            </a:endParaRPr>
          </a:p>
          <a:p>
            <a:pPr marL="181080" algn="ctr" defTabSz="914400">
              <a:lnSpc>
                <a:spcPct val="100000"/>
              </a:lnSpc>
              <a:spcBef>
                <a:spcPts val="241"/>
              </a:spcBef>
              <a:tabLst>
                <a:tab algn="l" pos="0"/>
              </a:tabLst>
            </a:pPr>
            <a:endParaRPr b="0" lang="de-DE" sz="1200" strike="noStrike" u="none">
              <a:solidFill>
                <a:srgbClr val="000000"/>
              </a:solidFill>
              <a:effectLst/>
              <a:uFillTx/>
              <a:latin typeface="Arial"/>
            </a:endParaRPr>
          </a:p>
          <a:p>
            <a:pPr marL="181080" algn="ctr" defTabSz="914400">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479"/>
              </a:spcBef>
              <a:tabLst>
                <a:tab algn="l" pos="0"/>
              </a:tabLst>
            </a:pPr>
            <a:endParaRPr b="0" lang="de-DE" sz="2400" strike="noStrike" u="none">
              <a:solidFill>
                <a:srgbClr val="000000"/>
              </a:solidFill>
              <a:effectLst/>
              <a:uFillTx/>
              <a:latin typeface="Arial"/>
            </a:endParaRPr>
          </a:p>
        </p:txBody>
      </p:sp>
      <p:sp>
        <p:nvSpPr>
          <p:cNvPr id="11" name="Textfeld 2"/>
          <p:cNvSpPr/>
          <p:nvPr/>
        </p:nvSpPr>
        <p:spPr>
          <a:xfrm>
            <a:off x="1782360" y="2628360"/>
            <a:ext cx="7128360" cy="1569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de-DE" sz="4800" strike="noStrike" u="none">
                <a:solidFill>
                  <a:schemeClr val="dk1"/>
                </a:solidFill>
                <a:effectLst/>
                <a:uFillTx/>
                <a:latin typeface="Avenir Book"/>
              </a:rPr>
              <a:t>Schreibwerkstatt</a:t>
            </a:r>
            <a:endParaRPr b="0" lang="de-DE" sz="4800" strike="noStrike" u="none">
              <a:solidFill>
                <a:srgbClr val="000000"/>
              </a:solidFill>
              <a:effectLst/>
              <a:uFillTx/>
              <a:latin typeface="Arial"/>
            </a:endParaRPr>
          </a:p>
          <a:p>
            <a:pPr algn="ctr">
              <a:lnSpc>
                <a:spcPct val="100000"/>
              </a:lnSpc>
            </a:pPr>
            <a:endParaRPr b="0" lang="de-DE" sz="2400" strike="noStrike" u="none">
              <a:solidFill>
                <a:srgbClr val="000000"/>
              </a:solidFill>
              <a:effectLst/>
              <a:uFillTx/>
              <a:latin typeface="Arial"/>
            </a:endParaRPr>
          </a:p>
          <a:p>
            <a:pPr algn="ctr">
              <a:lnSpc>
                <a:spcPct val="100000"/>
              </a:lnSpc>
            </a:pPr>
            <a:r>
              <a:rPr b="0" lang="de-DE" sz="2400" strike="noStrike" u="none">
                <a:solidFill>
                  <a:schemeClr val="dk1"/>
                </a:solidFill>
                <a:effectLst/>
                <a:uFillTx/>
                <a:latin typeface="Avenir Book"/>
              </a:rPr>
              <a:t>Wissenschaftliches Schreiben leicht gemacht</a:t>
            </a:r>
            <a:endParaRPr b="0" lang="de-DE" sz="2400" strike="noStrike" u="none">
              <a:solidFill>
                <a:srgbClr val="000000"/>
              </a:solidFill>
              <a:effectLst/>
              <a:uFillTx/>
              <a:latin typeface="Arial"/>
            </a:endParaRPr>
          </a:p>
        </p:txBody>
      </p:sp>
      <p:sp>
        <p:nvSpPr>
          <p:cNvPr id="12" name="PlaceHolder 1"/>
          <p:cNvSpPr>
            <a:spLocks noGrp="1"/>
          </p:cNvSpPr>
          <p:nvPr>
            <p:ph type="title"/>
          </p:nvPr>
        </p:nvSpPr>
        <p:spPr>
          <a:xfrm>
            <a:off x="534600" y="301680"/>
            <a:ext cx="9623520" cy="1262160"/>
          </a:xfrm>
          <a:prstGeom prst="rect">
            <a:avLst/>
          </a:prstGeom>
          <a:noFill/>
          <a:ln w="0">
            <a:noFill/>
          </a:ln>
        </p:spPr>
        <p:txBody>
          <a:bodyPr lIns="0" rIns="0" tIns="0" bIns="0" anchor="ctr">
            <a:noAutofit/>
          </a:bodyPr>
          <a:p>
            <a:pPr indent="0">
              <a:buNone/>
            </a:pPr>
            <a:r>
              <a:rPr b="0" lang="de-DE" sz="3200" strike="noStrike" u="none">
                <a:solidFill>
                  <a:schemeClr val="dk1"/>
                </a:solidFill>
                <a:effectLst/>
                <a:uFillTx/>
                <a:latin typeface="Times New Roman"/>
              </a:rPr>
              <a:t>Format des Titeltextes durch Klicken bearbeiten</a:t>
            </a:r>
            <a:endParaRPr b="0" lang="de-DE" sz="3200" strike="noStrike" u="none">
              <a:solidFill>
                <a:schemeClr val="dk1"/>
              </a:solidFill>
              <a:effectLst/>
              <a:uFillTx/>
              <a:latin typeface="Times New Roman"/>
            </a:endParaRPr>
          </a:p>
        </p:txBody>
      </p:sp>
      <p:sp>
        <p:nvSpPr>
          <p:cNvPr id="13" name="PlaceHolder 2"/>
          <p:cNvSpPr>
            <a:spLocks noGrp="1"/>
          </p:cNvSpPr>
          <p:nvPr>
            <p:ph type="body"/>
          </p:nvPr>
        </p:nvSpPr>
        <p:spPr>
          <a:xfrm>
            <a:off x="534600" y="1769040"/>
            <a:ext cx="9623520" cy="4385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de-DE" sz="3200" strike="noStrike" u="none">
                <a:solidFill>
                  <a:schemeClr val="dk1"/>
                </a:solidFill>
                <a:effectLst/>
                <a:uFillTx/>
                <a:latin typeface="Calibri"/>
              </a:rPr>
              <a:t>Format des Gliederungstextes durch Klicken bearbeiten</a:t>
            </a:r>
            <a:endParaRPr b="0" lang="de-DE"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de-DE" sz="2400" strike="noStrike" u="none">
                <a:solidFill>
                  <a:schemeClr val="dk1"/>
                </a:solidFill>
                <a:effectLst/>
                <a:uFillTx/>
                <a:latin typeface="Calibri"/>
              </a:rPr>
              <a:t>Zweite Gliederungsebene</a:t>
            </a:r>
            <a:endParaRPr b="0" lang="de-DE"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de-DE" sz="2000" strike="noStrike" u="none">
                <a:solidFill>
                  <a:schemeClr val="dk1"/>
                </a:solidFill>
                <a:effectLst/>
                <a:uFillTx/>
                <a:latin typeface="Calibri"/>
              </a:rPr>
              <a:t>Dritte Gliederungsebene</a:t>
            </a:r>
            <a:endParaRPr b="0" lang="de-DE"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de-DE" sz="2000" strike="noStrike" u="none">
                <a:solidFill>
                  <a:schemeClr val="dk1"/>
                </a:solidFill>
                <a:effectLst/>
                <a:uFillTx/>
                <a:latin typeface="Calibri"/>
              </a:rPr>
              <a:t>Vierte Gliederungsebene</a:t>
            </a:r>
            <a:endParaRPr b="0" lang="de-DE"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de-DE" sz="2000" strike="noStrike" u="none">
                <a:solidFill>
                  <a:schemeClr val="dk1"/>
                </a:solidFill>
                <a:effectLst/>
                <a:uFillTx/>
                <a:latin typeface="Calibri"/>
              </a:rPr>
              <a:t>Fünfte Gliederungsebene</a:t>
            </a:r>
            <a:endParaRPr b="0" lang="de-DE"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de-DE" sz="2000" strike="noStrike" u="none">
                <a:solidFill>
                  <a:schemeClr val="dk1"/>
                </a:solidFill>
                <a:effectLst/>
                <a:uFillTx/>
                <a:latin typeface="Calibri"/>
              </a:rPr>
              <a:t>Sechste Gliederungsebene</a:t>
            </a:r>
            <a:endParaRPr b="0" lang="de-DE"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de-DE" sz="2000" strike="noStrike" u="none">
                <a:solidFill>
                  <a:schemeClr val="dk1"/>
                </a:solidFill>
                <a:effectLst/>
                <a:uFillTx/>
                <a:latin typeface="Calibri"/>
              </a:rPr>
              <a:t>Siebte Gliederungsebene</a:t>
            </a:r>
            <a:endParaRPr b="0" lang="de-DE"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rgbClr val="ffffff"/>
        </a:solidFill>
      </p:bgPr>
    </p:bg>
    <p:spTree>
      <p:nvGrpSpPr>
        <p:cNvPr id="1" name=""/>
        <p:cNvGrpSpPr/>
        <p:nvPr/>
      </p:nvGrpSpPr>
      <p:grpSpPr>
        <a:xfrm>
          <a:off x="0" y="0"/>
          <a:ext cx="0" cy="0"/>
          <a:chOff x="0" y="0"/>
          <a:chExt cx="0" cy="0"/>
        </a:xfrm>
      </p:grpSpPr>
      <p:pic>
        <p:nvPicPr>
          <p:cNvPr id="14" name="Picture 9" descr="RGB-Skala-A4-Quer"/>
          <p:cNvPicPr/>
          <p:nvPr/>
        </p:nvPicPr>
        <p:blipFill>
          <a:blip r:embed="rId2"/>
          <a:stretch/>
        </p:blipFill>
        <p:spPr>
          <a:xfrm>
            <a:off x="-54000" y="0"/>
            <a:ext cx="968040" cy="7562520"/>
          </a:xfrm>
          <a:prstGeom prst="rect">
            <a:avLst/>
          </a:prstGeom>
          <a:noFill/>
          <a:ln w="0">
            <a:noFill/>
          </a:ln>
        </p:spPr>
      </p:pic>
      <p:pic>
        <p:nvPicPr>
          <p:cNvPr id="15" name="Grafik 7" descr=""/>
          <p:cNvPicPr/>
          <p:nvPr/>
        </p:nvPicPr>
        <p:blipFill>
          <a:blip r:embed="rId3"/>
          <a:stretch/>
        </p:blipFill>
        <p:spPr>
          <a:xfrm>
            <a:off x="1025640" y="568440"/>
            <a:ext cx="3042720" cy="1052280"/>
          </a:xfrm>
          <a:prstGeom prst="rect">
            <a:avLst/>
          </a:prstGeom>
          <a:noFill/>
          <a:ln w="0">
            <a:noFill/>
          </a:ln>
        </p:spPr>
      </p:pic>
      <p:pic>
        <p:nvPicPr>
          <p:cNvPr id="16" name="Grafik 1" descr=""/>
          <p:cNvPicPr/>
          <p:nvPr/>
        </p:nvPicPr>
        <p:blipFill>
          <a:blip r:embed="rId4"/>
          <a:stretch/>
        </p:blipFill>
        <p:spPr>
          <a:xfrm>
            <a:off x="7002720" y="667440"/>
            <a:ext cx="3024000" cy="375840"/>
          </a:xfrm>
          <a:prstGeom prst="rect">
            <a:avLst/>
          </a:prstGeom>
          <a:noFill/>
          <a:ln w="0">
            <a:noFill/>
          </a:ln>
        </p:spPr>
      </p:pic>
      <p:sp>
        <p:nvSpPr>
          <p:cNvPr id="17" name="Untertitel 2"/>
          <p:cNvSpPr/>
          <p:nvPr/>
        </p:nvSpPr>
        <p:spPr>
          <a:xfrm>
            <a:off x="1031400" y="5436720"/>
            <a:ext cx="8640720" cy="719640"/>
          </a:xfrm>
          <a:prstGeom prst="rect">
            <a:avLst/>
          </a:prstGeom>
          <a:noFill/>
          <a:ln w="0">
            <a:noFill/>
          </a:ln>
        </p:spPr>
        <p:style>
          <a:lnRef idx="0"/>
          <a:fillRef idx="0"/>
          <a:effectRef idx="0"/>
          <a:fontRef idx="minor"/>
        </p:style>
        <p:txBody>
          <a:bodyPr lIns="90000" rIns="90000" tIns="45000" bIns="45000" anchor="ctr">
            <a:noAutofit/>
          </a:bodyPr>
          <a:p>
            <a:pPr marL="181080" algn="ctr">
              <a:lnSpc>
                <a:spcPct val="100000"/>
              </a:lnSpc>
              <a:spcBef>
                <a:spcPts val="479"/>
              </a:spcBef>
              <a:tabLst>
                <a:tab algn="l" pos="0"/>
              </a:tabLst>
            </a:pPr>
            <a:endParaRPr b="0" lang="de-DE" sz="2400" strike="noStrike" u="none">
              <a:solidFill>
                <a:srgbClr val="000000"/>
              </a:solidFill>
              <a:effectLst/>
              <a:uFillTx/>
              <a:latin typeface="Arial"/>
            </a:endParaRPr>
          </a:p>
          <a:p>
            <a:pPr marL="181080" algn="ctr">
              <a:lnSpc>
                <a:spcPct val="100000"/>
              </a:lnSpc>
              <a:spcBef>
                <a:spcPts val="561"/>
              </a:spcBef>
              <a:tabLst>
                <a:tab algn="l" pos="0"/>
              </a:tabLst>
            </a:pPr>
            <a:br>
              <a:rPr sz="2800"/>
            </a:br>
            <a:endParaRPr b="0" lang="de-DE" sz="2800" strike="noStrike" u="none">
              <a:solidFill>
                <a:srgbClr val="000000"/>
              </a:solidFill>
              <a:effectLst/>
              <a:uFillTx/>
              <a:latin typeface="Arial"/>
            </a:endParaRPr>
          </a:p>
          <a:p>
            <a:pPr marL="181080" algn="ctr">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281"/>
              </a:spcBef>
              <a:tabLst>
                <a:tab algn="l" pos="0"/>
              </a:tabLst>
            </a:pPr>
            <a:r>
              <a:rPr b="0" lang="de-DE" sz="1400" strike="noStrike" u="none">
                <a:solidFill>
                  <a:schemeClr val="dk1"/>
                </a:solidFill>
                <a:effectLst/>
                <a:uFillTx/>
                <a:latin typeface="Avenir Book"/>
              </a:rPr>
              <a:t>Dipl.-Ing. Cosima Klischat &amp; Anna Krez, M.A. (&amp; Dr. Jörg Berberich)</a:t>
            </a:r>
            <a:br>
              <a:rPr sz="1000"/>
            </a:br>
            <a:endParaRPr b="0" lang="de-DE" sz="1400" strike="noStrike" u="none">
              <a:solidFill>
                <a:srgbClr val="000000"/>
              </a:solidFill>
              <a:effectLst/>
              <a:uFillTx/>
              <a:latin typeface="Arial"/>
            </a:endParaRPr>
          </a:p>
          <a:p>
            <a:pPr marL="181080" algn="ctr" defTabSz="914400">
              <a:lnSpc>
                <a:spcPct val="100000"/>
              </a:lnSpc>
              <a:spcBef>
                <a:spcPts val="201"/>
              </a:spcBef>
              <a:tabLst>
                <a:tab algn="l" pos="0"/>
              </a:tabLst>
            </a:pPr>
            <a:endParaRPr b="0" lang="de-DE" sz="1000" strike="noStrike" u="none">
              <a:solidFill>
                <a:srgbClr val="000000"/>
              </a:solidFill>
              <a:effectLst/>
              <a:uFillTx/>
              <a:latin typeface="Arial"/>
            </a:endParaRPr>
          </a:p>
          <a:p>
            <a:pPr marL="181080" algn="ctr" defTabSz="914400">
              <a:lnSpc>
                <a:spcPct val="100000"/>
              </a:lnSpc>
              <a:spcBef>
                <a:spcPts val="201"/>
              </a:spcBef>
              <a:tabLst>
                <a:tab algn="l" pos="0"/>
              </a:tabLst>
            </a:pPr>
            <a:r>
              <a:rPr b="0" lang="de-DE" sz="1000" strike="noStrike" u="none">
                <a:solidFill>
                  <a:schemeClr val="dk1"/>
                </a:solidFill>
                <a:effectLst/>
                <a:uFillTx/>
                <a:latin typeface="Avenir Book"/>
              </a:rPr>
              <a:t>Teile der Präsentation basieren auf dem Buch „Technische Berichte – Verständlich gliedern, gut gestalten, überzeugend vortragen“ </a:t>
            </a:r>
            <a:br>
              <a:rPr sz="1000"/>
            </a:br>
            <a:r>
              <a:rPr b="0" lang="de-DE" sz="1000" strike="noStrike" u="none">
                <a:solidFill>
                  <a:schemeClr val="dk1"/>
                </a:solidFill>
                <a:effectLst/>
                <a:uFillTx/>
                <a:latin typeface="Avenir Book"/>
              </a:rPr>
              <a:t>von Heike und Lutz Hering (2015) und dient als Schulungsunterlage zur Verwendung innerhalb der Hochschule Karlsruhe. </a:t>
            </a:r>
            <a:endParaRPr b="0" lang="de-DE" sz="1000" strike="noStrike" u="none">
              <a:solidFill>
                <a:srgbClr val="000000"/>
              </a:solidFill>
              <a:effectLst/>
              <a:uFillTx/>
              <a:latin typeface="Arial"/>
            </a:endParaRPr>
          </a:p>
          <a:p>
            <a:pPr marL="181080" algn="ctr" defTabSz="914400">
              <a:lnSpc>
                <a:spcPct val="100000"/>
              </a:lnSpc>
              <a:spcBef>
                <a:spcPts val="201"/>
              </a:spcBef>
              <a:tabLst>
                <a:tab algn="l" pos="0"/>
              </a:tabLst>
            </a:pPr>
            <a:r>
              <a:rPr b="0" lang="de-DE" sz="1000" strike="noStrike" u="none">
                <a:solidFill>
                  <a:schemeClr val="dk1"/>
                </a:solidFill>
                <a:effectLst/>
                <a:uFillTx/>
                <a:latin typeface="Avenir Book"/>
              </a:rPr>
              <a:t>Inhalte wurden sowohl wörtlich als auch sinngemäß übernommen. Eine Vervielfältigung ist nicht gestattet.</a:t>
            </a:r>
            <a:endParaRPr b="0" lang="de-DE" sz="1000" strike="noStrike" u="none">
              <a:solidFill>
                <a:srgbClr val="000000"/>
              </a:solidFill>
              <a:effectLst/>
              <a:uFillTx/>
              <a:latin typeface="Arial"/>
            </a:endParaRPr>
          </a:p>
          <a:p>
            <a:pPr marL="181080" algn="ctr" defTabSz="914400">
              <a:lnSpc>
                <a:spcPct val="100000"/>
              </a:lnSpc>
              <a:spcBef>
                <a:spcPts val="241"/>
              </a:spcBef>
              <a:tabLst>
                <a:tab algn="l" pos="0"/>
              </a:tabLst>
            </a:pPr>
            <a:endParaRPr b="0" lang="de-DE" sz="1200" strike="noStrike" u="none">
              <a:solidFill>
                <a:srgbClr val="000000"/>
              </a:solidFill>
              <a:effectLst/>
              <a:uFillTx/>
              <a:latin typeface="Arial"/>
            </a:endParaRPr>
          </a:p>
          <a:p>
            <a:pPr marL="181080" algn="ctr" defTabSz="914400">
              <a:lnSpc>
                <a:spcPct val="100000"/>
              </a:lnSpc>
              <a:spcBef>
                <a:spcPts val="281"/>
              </a:spcBef>
              <a:tabLst>
                <a:tab algn="l" pos="0"/>
              </a:tabLst>
            </a:pPr>
            <a:endParaRPr b="0" lang="de-DE" sz="1400" strike="noStrike" u="none">
              <a:solidFill>
                <a:srgbClr val="000000"/>
              </a:solidFill>
              <a:effectLst/>
              <a:uFillTx/>
              <a:latin typeface="Arial"/>
            </a:endParaRPr>
          </a:p>
          <a:p>
            <a:pPr marL="181080" algn="ctr" defTabSz="914400">
              <a:lnSpc>
                <a:spcPct val="100000"/>
              </a:lnSpc>
              <a:spcBef>
                <a:spcPts val="479"/>
              </a:spcBef>
              <a:tabLst>
                <a:tab algn="l" pos="0"/>
              </a:tabLst>
            </a:pPr>
            <a:endParaRPr b="0" lang="de-DE" sz="2400" strike="noStrike" u="none">
              <a:solidFill>
                <a:srgbClr val="000000"/>
              </a:solidFill>
              <a:effectLst/>
              <a:uFillTx/>
              <a:latin typeface="Arial"/>
            </a:endParaRPr>
          </a:p>
        </p:txBody>
      </p:sp>
      <p:sp>
        <p:nvSpPr>
          <p:cNvPr id="18" name="Textfeld 2"/>
          <p:cNvSpPr/>
          <p:nvPr/>
        </p:nvSpPr>
        <p:spPr>
          <a:xfrm>
            <a:off x="1782360" y="2628360"/>
            <a:ext cx="7128360" cy="1569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de-DE" sz="4800" strike="noStrike" u="none">
                <a:solidFill>
                  <a:schemeClr val="dk1"/>
                </a:solidFill>
                <a:effectLst/>
                <a:uFillTx/>
                <a:latin typeface="Avenir Book"/>
              </a:rPr>
              <a:t>Schreibwerkstatt</a:t>
            </a:r>
            <a:endParaRPr b="0" lang="de-DE" sz="4800" strike="noStrike" u="none">
              <a:solidFill>
                <a:srgbClr val="000000"/>
              </a:solidFill>
              <a:effectLst/>
              <a:uFillTx/>
              <a:latin typeface="Arial"/>
            </a:endParaRPr>
          </a:p>
          <a:p>
            <a:pPr algn="ctr">
              <a:lnSpc>
                <a:spcPct val="100000"/>
              </a:lnSpc>
            </a:pPr>
            <a:endParaRPr b="0" lang="de-DE" sz="2400" strike="noStrike" u="none">
              <a:solidFill>
                <a:srgbClr val="000000"/>
              </a:solidFill>
              <a:effectLst/>
              <a:uFillTx/>
              <a:latin typeface="Arial"/>
            </a:endParaRPr>
          </a:p>
          <a:p>
            <a:pPr algn="ctr">
              <a:lnSpc>
                <a:spcPct val="100000"/>
              </a:lnSpc>
            </a:pPr>
            <a:r>
              <a:rPr b="0" lang="de-DE" sz="2400" strike="noStrike" u="none">
                <a:solidFill>
                  <a:schemeClr val="dk1"/>
                </a:solidFill>
                <a:effectLst/>
                <a:uFillTx/>
                <a:latin typeface="Avenir Book"/>
              </a:rPr>
              <a:t>Wissenschaftliches Schreiben leicht gemacht</a:t>
            </a:r>
            <a:endParaRPr b="0" lang="de-DE" sz="24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feld 2"/>
          <p:cNvSpPr/>
          <p:nvPr/>
        </p:nvSpPr>
        <p:spPr>
          <a:xfrm>
            <a:off x="4055040" y="6818400"/>
            <a:ext cx="5900040" cy="289800"/>
          </a:xfrm>
          <a:prstGeom prst="rect">
            <a:avLst/>
          </a:prstGeom>
          <a:noFill/>
          <a:ln w="0">
            <a:noFill/>
          </a:ln>
        </p:spPr>
        <p:style>
          <a:lnRef idx="0"/>
          <a:fillRef idx="0"/>
          <a:effectRef idx="0"/>
          <a:fontRef idx="minor"/>
        </p:style>
        <p:txBody>
          <a:bodyPr lIns="104400" rIns="104400" tIns="52200" bIns="52200" anchor="t">
            <a:spAutoFit/>
          </a:bodyPr>
          <a:p>
            <a:pPr algn="r">
              <a:lnSpc>
                <a:spcPct val="100000"/>
              </a:lnSpc>
            </a:pPr>
            <a:r>
              <a:rPr b="0" lang="de-DE" sz="1200" strike="noStrike" u="none">
                <a:solidFill>
                  <a:schemeClr val="lt2"/>
                </a:solidFill>
                <a:effectLst/>
                <a:uFillTx/>
                <a:latin typeface="Avenir Book"/>
              </a:rPr>
              <a:t>Fakultät für Elektro- und Informationstechnik</a:t>
            </a:r>
            <a:endParaRPr b="0" lang="de-DE" sz="1200" strike="noStrike" u="none">
              <a:solidFill>
                <a:srgbClr val="000000"/>
              </a:solidFill>
              <a:effectLst/>
              <a:uFillTx/>
              <a:latin typeface="Arial"/>
            </a:endParaRPr>
          </a:p>
        </p:txBody>
      </p:sp>
      <p:sp>
        <p:nvSpPr>
          <p:cNvPr id="1" name="Textfeld 3"/>
          <p:cNvSpPr/>
          <p:nvPr/>
        </p:nvSpPr>
        <p:spPr>
          <a:xfrm>
            <a:off x="9955080" y="6818400"/>
            <a:ext cx="544320" cy="274320"/>
          </a:xfrm>
          <a:prstGeom prst="rect">
            <a:avLst/>
          </a:prstGeom>
          <a:noFill/>
          <a:ln w="0">
            <a:noFill/>
          </a:ln>
        </p:spPr>
        <p:style>
          <a:lnRef idx="0"/>
          <a:fillRef idx="0"/>
          <a:effectRef idx="0"/>
          <a:fontRef idx="minor"/>
        </p:style>
        <p:txBody>
          <a:bodyPr lIns="104400" rIns="104400" tIns="52200" bIns="52200" anchor="t">
            <a:spAutoFit/>
          </a:bodyPr>
          <a:p>
            <a:pPr algn="r">
              <a:lnSpc>
                <a:spcPct val="100000"/>
              </a:lnSpc>
            </a:pPr>
            <a:fld id="{9ED2EBF2-D0AE-479A-81AA-292BD6F875D0}" type="slidenum">
              <a:rPr b="0" lang="de-DE" sz="1100" strike="noStrike" u="none">
                <a:solidFill>
                  <a:schemeClr val="lt2"/>
                </a:solidFill>
                <a:effectLst/>
                <a:uFillTx/>
                <a:latin typeface="Arial"/>
              </a:rPr>
              <a:t>&lt;Foliennummer&gt;</a:t>
            </a:fld>
            <a:endParaRPr b="0" lang="de-DE" sz="1100" strike="noStrike" u="none">
              <a:solidFill>
                <a:srgbClr val="000000"/>
              </a:solidFill>
              <a:effectLst/>
              <a:uFillTx/>
              <a:latin typeface="Arial"/>
            </a:endParaRPr>
          </a:p>
        </p:txBody>
      </p:sp>
      <p:cxnSp>
        <p:nvCxnSpPr>
          <p:cNvPr id="2" name="Gerade Verbindung 7"/>
          <p:cNvCxnSpPr/>
          <p:nvPr/>
        </p:nvCxnSpPr>
        <p:spPr>
          <a:xfrm flipH="1">
            <a:off x="306360" y="6589440"/>
            <a:ext cx="10080720" cy="360"/>
          </a:xfrm>
          <a:prstGeom prst="straightConnector1">
            <a:avLst/>
          </a:prstGeom>
          <a:ln>
            <a:solidFill>
              <a:srgbClr val="db0031"/>
            </a:solidFill>
            <a:round/>
          </a:ln>
        </p:spPr>
      </p:cxnSp>
      <p:pic>
        <p:nvPicPr>
          <p:cNvPr id="3" name="Grafik 9" descr=""/>
          <p:cNvPicPr/>
          <p:nvPr/>
        </p:nvPicPr>
        <p:blipFill>
          <a:blip r:embed="rId2"/>
          <a:stretch/>
        </p:blipFill>
        <p:spPr>
          <a:xfrm>
            <a:off x="306360" y="6732720"/>
            <a:ext cx="1722240" cy="595080"/>
          </a:xfrm>
          <a:prstGeom prst="rect">
            <a:avLst/>
          </a:prstGeom>
          <a:noFill/>
          <a:ln w="0">
            <a:noFill/>
          </a:ln>
        </p:spPr>
      </p:pic>
      <p:sp>
        <p:nvSpPr>
          <p:cNvPr id="4" name="PlaceHolder 1"/>
          <p:cNvSpPr>
            <a:spLocks noGrp="1"/>
          </p:cNvSpPr>
          <p:nvPr>
            <p:ph type="title"/>
          </p:nvPr>
        </p:nvSpPr>
        <p:spPr>
          <a:xfrm>
            <a:off x="306000" y="540360"/>
            <a:ext cx="10080720" cy="453240"/>
          </a:xfrm>
          <a:prstGeom prst="rect">
            <a:avLst/>
          </a:prstGeom>
          <a:solidFill>
            <a:schemeClr val="lt1">
              <a:lumMod val="85000"/>
            </a:schemeClr>
          </a:solidFill>
          <a:ln w="0">
            <a:noFill/>
          </a:ln>
        </p:spPr>
        <p:txBody>
          <a:bodyPr lIns="104400" rIns="104400" tIns="52200" bIns="52200" anchor="ctr">
            <a:noAutofit/>
          </a:bodyPr>
          <a:p>
            <a:pPr indent="0">
              <a:lnSpc>
                <a:spcPct val="100000"/>
              </a:lnSpc>
              <a:buNone/>
            </a:pPr>
            <a:r>
              <a:rPr b="0" lang="de-DE" sz="3200" strike="noStrike" u="none">
                <a:solidFill>
                  <a:schemeClr val="dk2"/>
                </a:solidFill>
                <a:effectLst/>
                <a:uFillTx/>
                <a:latin typeface="Arial"/>
              </a:rPr>
              <a:t>Titelmasterformat durch Klicken bearbeiten</a:t>
            </a:r>
            <a:endParaRPr b="0" lang="de-DE" sz="3200" strike="noStrike" u="none">
              <a:solidFill>
                <a:schemeClr val="dk1"/>
              </a:solidFill>
              <a:effectLst/>
              <a:uFillTx/>
              <a:latin typeface="Times New Roman"/>
            </a:endParaRPr>
          </a:p>
        </p:txBody>
      </p:sp>
      <p:sp>
        <p:nvSpPr>
          <p:cNvPr id="5" name="PlaceHolder 2"/>
          <p:cNvSpPr>
            <a:spLocks noGrp="1"/>
          </p:cNvSpPr>
          <p:nvPr>
            <p:ph type="body"/>
          </p:nvPr>
        </p:nvSpPr>
        <p:spPr>
          <a:xfrm>
            <a:off x="306000" y="1908360"/>
            <a:ext cx="5112360" cy="4464000"/>
          </a:xfrm>
          <a:prstGeom prst="rect">
            <a:avLst/>
          </a:prstGeom>
          <a:noFill/>
          <a:ln w="0">
            <a:noFill/>
          </a:ln>
        </p:spPr>
        <p:txBody>
          <a:bodyPr lIns="104400" rIns="104400" tIns="52200" bIns="52200" anchor="t">
            <a:noAutofit/>
          </a:bodyPr>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Textmasterformat bearbeiten</a:t>
            </a:r>
            <a:endParaRPr b="0" lang="de-DE" sz="1600" strike="noStrike" u="none">
              <a:solidFill>
                <a:schemeClr val="dk1"/>
              </a:solidFill>
              <a:effectLst/>
              <a:uFillTx/>
              <a:latin typeface="Arial"/>
            </a:endParaRPr>
          </a:p>
          <a:p>
            <a:pPr lvl="1" marL="452520" indent="-271440">
              <a:lnSpc>
                <a:spcPct val="100000"/>
              </a:lnSpc>
              <a:spcBef>
                <a:spcPts val="320"/>
              </a:spcBef>
              <a:buClr>
                <a:srgbClr val="000000"/>
              </a:buClr>
              <a:buFont typeface="Symbol" charset="2"/>
              <a:buChar char=""/>
            </a:pPr>
            <a:r>
              <a:rPr b="0" lang="de-DE" sz="1600" strike="noStrike" u="none">
                <a:solidFill>
                  <a:schemeClr val="dk1"/>
                </a:solidFill>
                <a:effectLst/>
                <a:uFillTx/>
                <a:latin typeface="Arial"/>
              </a:rPr>
              <a:t>Zweite Ebene</a:t>
            </a:r>
            <a:endParaRPr b="0" lang="de-DE" sz="1600" strike="noStrike" u="none">
              <a:solidFill>
                <a:schemeClr val="dk1"/>
              </a:solidFill>
              <a:effectLst/>
              <a:uFillTx/>
              <a:latin typeface="Arial"/>
            </a:endParaRPr>
          </a:p>
        </p:txBody>
      </p:sp>
      <p:sp>
        <p:nvSpPr>
          <p:cNvPr id="6" name="PlaceHolder 3"/>
          <p:cNvSpPr>
            <a:spLocks noGrp="1"/>
          </p:cNvSpPr>
          <p:nvPr>
            <p:ph type="body"/>
          </p:nvPr>
        </p:nvSpPr>
        <p:spPr>
          <a:xfrm>
            <a:off x="306000" y="133236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0" lang="de-DE" sz="2000" strike="noStrike" u="none">
                <a:solidFill>
                  <a:schemeClr val="dk1"/>
                </a:solidFill>
                <a:effectLst/>
                <a:uFillTx/>
                <a:latin typeface="Arial"/>
              </a:rPr>
              <a:t>Textmasterformat bearbeiten</a:t>
            </a:r>
            <a:endParaRPr b="0" lang="de-DE"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5.tif"/><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svg"/><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0.xml"/>
</Relationships>
</file>

<file path=ppt/slides/_rels/slide2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8.png"/><Relationship Id="rId3" Type="http://schemas.openxmlformats.org/officeDocument/2006/relationships/image" Target="../media/image28.png"/><Relationship Id="rId4"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3.png"/><Relationship Id="rId8" Type="http://schemas.openxmlformats.org/officeDocument/2006/relationships/image" Target="../media/image24.svg"/><Relationship Id="rId9" Type="http://schemas.openxmlformats.org/officeDocument/2006/relationships/image" Target="../media/image25.png"/><Relationship Id="rId10" Type="http://schemas.openxmlformats.org/officeDocument/2006/relationships/image" Target="../media/image26.svg"/><Relationship Id="rId11" Type="http://schemas.openxmlformats.org/officeDocument/2006/relationships/image" Target="../media/image23.png"/><Relationship Id="rId12" Type="http://schemas.openxmlformats.org/officeDocument/2006/relationships/image" Target="../media/image24.svg"/><Relationship Id="rId13" Type="http://schemas.openxmlformats.org/officeDocument/2006/relationships/image" Target="../media/image25.png"/><Relationship Id="rId14" Type="http://schemas.openxmlformats.org/officeDocument/2006/relationships/image" Target="../media/image26.svg"/><Relationship Id="rId15" Type="http://schemas.openxmlformats.org/officeDocument/2006/relationships/image" Target="../media/image23.png"/><Relationship Id="rId16" Type="http://schemas.openxmlformats.org/officeDocument/2006/relationships/image" Target="../media/image24.svg"/><Relationship Id="rId17" Type="http://schemas.openxmlformats.org/officeDocument/2006/relationships/image" Target="../media/image23.png"/><Relationship Id="rId18" Type="http://schemas.openxmlformats.org/officeDocument/2006/relationships/image" Target="../media/image24.svg"/><Relationship Id="rId19" Type="http://schemas.openxmlformats.org/officeDocument/2006/relationships/image" Target="../media/image25.png"/><Relationship Id="rId20" Type="http://schemas.openxmlformats.org/officeDocument/2006/relationships/image" Target="../media/image26.svg"/><Relationship Id="rId2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3.png"/><Relationship Id="rId14" Type="http://schemas.openxmlformats.org/officeDocument/2006/relationships/image" Target="../media/image24.svg"/><Relationship Id="rId15"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Was ist ein “Technischer Bericht“?</a:t>
            </a:r>
            <a:endParaRPr b="0" lang="de-DE" sz="2000" strike="noStrike" u="none">
              <a:solidFill>
                <a:schemeClr val="dk1"/>
              </a:solidFill>
              <a:effectLst/>
              <a:uFillTx/>
              <a:latin typeface="Arial"/>
            </a:endParaRPr>
          </a:p>
        </p:txBody>
      </p:sp>
      <p:cxnSp>
        <p:nvCxnSpPr>
          <p:cNvPr id="20" name="Gerade Verbindung 7"/>
          <p:cNvCxnSpPr/>
          <p:nvPr/>
        </p:nvCxnSpPr>
        <p:spPr>
          <a:xfrm>
            <a:off x="303840" y="532440"/>
            <a:ext cx="10081440" cy="360"/>
          </a:xfrm>
          <a:prstGeom prst="straightConnector1">
            <a:avLst/>
          </a:prstGeom>
          <a:ln>
            <a:solidFill>
              <a:srgbClr val="db0031"/>
            </a:solidFill>
            <a:round/>
          </a:ln>
        </p:spPr>
      </p:cxnSp>
      <p:sp>
        <p:nvSpPr>
          <p:cNvPr id="21"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Technische Berichte schreiben  </a:t>
            </a:r>
            <a:endParaRPr b="0" lang="de-DE" sz="1200" strike="noStrike" u="none">
              <a:solidFill>
                <a:srgbClr val="000000"/>
              </a:solidFill>
              <a:effectLst/>
              <a:uFillTx/>
              <a:latin typeface="Arial"/>
            </a:endParaRPr>
          </a:p>
        </p:txBody>
      </p:sp>
      <p:sp>
        <p:nvSpPr>
          <p:cNvPr id="22" name="Textfeld 9"/>
          <p:cNvSpPr/>
          <p:nvPr/>
        </p:nvSpPr>
        <p:spPr>
          <a:xfrm>
            <a:off x="6426720" y="1059480"/>
            <a:ext cx="3816000" cy="1218240"/>
          </a:xfrm>
          <a:prstGeom prst="rect">
            <a:avLst/>
          </a:prstGeom>
          <a:solidFill>
            <a:schemeClr val="accent5"/>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600" strike="noStrike" u="none">
                <a:solidFill>
                  <a:srgbClr val="000000"/>
                </a:solidFill>
                <a:effectLst/>
                <a:uFillTx/>
                <a:latin typeface="Avenir Book"/>
                <a:ea typeface="ＭＳ Ｐゴシック"/>
              </a:rPr>
              <a:t>Ein Technischer Bericht ist ein Bericht über technische Sachverhalte, geschrieben in der „Fachsprache der Technik“ </a:t>
            </a:r>
            <a:r>
              <a:rPr b="0" lang="de-DE" sz="1000" strike="noStrike" u="none">
                <a:solidFill>
                  <a:srgbClr val="000000"/>
                </a:solidFill>
                <a:effectLst/>
                <a:uFillTx/>
                <a:latin typeface="Avenir Book"/>
                <a:ea typeface="ＭＳ Ｐゴシック"/>
              </a:rPr>
              <a:t>(Hering, 2015, S.1)</a:t>
            </a:r>
            <a:endParaRPr b="0" lang="de-DE" sz="1000" strike="noStrike" u="none">
              <a:solidFill>
                <a:srgbClr val="000000"/>
              </a:solidFill>
              <a:effectLst/>
              <a:uFillTx/>
              <a:latin typeface="Arial"/>
            </a:endParaRPr>
          </a:p>
        </p:txBody>
      </p:sp>
      <p:pic>
        <p:nvPicPr>
          <p:cNvPr id="23" name="Grafik 1" descr=""/>
          <p:cNvPicPr/>
          <p:nvPr/>
        </p:nvPicPr>
        <p:blipFill>
          <a:blip r:embed="rId1"/>
          <a:stretch/>
        </p:blipFill>
        <p:spPr>
          <a:xfrm>
            <a:off x="304200" y="1332360"/>
            <a:ext cx="5472360" cy="4235400"/>
          </a:xfrm>
          <a:prstGeom prst="rect">
            <a:avLst/>
          </a:prstGeom>
          <a:noFill/>
          <a:ln w="0">
            <a:noFill/>
          </a:ln>
        </p:spPr>
      </p:pic>
      <p:sp>
        <p:nvSpPr>
          <p:cNvPr id="24" name="Textfeld 11"/>
          <p:cNvSpPr/>
          <p:nvPr/>
        </p:nvSpPr>
        <p:spPr>
          <a:xfrm>
            <a:off x="334800" y="5625720"/>
            <a:ext cx="5760360" cy="274320"/>
          </a:xfrm>
          <a:prstGeom prst="rect">
            <a:avLst/>
          </a:prstGeom>
          <a:no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000" strike="noStrike" u="none">
                <a:solidFill>
                  <a:srgbClr val="000000"/>
                </a:solidFill>
                <a:effectLst/>
                <a:uFillTx/>
                <a:latin typeface="Avenir Book"/>
                <a:ea typeface="ＭＳ Ｐゴシック"/>
              </a:rPr>
              <a:t>(Hering, 2015, S.1)</a:t>
            </a:r>
            <a:endParaRPr b="0" lang="de-DE" sz="1000" strike="noStrike" u="none">
              <a:solidFill>
                <a:srgbClr val="000000"/>
              </a:solidFill>
              <a:effectLst/>
              <a:uFillTx/>
              <a:latin typeface="Arial"/>
            </a:endParaRPr>
          </a:p>
        </p:txBody>
      </p:sp>
      <p:sp>
        <p:nvSpPr>
          <p:cNvPr id="25" name="Textfeld 12"/>
          <p:cNvSpPr/>
          <p:nvPr/>
        </p:nvSpPr>
        <p:spPr>
          <a:xfrm>
            <a:off x="6426720" y="2784240"/>
            <a:ext cx="3816000" cy="375840"/>
          </a:xfrm>
          <a:prstGeom prst="rect">
            <a:avLst/>
          </a:prstGeom>
          <a:solidFill>
            <a:schemeClr val="accent5"/>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600" strike="noStrike" u="none">
                <a:solidFill>
                  <a:srgbClr val="000000"/>
                </a:solidFill>
                <a:effectLst/>
                <a:uFillTx/>
                <a:latin typeface="Avenir Book"/>
                <a:ea typeface="ＭＳ Ｐゴシック"/>
              </a:rPr>
              <a:t>Er soll beim Leser </a:t>
            </a:r>
            <a:r>
              <a:rPr b="1" lang="de-DE" sz="1600" strike="noStrike" u="none">
                <a:solidFill>
                  <a:srgbClr val="000000"/>
                </a:solidFill>
                <a:effectLst/>
                <a:uFillTx/>
                <a:latin typeface="Avenir Book"/>
                <a:ea typeface="ＭＳ Ｐゴシック"/>
              </a:rPr>
              <a:t>KLARHEIT</a:t>
            </a:r>
            <a:r>
              <a:rPr b="0" lang="de-DE" sz="1600" strike="noStrike" u="none">
                <a:solidFill>
                  <a:srgbClr val="000000"/>
                </a:solidFill>
                <a:effectLst/>
                <a:uFillTx/>
                <a:latin typeface="Avenir Book"/>
                <a:ea typeface="ＭＳ Ｐゴシック"/>
              </a:rPr>
              <a:t> erzeugen!</a:t>
            </a:r>
            <a:endParaRPr b="0" lang="de-DE" sz="1600" strike="noStrike" u="none">
              <a:solidFill>
                <a:srgbClr val="000000"/>
              </a:solidFill>
              <a:effectLst/>
              <a:uFillTx/>
              <a:latin typeface="Arial"/>
            </a:endParaRPr>
          </a:p>
        </p:txBody>
      </p:sp>
      <p:sp>
        <p:nvSpPr>
          <p:cNvPr id="26" name="Textfeld 17"/>
          <p:cNvSpPr/>
          <p:nvPr/>
        </p:nvSpPr>
        <p:spPr>
          <a:xfrm>
            <a:off x="6425280" y="3204720"/>
            <a:ext cx="3816000" cy="1933560"/>
          </a:xfrm>
          <a:prstGeom prst="rect">
            <a:avLst/>
          </a:prstGeom>
          <a:solidFill>
            <a:schemeClr val="accent5"/>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600" strike="noStrike" u="none">
                <a:solidFill>
                  <a:srgbClr val="000000"/>
                </a:solidFill>
                <a:effectLst/>
                <a:uFillTx/>
                <a:latin typeface="Avenir Book"/>
                <a:ea typeface="ＭＳ Ｐゴシック"/>
              </a:rPr>
              <a:t>1. Klarheit der technischen und wissenschaftlichen Aussagen </a:t>
            </a:r>
            <a:endParaRPr b="0" lang="de-DE" sz="1600" strike="noStrike" u="none">
              <a:solidFill>
                <a:srgbClr val="000000"/>
              </a:solidFill>
              <a:effectLst/>
              <a:uFillTx/>
              <a:latin typeface="Arial"/>
            </a:endParaRPr>
          </a:p>
          <a:p>
            <a:pPr defTabSz="704880">
              <a:lnSpc>
                <a:spcPct val="114000"/>
              </a:lnSpc>
              <a:spcBef>
                <a:spcPts val="601"/>
              </a:spcBef>
              <a:tabLst>
                <a:tab algn="l" pos="0"/>
              </a:tabLst>
            </a:pPr>
            <a:r>
              <a:rPr b="0" lang="de-DE" sz="1600" strike="noStrike" u="none">
                <a:solidFill>
                  <a:srgbClr val="000000"/>
                </a:solidFill>
                <a:effectLst/>
                <a:uFillTx/>
                <a:latin typeface="Avenir Book"/>
                <a:ea typeface="ＭＳ Ｐゴシック"/>
              </a:rPr>
              <a:t>2. Klarheit der Trennung von Bekanntem und Neuem</a:t>
            </a:r>
            <a:endParaRPr b="0" lang="de-DE" sz="1600" strike="noStrike" u="none">
              <a:solidFill>
                <a:srgbClr val="000000"/>
              </a:solidFill>
              <a:effectLst/>
              <a:uFillTx/>
              <a:latin typeface="Arial"/>
            </a:endParaRPr>
          </a:p>
          <a:p>
            <a:pPr defTabSz="704880">
              <a:lnSpc>
                <a:spcPct val="114000"/>
              </a:lnSpc>
              <a:spcBef>
                <a:spcPts val="601"/>
              </a:spcBef>
              <a:tabLst>
                <a:tab algn="l" pos="0"/>
              </a:tabLst>
            </a:pPr>
            <a:r>
              <a:rPr b="0" lang="de-DE" sz="1600" strike="noStrike" u="none">
                <a:solidFill>
                  <a:srgbClr val="000000"/>
                </a:solidFill>
                <a:effectLst/>
                <a:uFillTx/>
                <a:latin typeface="Avenir Book"/>
                <a:ea typeface="ＭＳ Ｐゴシック"/>
              </a:rPr>
              <a:t>3. Klarheit der geistigen Eigenleistung der Verfasser*innen</a:t>
            </a:r>
            <a:endParaRPr b="0" lang="de-DE" sz="1600" strike="noStrike" u="none">
              <a:solidFill>
                <a:srgbClr val="000000"/>
              </a:solidFill>
              <a:effectLst/>
              <a:uFillTx/>
              <a:latin typeface="Arial"/>
            </a:endParaRPr>
          </a:p>
        </p:txBody>
      </p:sp>
      <p:sp>
        <p:nvSpPr>
          <p:cNvPr id="27" name="Textfeld 18"/>
          <p:cNvSpPr/>
          <p:nvPr/>
        </p:nvSpPr>
        <p:spPr>
          <a:xfrm>
            <a:off x="6095160" y="5437800"/>
            <a:ext cx="4146120" cy="1074600"/>
          </a:xfrm>
          <a:prstGeom prst="rect">
            <a:avLst/>
          </a:prstGeom>
          <a:solidFill>
            <a:schemeClr val="accent5">
              <a:lumMod val="90000"/>
            </a:schemeClr>
          </a:solidFill>
          <a:ln w="0">
            <a:solidFill>
              <a:srgbClr val="daedef">
                <a:lumMod val="50000"/>
              </a:srgbClr>
            </a:solid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200" strike="noStrike" u="none">
                <a:solidFill>
                  <a:srgbClr val="000000"/>
                </a:solidFill>
                <a:effectLst/>
                <a:uFillTx/>
                <a:latin typeface="Avenir Book"/>
                <a:ea typeface="ＭＳ Ｐゴシック"/>
              </a:rPr>
              <a:t>Fragen Sie sich: </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Wer liest den Bericht? Wen möchte ich erreichen? </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Welche Kenntnisse setze ich voraus, welche nicht?</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Welche Informationen sind zum Verständnis notwendig?</a:t>
            </a:r>
            <a:endParaRPr b="0" lang="de-DE" sz="1200" strike="noStrike" u="none">
              <a:solidFill>
                <a:srgbClr val="000000"/>
              </a:solidFill>
              <a:effectLst/>
              <a:uFillTx/>
              <a:latin typeface="Arial"/>
            </a:endParaRPr>
          </a:p>
        </p:txBody>
      </p:sp>
      <p:pic>
        <p:nvPicPr>
          <p:cNvPr id="28" name="Grafik 20" descr="Kopf mit Zahnrädern Silhouette"/>
          <p:cNvPicPr/>
          <p:nvPr/>
        </p:nvPicPr>
        <p:blipFill>
          <a:blip r:embed="rId2">
            <a:extLst>
              <a:ext uri="{96DAC541-7B7A-43D3-8B79-37D633B846F1}">
                <asvg:svgBlip xmlns:asvg="http://schemas.microsoft.com/office/drawing/2016/SVG/main" r:embed="rId3"/>
              </a:ext>
            </a:extLst>
          </a:blip>
          <a:stretch/>
        </p:blipFill>
        <p:spPr>
          <a:xfrm>
            <a:off x="6095160" y="5443200"/>
            <a:ext cx="621360" cy="621360"/>
          </a:xfrm>
          <a:prstGeom prst="rect">
            <a:avLst/>
          </a:prstGeom>
          <a:noFill/>
          <a:ln w="0">
            <a:noFill/>
          </a:ln>
        </p:spPr>
      </p:pic>
      <p:pic>
        <p:nvPicPr>
          <p:cNvPr id="29" name="Grafik 22" descr="Caretzeichen nach unten Silhouette"/>
          <p:cNvPicPr/>
          <p:nvPr/>
        </p:nvPicPr>
        <p:blipFill>
          <a:blip r:embed="rId4">
            <a:extLst>
              <a:ext uri="{96DAC541-7B7A-43D3-8B79-37D633B846F1}">
                <asvg:svgBlip xmlns:asvg="http://schemas.microsoft.com/office/drawing/2016/SVG/main" r:embed="rId5"/>
              </a:ext>
            </a:extLst>
          </a:blip>
          <a:stretch/>
        </p:blipFill>
        <p:spPr>
          <a:xfrm>
            <a:off x="8033040" y="2230560"/>
            <a:ext cx="600840" cy="6008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Warum ist Schreiben für Ingenieur*innen wichtig? Wann brauche ich es?</a:t>
            </a:r>
            <a:endParaRPr b="0" lang="de-DE" sz="2000" strike="noStrike" u="none">
              <a:solidFill>
                <a:schemeClr val="dk1"/>
              </a:solidFill>
              <a:effectLst/>
              <a:uFillTx/>
              <a:latin typeface="Arial"/>
            </a:endParaRPr>
          </a:p>
        </p:txBody>
      </p:sp>
      <p:cxnSp>
        <p:nvCxnSpPr>
          <p:cNvPr id="31" name="Gerade Verbindung 7"/>
          <p:cNvCxnSpPr/>
          <p:nvPr/>
        </p:nvCxnSpPr>
        <p:spPr>
          <a:xfrm>
            <a:off x="303840" y="532440"/>
            <a:ext cx="10081440" cy="360"/>
          </a:xfrm>
          <a:prstGeom prst="straightConnector1">
            <a:avLst/>
          </a:prstGeom>
          <a:ln>
            <a:solidFill>
              <a:srgbClr val="db0031"/>
            </a:solidFill>
            <a:round/>
          </a:ln>
        </p:spPr>
      </p:cxnSp>
      <p:sp>
        <p:nvSpPr>
          <p:cNvPr id="3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Technische Berichte schreiben  </a:t>
            </a:r>
            <a:endParaRPr b="0" lang="de-DE" sz="1200" strike="noStrike" u="none">
              <a:solidFill>
                <a:srgbClr val="000000"/>
              </a:solidFill>
              <a:effectLst/>
              <a:uFillTx/>
              <a:latin typeface="Arial"/>
            </a:endParaRPr>
          </a:p>
        </p:txBody>
      </p:sp>
      <p:sp>
        <p:nvSpPr>
          <p:cNvPr id="33" name="Textfeld 9"/>
          <p:cNvSpPr/>
          <p:nvPr/>
        </p:nvSpPr>
        <p:spPr>
          <a:xfrm>
            <a:off x="304200" y="1288440"/>
            <a:ext cx="5762160" cy="51987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Im Studium</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Laborberichte</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Projektberichte</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Praktikumsberichte, … </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BA-Thesis/MA-Thesis</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Publikationen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Im späteren Berufsleben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Präsentationen von Arbeitsergebnissen </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vor Vorgesetzten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vor Fachkolleg*innen </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in interdisziplinären Teams </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vor Sponsoren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vor öffentlichem Publikum </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Publikationen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Vermarktung von Ideen </a:t>
            </a:r>
            <a:endParaRPr b="0" lang="de-DE" sz="1600" strike="noStrike" u="none">
              <a:solidFill>
                <a:srgbClr val="000000"/>
              </a:solidFill>
              <a:effectLst/>
              <a:uFillTx/>
              <a:latin typeface="Arial"/>
            </a:endParaRPr>
          </a:p>
        </p:txBody>
      </p:sp>
      <p:sp>
        <p:nvSpPr>
          <p:cNvPr id="34" name="Textfeld 5"/>
          <p:cNvSpPr/>
          <p:nvPr/>
        </p:nvSpPr>
        <p:spPr>
          <a:xfrm>
            <a:off x="5562720" y="5436720"/>
            <a:ext cx="4822200" cy="812880"/>
          </a:xfrm>
          <a:prstGeom prst="rect">
            <a:avLst/>
          </a:prstGeom>
          <a:solidFill>
            <a:schemeClr val="accent5">
              <a:lumMod val="90000"/>
            </a:schemeClr>
          </a:solidFill>
          <a:ln w="0">
            <a:solidFill>
              <a:srgbClr val="daedef">
                <a:lumMod val="50000"/>
              </a:srgbClr>
            </a:solid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200" strike="noStrike" u="none">
                <a:solidFill>
                  <a:srgbClr val="000000"/>
                </a:solidFill>
                <a:effectLst/>
                <a:uFillTx/>
                <a:latin typeface="Avenir Book"/>
                <a:ea typeface="ＭＳ Ｐゴシック"/>
              </a:rPr>
              <a:t>Merken Sie sich: </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Schreiben ist eine Form der Kommunikation.</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Schreiben ist eine Form auf etwas/sich aufmerksam zu machen.</a:t>
            </a:r>
            <a:endParaRPr b="0" lang="de-DE" sz="1200" strike="noStrike" u="none">
              <a:solidFill>
                <a:srgbClr val="000000"/>
              </a:solidFill>
              <a:effectLst/>
              <a:uFillTx/>
              <a:latin typeface="Arial"/>
            </a:endParaRPr>
          </a:p>
        </p:txBody>
      </p:sp>
      <p:pic>
        <p:nvPicPr>
          <p:cNvPr id="35" name="Grafik 6" descr="Kopf mit Zahnrädern Silhouette"/>
          <p:cNvPicPr/>
          <p:nvPr/>
        </p:nvPicPr>
        <p:blipFill>
          <a:blip r:embed="rId1">
            <a:extLst>
              <a:ext uri="{96DAC541-7B7A-43D3-8B79-37D633B846F1}">
                <asvg:svgBlip xmlns:asvg="http://schemas.microsoft.com/office/drawing/2016/SVG/main" r:embed="rId2"/>
              </a:ext>
            </a:extLst>
          </a:blip>
          <a:stretch/>
        </p:blipFill>
        <p:spPr>
          <a:xfrm>
            <a:off x="5562720" y="5446800"/>
            <a:ext cx="621360" cy="6213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Inhalte</a:t>
            </a:r>
            <a:endParaRPr b="0" lang="de-DE" sz="2000" strike="noStrike" u="none">
              <a:solidFill>
                <a:schemeClr val="dk1"/>
              </a:solidFill>
              <a:effectLst/>
              <a:uFillTx/>
              <a:latin typeface="Arial"/>
            </a:endParaRPr>
          </a:p>
        </p:txBody>
      </p:sp>
      <p:cxnSp>
        <p:nvCxnSpPr>
          <p:cNvPr id="37" name="Gerade Verbindung 7"/>
          <p:cNvCxnSpPr/>
          <p:nvPr/>
        </p:nvCxnSpPr>
        <p:spPr>
          <a:xfrm>
            <a:off x="303840" y="532440"/>
            <a:ext cx="10081440" cy="360"/>
          </a:xfrm>
          <a:prstGeom prst="straightConnector1">
            <a:avLst/>
          </a:prstGeom>
          <a:ln>
            <a:solidFill>
              <a:srgbClr val="db0031"/>
            </a:solidFill>
            <a:round/>
          </a:ln>
        </p:spPr>
      </p:cxnSp>
      <p:sp>
        <p:nvSpPr>
          <p:cNvPr id="3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Technische Berichte schreiben  </a:t>
            </a:r>
            <a:endParaRPr b="0" lang="de-DE" sz="1200" strike="noStrike" u="none">
              <a:solidFill>
                <a:srgbClr val="000000"/>
              </a:solidFill>
              <a:effectLst/>
              <a:uFillTx/>
              <a:latin typeface="Arial"/>
            </a:endParaRPr>
          </a:p>
        </p:txBody>
      </p:sp>
      <p:sp>
        <p:nvSpPr>
          <p:cNvPr id="39" name="Textfeld 9"/>
          <p:cNvSpPr/>
          <p:nvPr/>
        </p:nvSpPr>
        <p:spPr>
          <a:xfrm>
            <a:off x="304200" y="1288440"/>
            <a:ext cx="5760360" cy="743760"/>
          </a:xfrm>
          <a:prstGeom prst="rect">
            <a:avLst/>
          </a:prstGeom>
          <a:solidFill>
            <a:schemeClr val="accent5"/>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rgbClr val="000000"/>
                </a:solidFill>
                <a:effectLst/>
                <a:uFillTx/>
                <a:latin typeface="Avenir Book"/>
                <a:ea typeface="ＭＳ Ｐゴシック"/>
              </a:rPr>
              <a:t>1. Planung &amp; Struktur eines technischen Berichts</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     Entwicklung des roten Fadens</a:t>
            </a:r>
            <a:endParaRPr b="0" lang="de-DE" sz="1600" strike="noStrike" u="none">
              <a:solidFill>
                <a:srgbClr val="000000"/>
              </a:solidFill>
              <a:effectLst/>
              <a:uFillTx/>
              <a:latin typeface="Arial"/>
            </a:endParaRPr>
          </a:p>
        </p:txBody>
      </p:sp>
      <p:sp>
        <p:nvSpPr>
          <p:cNvPr id="40" name="Textfeld 10"/>
          <p:cNvSpPr/>
          <p:nvPr/>
        </p:nvSpPr>
        <p:spPr>
          <a:xfrm>
            <a:off x="302040" y="2168280"/>
            <a:ext cx="6262200" cy="802440"/>
          </a:xfrm>
          <a:prstGeom prst="rect">
            <a:avLst/>
          </a:prstGeom>
          <a:solidFill>
            <a:schemeClr val="accent5">
              <a:lumMod val="75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2. Ausarbeitung des Berichts</a:t>
            </a:r>
            <a:endParaRPr b="0" lang="de-DE" sz="1800" strike="noStrike" u="none">
              <a:solidFill>
                <a:srgbClr val="000000"/>
              </a:solidFill>
              <a:effectLst/>
              <a:uFillTx/>
              <a:latin typeface="Arial"/>
            </a:endParaRPr>
          </a:p>
          <a:p>
            <a:pPr defTabSz="704880">
              <a:lnSpc>
                <a:spcPct val="114000"/>
              </a:lnSpc>
              <a:spcBef>
                <a:spcPts val="601"/>
              </a:spcBef>
              <a:tabLst>
                <a:tab algn="l" pos="0"/>
              </a:tabLst>
            </a:pPr>
            <a:r>
              <a:rPr b="0" lang="de-DE" sz="1600" strike="noStrike" u="none">
                <a:solidFill>
                  <a:schemeClr val="dk1"/>
                </a:solidFill>
                <a:effectLst/>
                <a:uFillTx/>
                <a:latin typeface="Avenir Book"/>
                <a:ea typeface="ＭＳ Ｐゴシック"/>
              </a:rPr>
              <a:t>     </a:t>
            </a:r>
            <a:r>
              <a:rPr b="0" lang="de-DE" sz="1800" strike="noStrike" u="none">
                <a:solidFill>
                  <a:schemeClr val="dk1"/>
                </a:solidFill>
                <a:effectLst/>
                <a:uFillTx/>
                <a:latin typeface="Avenir Book"/>
                <a:ea typeface="ＭＳ Ｐゴシック"/>
              </a:rPr>
              <a:t>Einleitung – Hauptteil – Schluss </a:t>
            </a:r>
            <a:endParaRPr b="0" lang="de-DE" sz="1800" strike="noStrike" u="none">
              <a:solidFill>
                <a:srgbClr val="000000"/>
              </a:solidFill>
              <a:effectLst/>
              <a:uFillTx/>
              <a:latin typeface="Arial"/>
            </a:endParaRPr>
          </a:p>
        </p:txBody>
      </p:sp>
      <p:sp>
        <p:nvSpPr>
          <p:cNvPr id="41" name="Textfeld 13"/>
          <p:cNvSpPr/>
          <p:nvPr/>
        </p:nvSpPr>
        <p:spPr>
          <a:xfrm>
            <a:off x="302040" y="3533400"/>
            <a:ext cx="7348680" cy="409680"/>
          </a:xfrm>
          <a:prstGeom prst="rect">
            <a:avLst/>
          </a:prstGeom>
          <a:solidFill>
            <a:schemeClr val="accent5">
              <a:lumMod val="75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    Quellenangaben und Zitate</a:t>
            </a:r>
            <a:endParaRPr b="0" lang="de-DE" sz="1800" strike="noStrike" u="none">
              <a:solidFill>
                <a:srgbClr val="000000"/>
              </a:solidFill>
              <a:effectLst/>
              <a:uFillTx/>
              <a:latin typeface="Arial"/>
            </a:endParaRPr>
          </a:p>
        </p:txBody>
      </p:sp>
      <p:sp>
        <p:nvSpPr>
          <p:cNvPr id="42" name="Textfeld 14"/>
          <p:cNvSpPr/>
          <p:nvPr/>
        </p:nvSpPr>
        <p:spPr>
          <a:xfrm>
            <a:off x="302040" y="3983760"/>
            <a:ext cx="7848360" cy="409680"/>
          </a:xfrm>
          <a:prstGeom prst="rect">
            <a:avLst/>
          </a:prstGeom>
          <a:solidFill>
            <a:schemeClr val="accent5">
              <a:lumMod val="75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    Literaturverzeichnis</a:t>
            </a:r>
            <a:endParaRPr b="0" lang="de-DE" sz="1800" strike="noStrike" u="none">
              <a:solidFill>
                <a:srgbClr val="000000"/>
              </a:solidFill>
              <a:effectLst/>
              <a:uFillTx/>
              <a:latin typeface="Arial"/>
            </a:endParaRPr>
          </a:p>
        </p:txBody>
      </p:sp>
      <p:sp>
        <p:nvSpPr>
          <p:cNvPr id="43" name="Textfeld 15"/>
          <p:cNvSpPr/>
          <p:nvPr/>
        </p:nvSpPr>
        <p:spPr>
          <a:xfrm>
            <a:off x="302040" y="4523760"/>
            <a:ext cx="8856720" cy="768600"/>
          </a:xfrm>
          <a:prstGeom prst="rect">
            <a:avLst/>
          </a:prstGeom>
          <a:solidFill>
            <a:schemeClr val="accent5">
              <a:lumMod val="75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    Hilfreiche Hinweise zur Textproduktion </a:t>
            </a:r>
            <a:endParaRPr b="0" lang="de-DE" sz="1800" strike="noStrike" u="none">
              <a:solidFill>
                <a:srgbClr val="000000"/>
              </a:solidFill>
              <a:effectLst/>
              <a:uFillTx/>
              <a:latin typeface="Arial"/>
            </a:endParaRPr>
          </a:p>
          <a:p>
            <a:pPr defTabSz="704880">
              <a:lnSpc>
                <a:spcPct val="114000"/>
              </a:lnSpc>
              <a:spcBef>
                <a:spcPts val="601"/>
              </a:spcBef>
              <a:tabLst>
                <a:tab algn="l" pos="0"/>
              </a:tabLst>
            </a:pPr>
            <a:r>
              <a:rPr b="0" lang="de-DE" sz="1600" strike="noStrike" u="none">
                <a:solidFill>
                  <a:schemeClr val="dk1"/>
                </a:solidFill>
                <a:effectLst/>
                <a:uFillTx/>
                <a:latin typeface="Avenir Book"/>
                <a:ea typeface="ＭＳ Ｐゴシック"/>
              </a:rPr>
              <a:t>    (Stil, Formulierungen, Verbesserung der Verständlichkeit, häufige Fehler vermeiden)</a:t>
            </a:r>
            <a:endParaRPr b="0" lang="de-DE" sz="1600" strike="noStrike" u="none">
              <a:solidFill>
                <a:srgbClr val="000000"/>
              </a:solidFill>
              <a:effectLst/>
              <a:uFillTx/>
              <a:latin typeface="Arial"/>
            </a:endParaRPr>
          </a:p>
        </p:txBody>
      </p:sp>
      <p:sp>
        <p:nvSpPr>
          <p:cNvPr id="44" name="Textfeld 16"/>
          <p:cNvSpPr/>
          <p:nvPr/>
        </p:nvSpPr>
        <p:spPr>
          <a:xfrm>
            <a:off x="302040" y="5710320"/>
            <a:ext cx="9864720" cy="409680"/>
          </a:xfrm>
          <a:prstGeom prst="rect">
            <a:avLst/>
          </a:prstGeom>
          <a:solidFill>
            <a:schemeClr val="accent5">
              <a:lumMod val="50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3. Fertigstellung/Endredaktion</a:t>
            </a:r>
            <a:endParaRPr b="0" lang="de-DE" sz="1800" strike="noStrike" u="none">
              <a:solidFill>
                <a:srgbClr val="ffffff"/>
              </a:solidFill>
              <a:effectLst/>
              <a:uFillTx/>
              <a:latin typeface="Arial"/>
            </a:endParaRPr>
          </a:p>
        </p:txBody>
      </p:sp>
      <p:sp>
        <p:nvSpPr>
          <p:cNvPr id="45" name="Textfeld 18"/>
          <p:cNvSpPr/>
          <p:nvPr/>
        </p:nvSpPr>
        <p:spPr>
          <a:xfrm>
            <a:off x="302040" y="3084480"/>
            <a:ext cx="6844680" cy="409680"/>
          </a:xfrm>
          <a:prstGeom prst="rect">
            <a:avLst/>
          </a:prstGeom>
          <a:solidFill>
            <a:schemeClr val="accent5">
              <a:lumMod val="75000"/>
            </a:schemeClr>
          </a:solidFill>
          <a:ln w="0">
            <a:noFill/>
          </a:ln>
        </p:spPr>
        <p:style>
          <a:lnRef idx="0"/>
          <a:fillRef idx="0"/>
          <a:effectRef idx="0"/>
          <a:fontRef idx="minor"/>
        </p:style>
        <p:txBody>
          <a:bodyPr lIns="104400" rIns="104400" tIns="52200" bIns="52200" anchor="t">
            <a:spAutoFit/>
          </a:bodyPr>
          <a:p>
            <a:pPr defTabSz="704880">
              <a:lnSpc>
                <a:spcPct val="114000"/>
              </a:lnSpc>
              <a:spcBef>
                <a:spcPts val="601"/>
              </a:spcBef>
              <a:tabLst>
                <a:tab algn="l" pos="0"/>
              </a:tabLst>
            </a:pPr>
            <a:r>
              <a:rPr b="0" lang="de-DE" sz="1800" strike="noStrike" u="none">
                <a:solidFill>
                  <a:schemeClr val="dk1"/>
                </a:solidFill>
                <a:effectLst/>
                <a:uFillTx/>
                <a:latin typeface="Avenir Book"/>
                <a:ea typeface="ＭＳ Ｐゴシック"/>
              </a:rPr>
              <a:t>    Formeln, Tabellen, Abbildungen und Grafiken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Planung – Wo fange ich an?</a:t>
            </a:r>
            <a:endParaRPr b="0" lang="de-DE" sz="2000" strike="noStrike" u="none">
              <a:solidFill>
                <a:schemeClr val="dk1"/>
              </a:solidFill>
              <a:effectLst/>
              <a:uFillTx/>
              <a:latin typeface="Arial"/>
            </a:endParaRPr>
          </a:p>
        </p:txBody>
      </p:sp>
      <p:cxnSp>
        <p:nvCxnSpPr>
          <p:cNvPr id="47" name="Gerade Verbindung 7"/>
          <p:cNvCxnSpPr/>
          <p:nvPr/>
        </p:nvCxnSpPr>
        <p:spPr>
          <a:xfrm>
            <a:off x="303840" y="532440"/>
            <a:ext cx="10081440" cy="360"/>
          </a:xfrm>
          <a:prstGeom prst="straightConnector1">
            <a:avLst/>
          </a:prstGeom>
          <a:ln>
            <a:solidFill>
              <a:srgbClr val="db0031"/>
            </a:solidFill>
            <a:round/>
          </a:ln>
        </p:spPr>
      </p:cxnSp>
      <p:sp>
        <p:nvSpPr>
          <p:cNvPr id="4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1. Planung &amp; Struktur eines Technischen Berichts</a:t>
            </a:r>
            <a:endParaRPr b="0" lang="de-DE" sz="1200" strike="noStrike" u="none">
              <a:solidFill>
                <a:srgbClr val="000000"/>
              </a:solidFill>
              <a:effectLst/>
              <a:uFillTx/>
              <a:latin typeface="Arial"/>
            </a:endParaRPr>
          </a:p>
        </p:txBody>
      </p:sp>
      <p:sp>
        <p:nvSpPr>
          <p:cNvPr id="49" name="Textfeld 9"/>
          <p:cNvSpPr/>
          <p:nvPr/>
        </p:nvSpPr>
        <p:spPr>
          <a:xfrm>
            <a:off x="304200" y="1250640"/>
            <a:ext cx="10080720" cy="447552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Versuchen Sie folgenden Fragen für sich zu beantworten – am besten schriftlich!</a:t>
            </a:r>
            <a:endParaRPr b="0" lang="de-DE" sz="1600" strike="noStrike" u="none">
              <a:solidFill>
                <a:srgbClr val="000000"/>
              </a:solidFill>
              <a:effectLst/>
              <a:uFillTx/>
              <a:latin typeface="Arial"/>
            </a:endParaRPr>
          </a:p>
          <a:p>
            <a:pPr defTabSz="704880">
              <a:lnSpc>
                <a:spcPct val="100000"/>
              </a:lnSpc>
              <a:spcBef>
                <a:spcPts val="601"/>
              </a:spcBef>
              <a:tabLst>
                <a:tab algn="l" pos="0"/>
              </a:tabLst>
            </a:pP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Was ist mein </a:t>
            </a:r>
            <a:r>
              <a:rPr b="1" lang="de-DE" sz="1600" strike="noStrike" u="none">
                <a:solidFill>
                  <a:srgbClr val="000000"/>
                </a:solidFill>
                <a:effectLst/>
                <a:uFillTx/>
                <a:latin typeface="Avenir Book"/>
                <a:ea typeface="ＭＳ Ｐゴシック"/>
              </a:rPr>
              <a:t>Ziel</a:t>
            </a:r>
            <a:r>
              <a:rPr b="0" lang="de-DE" sz="1600" strike="noStrike" u="none">
                <a:solidFill>
                  <a:srgbClr val="000000"/>
                </a:solidFill>
                <a:effectLst/>
                <a:uFillTx/>
                <a:latin typeface="Avenir Book"/>
                <a:ea typeface="ＭＳ Ｐゴシック"/>
              </a:rPr>
              <a:t>? Was versuche ich zu erreichen?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Welche </a:t>
            </a:r>
            <a:r>
              <a:rPr b="1" lang="de-DE" sz="1600" strike="noStrike" u="none">
                <a:solidFill>
                  <a:srgbClr val="000000"/>
                </a:solidFill>
                <a:effectLst/>
                <a:uFillTx/>
                <a:latin typeface="Avenir Book"/>
                <a:ea typeface="ＭＳ Ｐゴシック"/>
              </a:rPr>
              <a:t>Fragestellung</a:t>
            </a:r>
            <a:r>
              <a:rPr b="0" lang="de-DE" sz="1600" strike="noStrike" u="none">
                <a:solidFill>
                  <a:srgbClr val="000000"/>
                </a:solidFill>
                <a:effectLst/>
                <a:uFillTx/>
                <a:latin typeface="Avenir Book"/>
                <a:ea typeface="ＭＳ Ｐゴシック"/>
              </a:rPr>
              <a:t> versuche ich zu bearbeiten?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Was ist das </a:t>
            </a:r>
            <a:r>
              <a:rPr b="1" lang="de-DE" sz="1600" strike="noStrike" u="none">
                <a:solidFill>
                  <a:srgbClr val="000000"/>
                </a:solidFill>
                <a:effectLst/>
                <a:uFillTx/>
                <a:latin typeface="Avenir Book"/>
                <a:ea typeface="ＭＳ Ｐゴシック"/>
              </a:rPr>
              <a:t>Problem</a:t>
            </a:r>
            <a:r>
              <a:rPr b="0" lang="de-DE" sz="1600" strike="noStrike" u="none">
                <a:solidFill>
                  <a:srgbClr val="000000"/>
                </a:solidFill>
                <a:effectLst/>
                <a:uFillTx/>
                <a:latin typeface="Avenir Book"/>
                <a:ea typeface="ＭＳ Ｐゴシック"/>
              </a:rPr>
              <a:t> mit dem ich mich beschäftigen soll?</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Wer ist mein </a:t>
            </a:r>
            <a:r>
              <a:rPr b="1" lang="de-DE" sz="1600" strike="noStrike" u="none">
                <a:solidFill>
                  <a:srgbClr val="000000"/>
                </a:solidFill>
                <a:effectLst/>
                <a:uFillTx/>
                <a:latin typeface="Avenir Book"/>
                <a:ea typeface="ＭＳ Ｐゴシック"/>
              </a:rPr>
              <a:t>Zielpublikum</a:t>
            </a:r>
            <a:r>
              <a:rPr b="0" lang="de-DE" sz="1600" strike="noStrike" u="none">
                <a:solidFill>
                  <a:srgbClr val="000000"/>
                </a:solidFill>
                <a:effectLst/>
                <a:uFillTx/>
                <a:latin typeface="Avenir Book"/>
                <a:ea typeface="ＭＳ Ｐゴシック"/>
              </a:rPr>
              <a:t>? Für wen schreibe ich den Bericht?</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Was sind </a:t>
            </a:r>
            <a:r>
              <a:rPr b="1" lang="de-DE" sz="1600" strike="noStrike" u="none">
                <a:solidFill>
                  <a:srgbClr val="000000"/>
                </a:solidFill>
                <a:effectLst/>
                <a:uFillTx/>
                <a:latin typeface="Avenir Book"/>
                <a:ea typeface="ＭＳ Ｐゴシック"/>
              </a:rPr>
              <a:t>meine Lernziele</a:t>
            </a:r>
            <a:r>
              <a:rPr b="0" lang="de-DE" sz="1600" strike="noStrike" u="none">
                <a:solidFill>
                  <a:srgbClr val="000000"/>
                </a:solidFill>
                <a:effectLst/>
                <a:uFillTx/>
                <a:latin typeface="Avenir Book"/>
                <a:ea typeface="ＭＳ Ｐゴシック"/>
              </a:rPr>
              <a:t>?</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Welche </a:t>
            </a:r>
            <a:r>
              <a:rPr b="1" lang="de-DE" sz="1600" strike="noStrike" u="none">
                <a:solidFill>
                  <a:srgbClr val="000000"/>
                </a:solidFill>
                <a:effectLst/>
                <a:uFillTx/>
                <a:latin typeface="Avenir Book"/>
                <a:ea typeface="ＭＳ Ｐゴシック"/>
              </a:rPr>
              <a:t>Arbeitsschritte</a:t>
            </a:r>
            <a:r>
              <a:rPr b="0" lang="de-DE" sz="1600" strike="noStrike" u="none">
                <a:solidFill>
                  <a:srgbClr val="000000"/>
                </a:solidFill>
                <a:effectLst/>
                <a:uFillTx/>
                <a:latin typeface="Avenir Book"/>
                <a:ea typeface="ＭＳ Ｐゴシック"/>
              </a:rPr>
              <a:t> führen mich zum Ziel?</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Was brauche ich um mein Ziel zu erreichen?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        Welche </a:t>
            </a:r>
            <a:r>
              <a:rPr b="1" lang="de-DE" sz="1600" strike="noStrike" u="none">
                <a:solidFill>
                  <a:srgbClr val="000000"/>
                </a:solidFill>
                <a:effectLst/>
                <a:uFillTx/>
                <a:latin typeface="Avenir Book"/>
                <a:ea typeface="ＭＳ Ｐゴシック"/>
              </a:rPr>
              <a:t>Ressourcen &amp; Informationen </a:t>
            </a:r>
            <a:r>
              <a:rPr b="0" lang="de-DE" sz="1600" strike="noStrike" u="none">
                <a:solidFill>
                  <a:srgbClr val="000000"/>
                </a:solidFill>
                <a:effectLst/>
                <a:uFillTx/>
                <a:latin typeface="Avenir Book"/>
                <a:ea typeface="ＭＳ Ｐゴシック"/>
              </a:rPr>
              <a:t>brauche ich?</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           Welche Informationen habe ich schon? Welche nicht?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           Woher oder von wem könnte ich diese Informationen bekommen?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Aus welcher </a:t>
            </a:r>
            <a:r>
              <a:rPr b="1" lang="de-DE" sz="1600" strike="noStrike" u="none">
                <a:solidFill>
                  <a:srgbClr val="000000"/>
                </a:solidFill>
                <a:effectLst/>
                <a:uFillTx/>
                <a:latin typeface="Avenir Book"/>
                <a:ea typeface="ＭＳ Ｐゴシック"/>
              </a:rPr>
              <a:t>Perspektive</a:t>
            </a:r>
            <a:r>
              <a:rPr b="0" lang="de-DE" sz="1600" strike="noStrike" u="none">
                <a:solidFill>
                  <a:srgbClr val="000000"/>
                </a:solidFill>
                <a:effectLst/>
                <a:uFillTx/>
                <a:latin typeface="Avenir Book"/>
                <a:ea typeface="ＭＳ Ｐゴシック"/>
              </a:rPr>
              <a:t> betrachte ich das Problem? Welche anderen Blickwinkel sollte ich noch beachten? Welche sind relevant?</a:t>
            </a:r>
            <a:endParaRPr b="0" lang="de-DE" sz="1600" strike="noStrike" u="none">
              <a:solidFill>
                <a:srgbClr val="000000"/>
              </a:solidFill>
              <a:effectLst/>
              <a:uFillTx/>
              <a:latin typeface="Arial"/>
            </a:endParaRPr>
          </a:p>
        </p:txBody>
      </p:sp>
      <p:pic>
        <p:nvPicPr>
          <p:cNvPr id="50" name="Grafik 6" descr="Kopf mit Zahnrädern Silhouette"/>
          <p:cNvPicPr/>
          <p:nvPr/>
        </p:nvPicPr>
        <p:blipFill>
          <a:blip r:embed="rId1">
            <a:extLst>
              <a:ext uri="{96DAC541-7B7A-43D3-8B79-37D633B846F1}">
                <asvg:svgBlip xmlns:asvg="http://schemas.microsoft.com/office/drawing/2016/SVG/main" r:embed="rId2"/>
              </a:ext>
            </a:extLst>
          </a:blip>
          <a:stretch/>
        </p:blipFill>
        <p:spPr>
          <a:xfrm>
            <a:off x="9451080" y="2043000"/>
            <a:ext cx="1072080" cy="1072080"/>
          </a:xfrm>
          <a:prstGeom prst="rect">
            <a:avLst/>
          </a:prstGeom>
          <a:noFill/>
          <a:ln w="0">
            <a:noFill/>
          </a:ln>
        </p:spPr>
      </p:pic>
      <p:pic>
        <p:nvPicPr>
          <p:cNvPr id="51" name="Grafik 2" descr="Klemmbrett abgehakt Silhouette"/>
          <p:cNvPicPr/>
          <p:nvPr/>
        </p:nvPicPr>
        <p:blipFill>
          <a:blip r:embed="rId3">
            <a:extLst>
              <a:ext uri="{96DAC541-7B7A-43D3-8B79-37D633B846F1}">
                <asvg:svgBlip xmlns:asvg="http://schemas.microsoft.com/office/drawing/2016/SVG/main" r:embed="rId4"/>
              </a:ext>
            </a:extLst>
          </a:blip>
          <a:stretch/>
        </p:blipFill>
        <p:spPr>
          <a:xfrm>
            <a:off x="9540000" y="4068720"/>
            <a:ext cx="914040" cy="914040"/>
          </a:xfrm>
          <a:prstGeom prst="rect">
            <a:avLst/>
          </a:prstGeom>
          <a:noFill/>
          <a:ln w="0">
            <a:noFill/>
          </a:ln>
        </p:spPr>
      </p:pic>
      <p:pic>
        <p:nvPicPr>
          <p:cNvPr id="52" name="Grafik 10" descr="Skizze Silhouette"/>
          <p:cNvPicPr/>
          <p:nvPr/>
        </p:nvPicPr>
        <p:blipFill>
          <a:blip r:embed="rId5">
            <a:extLst>
              <a:ext uri="{96DAC541-7B7A-43D3-8B79-37D633B846F1}">
                <asvg:svgBlip xmlns:asvg="http://schemas.microsoft.com/office/drawing/2016/SVG/main" r:embed="rId6"/>
              </a:ext>
            </a:extLst>
          </a:blip>
          <a:stretch/>
        </p:blipFill>
        <p:spPr>
          <a:xfrm>
            <a:off x="9694440" y="3303720"/>
            <a:ext cx="692640" cy="692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Rechteck 14"/>
          <p:cNvSpPr/>
          <p:nvPr/>
        </p:nvSpPr>
        <p:spPr>
          <a:xfrm>
            <a:off x="2812680" y="5048280"/>
            <a:ext cx="4968360" cy="1468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54" name="Rechteck 13"/>
          <p:cNvSpPr/>
          <p:nvPr/>
        </p:nvSpPr>
        <p:spPr>
          <a:xfrm>
            <a:off x="2812680" y="4712040"/>
            <a:ext cx="4968360" cy="2707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55" name="Rechteck 12"/>
          <p:cNvSpPr/>
          <p:nvPr/>
        </p:nvSpPr>
        <p:spPr>
          <a:xfrm>
            <a:off x="2812680" y="3425040"/>
            <a:ext cx="4968360" cy="2829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56" name="Rechteck 11"/>
          <p:cNvSpPr/>
          <p:nvPr/>
        </p:nvSpPr>
        <p:spPr>
          <a:xfrm>
            <a:off x="2814840" y="3780720"/>
            <a:ext cx="4968360" cy="863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57" name="Rechteck 1"/>
          <p:cNvSpPr/>
          <p:nvPr/>
        </p:nvSpPr>
        <p:spPr>
          <a:xfrm>
            <a:off x="2812680" y="1476360"/>
            <a:ext cx="4968360" cy="1876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58"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Struktur – Wie ist ein Bericht aufgebaut?</a:t>
            </a:r>
            <a:endParaRPr b="0" lang="de-DE" sz="2000" strike="noStrike" u="none">
              <a:solidFill>
                <a:schemeClr val="dk1"/>
              </a:solidFill>
              <a:effectLst/>
              <a:uFillTx/>
              <a:latin typeface="Arial"/>
            </a:endParaRPr>
          </a:p>
        </p:txBody>
      </p:sp>
      <p:cxnSp>
        <p:nvCxnSpPr>
          <p:cNvPr id="59" name="Gerade Verbindung 7"/>
          <p:cNvCxnSpPr/>
          <p:nvPr/>
        </p:nvCxnSpPr>
        <p:spPr>
          <a:xfrm>
            <a:off x="303840" y="532440"/>
            <a:ext cx="10081440" cy="360"/>
          </a:xfrm>
          <a:prstGeom prst="straightConnector1">
            <a:avLst/>
          </a:prstGeom>
          <a:ln>
            <a:solidFill>
              <a:srgbClr val="db0031"/>
            </a:solidFill>
            <a:round/>
          </a:ln>
        </p:spPr>
      </p:cxnSp>
      <p:sp>
        <p:nvSpPr>
          <p:cNvPr id="60"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1. Planung &amp; Struktur eines Technischen Berichts</a:t>
            </a:r>
            <a:endParaRPr b="0" lang="de-DE" sz="1200" strike="noStrike" u="none">
              <a:solidFill>
                <a:srgbClr val="000000"/>
              </a:solidFill>
              <a:effectLst/>
              <a:uFillTx/>
              <a:latin typeface="Arial"/>
            </a:endParaRPr>
          </a:p>
        </p:txBody>
      </p:sp>
      <p:sp>
        <p:nvSpPr>
          <p:cNvPr id="61" name="Textfeld 9"/>
          <p:cNvSpPr/>
          <p:nvPr/>
        </p:nvSpPr>
        <p:spPr>
          <a:xfrm>
            <a:off x="3042360" y="1476360"/>
            <a:ext cx="4412160" cy="512172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Deckblatt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Eidesstattliche Erklärung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(Vorwort und Danksagung)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Kurzfassung/abstract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Inhaltsverzeichnis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Abkürzungsverzeichnis </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Einleitung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Methodik</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Ergebnisse</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Diskussion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Zusammenfassung und Ausblick</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Literaturverzeichnis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Abbildungsverzeichnis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Tabellenverzeichnis, ggf. Formelzeichen-verzeichnis, Normenverzeichnis,…)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Anhang </a:t>
            </a:r>
            <a:endParaRPr b="0" lang="de-DE" sz="1600" strike="noStrike" u="none">
              <a:solidFill>
                <a:srgbClr val="000000"/>
              </a:solidFill>
              <a:effectLst/>
              <a:uFillTx/>
              <a:latin typeface="Arial"/>
            </a:endParaRPr>
          </a:p>
        </p:txBody>
      </p:sp>
      <p:sp>
        <p:nvSpPr>
          <p:cNvPr id="62" name="Geschweifte Klammer links 4"/>
          <p:cNvSpPr/>
          <p:nvPr/>
        </p:nvSpPr>
        <p:spPr>
          <a:xfrm>
            <a:off x="2610360" y="1476360"/>
            <a:ext cx="71640" cy="1876320"/>
          </a:xfrm>
          <a:prstGeom prst="leftBrace">
            <a:avLst>
              <a:gd name="adj1" fmla="val 8333"/>
              <a:gd name="adj2" fmla="val 50000"/>
            </a:avLst>
          </a:prstGeom>
          <a:noFill/>
          <a:ln w="28575">
            <a:solidFill>
              <a:srgbClr val="000000"/>
            </a:solidFill>
            <a:round/>
          </a:ln>
        </p:spPr>
        <p:style>
          <a:lnRef idx="1">
            <a:schemeClr val="dk1"/>
          </a:lnRef>
          <a:fillRef idx="0">
            <a:schemeClr val="dk1"/>
          </a:fillRef>
          <a:effectRef idx="0">
            <a:schemeClr val="dk1"/>
          </a:effectRef>
          <a:fontRef idx="minor"/>
        </p:style>
        <p:txBody>
          <a:bodyPr lIns="90000" rIns="90000" tIns="45000" bIns="45000" anchor="ctr">
            <a:noAutofit/>
          </a:bodyPr>
          <a:p>
            <a:pPr algn="ctr">
              <a:lnSpc>
                <a:spcPct val="100000"/>
              </a:lnSpc>
            </a:pPr>
            <a:endParaRPr b="0" lang="de-DE" sz="3200" strike="noStrike" u="none">
              <a:solidFill>
                <a:schemeClr val="dk1"/>
              </a:solidFill>
              <a:effectLst/>
              <a:uFillTx/>
              <a:latin typeface="Arial"/>
            </a:endParaRPr>
          </a:p>
        </p:txBody>
      </p:sp>
      <p:sp>
        <p:nvSpPr>
          <p:cNvPr id="63" name="Textfeld 15"/>
          <p:cNvSpPr/>
          <p:nvPr/>
        </p:nvSpPr>
        <p:spPr>
          <a:xfrm>
            <a:off x="956880" y="2208960"/>
            <a:ext cx="1545120" cy="381960"/>
          </a:xfrm>
          <a:prstGeom prst="rect">
            <a:avLst/>
          </a:prstGeom>
          <a:no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„Titelei“</a:t>
            </a:r>
            <a:endParaRPr b="0" lang="de-DE" sz="1800" strike="noStrike" u="none">
              <a:solidFill>
                <a:srgbClr val="000000"/>
              </a:solidFill>
              <a:effectLst/>
              <a:uFillTx/>
              <a:latin typeface="Arial"/>
            </a:endParaRPr>
          </a:p>
        </p:txBody>
      </p:sp>
      <p:sp>
        <p:nvSpPr>
          <p:cNvPr id="64" name="Textfeld 16"/>
          <p:cNvSpPr/>
          <p:nvPr/>
        </p:nvSpPr>
        <p:spPr>
          <a:xfrm>
            <a:off x="956880" y="3398400"/>
            <a:ext cx="1545120" cy="381960"/>
          </a:xfrm>
          <a:prstGeom prst="rect">
            <a:avLst/>
          </a:prstGeom>
          <a:no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Einleitung</a:t>
            </a:r>
            <a:endParaRPr b="0" lang="de-DE" sz="1800" strike="noStrike" u="none">
              <a:solidFill>
                <a:srgbClr val="000000"/>
              </a:solidFill>
              <a:effectLst/>
              <a:uFillTx/>
              <a:latin typeface="Arial"/>
            </a:endParaRPr>
          </a:p>
        </p:txBody>
      </p:sp>
      <p:sp>
        <p:nvSpPr>
          <p:cNvPr id="65" name="Textfeld 17"/>
          <p:cNvSpPr/>
          <p:nvPr/>
        </p:nvSpPr>
        <p:spPr>
          <a:xfrm>
            <a:off x="920880" y="4046400"/>
            <a:ext cx="1545120" cy="381960"/>
          </a:xfrm>
          <a:prstGeom prst="rect">
            <a:avLst/>
          </a:prstGeom>
          <a:no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Hauptteil</a:t>
            </a:r>
            <a:endParaRPr b="0" lang="de-DE" sz="1800" strike="noStrike" u="none">
              <a:solidFill>
                <a:srgbClr val="000000"/>
              </a:solidFill>
              <a:effectLst/>
              <a:uFillTx/>
              <a:latin typeface="Arial"/>
            </a:endParaRPr>
          </a:p>
        </p:txBody>
      </p:sp>
      <p:sp>
        <p:nvSpPr>
          <p:cNvPr id="66" name="Textfeld 18"/>
          <p:cNvSpPr/>
          <p:nvPr/>
        </p:nvSpPr>
        <p:spPr>
          <a:xfrm>
            <a:off x="920880" y="4694400"/>
            <a:ext cx="1545120" cy="381960"/>
          </a:xfrm>
          <a:prstGeom prst="rect">
            <a:avLst/>
          </a:prstGeom>
          <a:no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Schluss</a:t>
            </a:r>
            <a:endParaRPr b="0" lang="de-DE" sz="1800" strike="noStrike" u="none">
              <a:solidFill>
                <a:srgbClr val="000000"/>
              </a:solidFill>
              <a:effectLst/>
              <a:uFillTx/>
              <a:latin typeface="Arial"/>
            </a:endParaRPr>
          </a:p>
        </p:txBody>
      </p:sp>
      <p:sp>
        <p:nvSpPr>
          <p:cNvPr id="67" name="Geschweifte Klammer links 19"/>
          <p:cNvSpPr/>
          <p:nvPr/>
        </p:nvSpPr>
        <p:spPr>
          <a:xfrm>
            <a:off x="2620440" y="3784680"/>
            <a:ext cx="61560" cy="859680"/>
          </a:xfrm>
          <a:prstGeom prst="leftBrace">
            <a:avLst>
              <a:gd name="adj1" fmla="val 8333"/>
              <a:gd name="adj2" fmla="val 50000"/>
            </a:avLst>
          </a:prstGeom>
          <a:noFill/>
          <a:ln w="28575">
            <a:solidFill>
              <a:srgbClr val="000000"/>
            </a:solidFill>
            <a:round/>
          </a:ln>
        </p:spPr>
        <p:style>
          <a:lnRef idx="1">
            <a:schemeClr val="dk1"/>
          </a:lnRef>
          <a:fillRef idx="0">
            <a:schemeClr val="dk1"/>
          </a:fillRef>
          <a:effectRef idx="0">
            <a:schemeClr val="dk1"/>
          </a:effectRef>
          <a:fontRef idx="minor"/>
        </p:style>
        <p:txBody>
          <a:bodyPr lIns="90000" rIns="90000" tIns="45000" bIns="45000" anchor="ctr">
            <a:noAutofit/>
          </a:bodyPr>
          <a:p>
            <a:pPr algn="ctr">
              <a:lnSpc>
                <a:spcPct val="100000"/>
              </a:lnSpc>
            </a:pPr>
            <a:endParaRPr b="0" lang="de-DE" sz="3200" strike="noStrike" u="none">
              <a:solidFill>
                <a:schemeClr val="dk1"/>
              </a:solidFill>
              <a:effectLst/>
              <a:uFillTx/>
              <a:latin typeface="Arial"/>
            </a:endParaRPr>
          </a:p>
        </p:txBody>
      </p:sp>
      <p:sp>
        <p:nvSpPr>
          <p:cNvPr id="68" name="Geschweifte Klammer links 20"/>
          <p:cNvSpPr/>
          <p:nvPr/>
        </p:nvSpPr>
        <p:spPr>
          <a:xfrm>
            <a:off x="2630880" y="5080320"/>
            <a:ext cx="61560" cy="1436040"/>
          </a:xfrm>
          <a:prstGeom prst="leftBrace">
            <a:avLst>
              <a:gd name="adj1" fmla="val 8333"/>
              <a:gd name="adj2" fmla="val 50000"/>
            </a:avLst>
          </a:prstGeom>
          <a:noFill/>
          <a:ln w="28575">
            <a:solidFill>
              <a:srgbClr val="000000"/>
            </a:solidFill>
            <a:round/>
          </a:ln>
        </p:spPr>
        <p:style>
          <a:lnRef idx="1">
            <a:schemeClr val="dk1"/>
          </a:lnRef>
          <a:fillRef idx="0">
            <a:schemeClr val="dk1"/>
          </a:fillRef>
          <a:effectRef idx="0">
            <a:schemeClr val="dk1"/>
          </a:effectRef>
          <a:fontRef idx="minor"/>
        </p:style>
        <p:txBody>
          <a:bodyPr lIns="90000" rIns="90000" tIns="45000" bIns="45000" anchor="ctr">
            <a:noAutofit/>
          </a:bodyPr>
          <a:p>
            <a:pPr algn="ctr">
              <a:lnSpc>
                <a:spcPct val="100000"/>
              </a:lnSpc>
            </a:pPr>
            <a:endParaRPr b="0" lang="de-DE" sz="3200" strike="noStrike" u="none">
              <a:solidFill>
                <a:schemeClr val="dk1"/>
              </a:solidFill>
              <a:effectLst/>
              <a:uFillTx/>
              <a:latin typeface="Arial"/>
            </a:endParaRPr>
          </a:p>
        </p:txBody>
      </p:sp>
      <p:sp>
        <p:nvSpPr>
          <p:cNvPr id="69" name="Textfeld 21"/>
          <p:cNvSpPr/>
          <p:nvPr/>
        </p:nvSpPr>
        <p:spPr>
          <a:xfrm>
            <a:off x="450000" y="5364720"/>
            <a:ext cx="2016000" cy="658800"/>
          </a:xfrm>
          <a:prstGeom prst="rect">
            <a:avLst/>
          </a:prstGeom>
          <a:no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Quellen &amp; zusätzliche Daten</a:t>
            </a:r>
            <a:endParaRPr b="0" lang="de-DE" sz="1800" strike="noStrike" u="none">
              <a:solidFill>
                <a:srgbClr val="000000"/>
              </a:solidFill>
              <a:effectLst/>
              <a:uFillTx/>
              <a:latin typeface="Arial"/>
            </a:endParaRPr>
          </a:p>
        </p:txBody>
      </p:sp>
      <p:pic>
        <p:nvPicPr>
          <p:cNvPr id="70" name="Grafik 22" descr="Gebäudesteinmauer Silhouette"/>
          <p:cNvPicPr/>
          <p:nvPr/>
        </p:nvPicPr>
        <p:blipFill>
          <a:blip r:embed="rId1">
            <a:extLst>
              <a:ext uri="{96DAC541-7B7A-43D3-8B79-37D633B846F1}">
                <asvg:svgBlip xmlns:asvg="http://schemas.microsoft.com/office/drawing/2016/SVG/main" r:embed="rId2"/>
              </a:ext>
            </a:extLst>
          </a:blip>
          <a:stretch/>
        </p:blipFill>
        <p:spPr>
          <a:xfrm>
            <a:off x="9528480" y="2864520"/>
            <a:ext cx="914040" cy="914040"/>
          </a:xfrm>
          <a:prstGeom prst="rect">
            <a:avLst/>
          </a:prstGeom>
          <a:noFill/>
          <a:ln w="0">
            <a:noFill/>
          </a:ln>
        </p:spPr>
      </p:pic>
      <p:pic>
        <p:nvPicPr>
          <p:cNvPr id="71" name="Grafik 26" descr="Liste Silhouette"/>
          <p:cNvPicPr/>
          <p:nvPr/>
        </p:nvPicPr>
        <p:blipFill>
          <a:blip r:embed="rId3">
            <a:extLst>
              <a:ext uri="{96DAC541-7B7A-43D3-8B79-37D633B846F1}">
                <asvg:svgBlip xmlns:asvg="http://schemas.microsoft.com/office/drawing/2016/SVG/main" r:embed="rId4"/>
              </a:ext>
            </a:extLst>
          </a:blip>
          <a:stretch/>
        </p:blipFill>
        <p:spPr>
          <a:xfrm>
            <a:off x="9528480" y="379764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Rechteck 23"/>
          <p:cNvSpPr/>
          <p:nvPr/>
        </p:nvSpPr>
        <p:spPr>
          <a:xfrm>
            <a:off x="376200" y="1496880"/>
            <a:ext cx="3445560" cy="1876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73"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Struktur - Zusätzliche Bemerkungen </a:t>
            </a:r>
            <a:endParaRPr b="0" lang="de-DE" sz="2000" strike="noStrike" u="none">
              <a:solidFill>
                <a:schemeClr val="dk1"/>
              </a:solidFill>
              <a:effectLst/>
              <a:uFillTx/>
              <a:latin typeface="Arial"/>
            </a:endParaRPr>
          </a:p>
        </p:txBody>
      </p:sp>
      <p:cxnSp>
        <p:nvCxnSpPr>
          <p:cNvPr id="74" name="Gerade Verbindung 7"/>
          <p:cNvCxnSpPr/>
          <p:nvPr/>
        </p:nvCxnSpPr>
        <p:spPr>
          <a:xfrm>
            <a:off x="303840" y="532440"/>
            <a:ext cx="10081440" cy="360"/>
          </a:xfrm>
          <a:prstGeom prst="straightConnector1">
            <a:avLst/>
          </a:prstGeom>
          <a:ln>
            <a:solidFill>
              <a:srgbClr val="db0031"/>
            </a:solidFill>
            <a:round/>
          </a:ln>
        </p:spPr>
      </p:cxnSp>
      <p:sp>
        <p:nvSpPr>
          <p:cNvPr id="75"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1. Planung &amp; Struktur eines Technischen Berichts</a:t>
            </a:r>
            <a:endParaRPr b="0" lang="de-DE" sz="1200" strike="noStrike" u="none">
              <a:solidFill>
                <a:srgbClr val="000000"/>
              </a:solidFill>
              <a:effectLst/>
              <a:uFillTx/>
              <a:latin typeface="Arial"/>
            </a:endParaRPr>
          </a:p>
        </p:txBody>
      </p:sp>
      <p:sp>
        <p:nvSpPr>
          <p:cNvPr id="76" name="Textfeld 9"/>
          <p:cNvSpPr/>
          <p:nvPr/>
        </p:nvSpPr>
        <p:spPr>
          <a:xfrm>
            <a:off x="509760" y="1451520"/>
            <a:ext cx="3312000" cy="19670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Deckblatt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Eidesstattliche Erklärung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(Vorwort und Danksagung)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Kurzfassung/abstract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Inhaltsverzeichnis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Abkürzungsverzeichnis </a:t>
            </a:r>
            <a:endParaRPr b="0" lang="de-DE" sz="1600" strike="noStrike" u="none">
              <a:solidFill>
                <a:srgbClr val="000000"/>
              </a:solidFill>
              <a:effectLst/>
              <a:uFillTx/>
              <a:latin typeface="Arial"/>
            </a:endParaRPr>
          </a:p>
        </p:txBody>
      </p:sp>
      <p:sp>
        <p:nvSpPr>
          <p:cNvPr id="77" name="Textfeld 24"/>
          <p:cNvSpPr/>
          <p:nvPr/>
        </p:nvSpPr>
        <p:spPr>
          <a:xfrm>
            <a:off x="4914720" y="1485720"/>
            <a:ext cx="4608000" cy="41522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Welche Angaben sollten auf dem Deckblatt enthalten sein?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Titel </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ggf. Untertitel</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Logo(s) (Hochschule, Firmen, Institutionen)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Art der Arbeit (z.B. Projektarbeit)</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Ort</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Zeitraum der Erstellung (z.B. Semester)</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Name der Verfasser*innen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Matrikelnummer</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Betreuer*innen</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Veranstaltung/Modul</a:t>
            </a:r>
            <a:endParaRPr b="0" lang="de-DE" sz="16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600" strike="noStrike" u="none">
              <a:solidFill>
                <a:srgbClr val="000000"/>
              </a:solidFill>
              <a:effectLst/>
              <a:uFillTx/>
              <a:latin typeface="Arial"/>
            </a:endParaRPr>
          </a:p>
        </p:txBody>
      </p:sp>
      <p:cxnSp>
        <p:nvCxnSpPr>
          <p:cNvPr id="78" name="Gerade Verbindung mit Pfeil 6"/>
          <p:cNvCxnSpPr/>
          <p:nvPr/>
        </p:nvCxnSpPr>
        <p:spPr>
          <a:xfrm>
            <a:off x="1674000" y="1620360"/>
            <a:ext cx="3024720" cy="360"/>
          </a:xfrm>
          <a:prstGeom prst="straightConnector1">
            <a:avLst/>
          </a:prstGeom>
          <a:ln w="38100">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hteck 23"/>
          <p:cNvSpPr/>
          <p:nvPr/>
        </p:nvSpPr>
        <p:spPr>
          <a:xfrm>
            <a:off x="376200" y="1496880"/>
            <a:ext cx="3445560" cy="1876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8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Struktur - Zusätzliche Bemerkungen </a:t>
            </a:r>
            <a:endParaRPr b="0" lang="de-DE" sz="2000" strike="noStrike" u="none">
              <a:solidFill>
                <a:schemeClr val="dk1"/>
              </a:solidFill>
              <a:effectLst/>
              <a:uFillTx/>
              <a:latin typeface="Arial"/>
            </a:endParaRPr>
          </a:p>
        </p:txBody>
      </p:sp>
      <p:cxnSp>
        <p:nvCxnSpPr>
          <p:cNvPr id="81" name="Gerade Verbindung 7"/>
          <p:cNvCxnSpPr/>
          <p:nvPr/>
        </p:nvCxnSpPr>
        <p:spPr>
          <a:xfrm>
            <a:off x="303840" y="532440"/>
            <a:ext cx="10081440" cy="360"/>
          </a:xfrm>
          <a:prstGeom prst="straightConnector1">
            <a:avLst/>
          </a:prstGeom>
          <a:ln>
            <a:solidFill>
              <a:srgbClr val="db0031"/>
            </a:solidFill>
            <a:round/>
          </a:ln>
        </p:spPr>
      </p:cxnSp>
      <p:sp>
        <p:nvSpPr>
          <p:cNvPr id="8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1. Planung &amp; Struktur eines Technischen Berichts</a:t>
            </a:r>
            <a:endParaRPr b="0" lang="de-DE" sz="1200" strike="noStrike" u="none">
              <a:solidFill>
                <a:srgbClr val="000000"/>
              </a:solidFill>
              <a:effectLst/>
              <a:uFillTx/>
              <a:latin typeface="Arial"/>
            </a:endParaRPr>
          </a:p>
        </p:txBody>
      </p:sp>
      <p:sp>
        <p:nvSpPr>
          <p:cNvPr id="83" name="Textfeld 9"/>
          <p:cNvSpPr/>
          <p:nvPr/>
        </p:nvSpPr>
        <p:spPr>
          <a:xfrm>
            <a:off x="509760" y="1451520"/>
            <a:ext cx="3312000" cy="19670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Deckblatt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Eidesstattliche Erklärung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(Vorwort und Danksagung)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Kurzfassung/abstract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Inhaltsverzeichnis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Abkürzungsverzeichnis </a:t>
            </a:r>
            <a:endParaRPr b="0" lang="de-DE" sz="1600" strike="noStrike" u="none">
              <a:solidFill>
                <a:srgbClr val="000000"/>
              </a:solidFill>
              <a:effectLst/>
              <a:uFillTx/>
              <a:latin typeface="Arial"/>
            </a:endParaRPr>
          </a:p>
        </p:txBody>
      </p:sp>
      <p:sp>
        <p:nvSpPr>
          <p:cNvPr id="84" name="Textfeld 24"/>
          <p:cNvSpPr/>
          <p:nvPr/>
        </p:nvSpPr>
        <p:spPr>
          <a:xfrm>
            <a:off x="4914720" y="1451520"/>
            <a:ext cx="5616360" cy="3513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Wie kann eine Eidesstattliche Erklärung aussehen?</a:t>
            </a:r>
            <a:r>
              <a:rPr b="0" lang="de-DE" sz="1000" strike="noStrike" u="none">
                <a:solidFill>
                  <a:srgbClr val="000000"/>
                </a:solidFill>
                <a:effectLst/>
                <a:uFillTx/>
                <a:latin typeface="Avenir Book"/>
                <a:ea typeface="ＭＳ Ｐゴシック"/>
              </a:rPr>
              <a:t> (Ein Beispiel)</a:t>
            </a:r>
            <a:endParaRPr b="0" lang="de-DE" sz="1000" strike="noStrike" u="none">
              <a:solidFill>
                <a:srgbClr val="000000"/>
              </a:solidFill>
              <a:effectLst/>
              <a:uFillTx/>
              <a:latin typeface="Arial"/>
            </a:endParaRPr>
          </a:p>
        </p:txBody>
      </p:sp>
      <p:cxnSp>
        <p:nvCxnSpPr>
          <p:cNvPr id="85" name="Gerade Verbindung mit Pfeil 6"/>
          <p:cNvCxnSpPr/>
          <p:nvPr/>
        </p:nvCxnSpPr>
        <p:spPr>
          <a:xfrm>
            <a:off x="2957760" y="1908360"/>
            <a:ext cx="1728720" cy="360"/>
          </a:xfrm>
          <a:prstGeom prst="straightConnector1">
            <a:avLst/>
          </a:prstGeom>
          <a:ln w="38100">
            <a:solidFill>
              <a:srgbClr val="000000"/>
            </a:solidFill>
            <a:round/>
            <a:tailEnd len="med" type="triangle" w="med"/>
          </a:ln>
        </p:spPr>
      </p:cxnSp>
      <p:sp>
        <p:nvSpPr>
          <p:cNvPr id="86" name="Textfeld 10"/>
          <p:cNvSpPr/>
          <p:nvPr/>
        </p:nvSpPr>
        <p:spPr>
          <a:xfrm>
            <a:off x="4935960" y="4428720"/>
            <a:ext cx="5470200" cy="1936080"/>
          </a:xfrm>
          <a:prstGeom prst="rect">
            <a:avLst/>
          </a:prstGeom>
          <a:solidFill>
            <a:schemeClr val="accent5"/>
          </a:solidFill>
          <a:ln w="0">
            <a:solidFill>
              <a:srgbClr val="daedef">
                <a:lumMod val="50000"/>
              </a:srgbClr>
            </a:solid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Warum ist sie wichtig?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400" strike="noStrike" u="none">
                <a:solidFill>
                  <a:schemeClr val="dk1"/>
                </a:solidFill>
                <a:effectLst/>
                <a:uFillTx/>
                <a:latin typeface="Avenir Book"/>
                <a:ea typeface="ＭＳ Ｐゴシック"/>
              </a:rPr>
              <a:t>Ein Plagiat liegt vor, wenn „Texte Dritter ganz oder teilweise, wörtlich oder nahezu wörtlich übernommen und als eigene wissenschaftliche Leistung ausgegeben werden. Ein solches Vorgehen widerspricht nicht nur guter wissenschaftlicher Praxis, es ist auch eine Form des geistigen Diebstahls und damit eine Verletzung des Urheberrechts.“ (Resolution des Deutschen Hochschulverbandes vom 17. Juli 2002)</a:t>
            </a:r>
            <a:endParaRPr b="0" lang="de-DE" sz="1400" strike="noStrike" u="none">
              <a:solidFill>
                <a:srgbClr val="000000"/>
              </a:solidFill>
              <a:effectLst/>
              <a:uFillTx/>
              <a:latin typeface="Arial"/>
            </a:endParaRPr>
          </a:p>
        </p:txBody>
      </p:sp>
      <p:pic>
        <p:nvPicPr>
          <p:cNvPr id="87" name="Grafik 4" descr=""/>
          <p:cNvPicPr/>
          <p:nvPr/>
        </p:nvPicPr>
        <p:blipFill>
          <a:blip r:embed="rId1"/>
          <a:srcRect l="25081" t="34154" r="20367" b="23063"/>
          <a:stretch/>
        </p:blipFill>
        <p:spPr>
          <a:xfrm>
            <a:off x="5058720" y="1897920"/>
            <a:ext cx="4536000" cy="2223360"/>
          </a:xfrm>
          <a:prstGeom prst="rect">
            <a:avLst/>
          </a:prstGeom>
          <a:noFill/>
          <a:ln w="28575">
            <a:solidFill>
              <a:srgbClr val="000000"/>
            </a:solidFill>
            <a:round/>
          </a:ln>
        </p:spPr>
      </p:pic>
      <p:pic>
        <p:nvPicPr>
          <p:cNvPr id="88" name="Grafik 11" descr="Kommentar (wichtig) mit einfarbiger Füllung"/>
          <p:cNvPicPr/>
          <p:nvPr/>
        </p:nvPicPr>
        <p:blipFill>
          <a:blip r:embed="rId2">
            <a:extLst>
              <a:ext uri="{96DAC541-7B7A-43D3-8B79-37D633B846F1}">
                <asvg:svgBlip xmlns:asvg="http://schemas.microsoft.com/office/drawing/2016/SVG/main" r:embed="rId3"/>
              </a:ext>
            </a:extLst>
          </a:blip>
          <a:stretch/>
        </p:blipFill>
        <p:spPr>
          <a:xfrm>
            <a:off x="9762120" y="4428720"/>
            <a:ext cx="644400" cy="6444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Rechteck 23"/>
          <p:cNvSpPr/>
          <p:nvPr/>
        </p:nvSpPr>
        <p:spPr>
          <a:xfrm>
            <a:off x="376200" y="1496880"/>
            <a:ext cx="3445560" cy="1876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3200" strike="noStrike" u="none">
              <a:solidFill>
                <a:schemeClr val="lt1"/>
              </a:solidFill>
              <a:effectLst/>
              <a:uFillTx/>
              <a:latin typeface="Arial"/>
            </a:endParaRPr>
          </a:p>
        </p:txBody>
      </p:sp>
      <p:sp>
        <p:nvSpPr>
          <p:cNvPr id="9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Struktur - Zusätzliche Bemerkungen </a:t>
            </a:r>
            <a:endParaRPr b="0" lang="de-DE" sz="2000" strike="noStrike" u="none">
              <a:solidFill>
                <a:schemeClr val="dk1"/>
              </a:solidFill>
              <a:effectLst/>
              <a:uFillTx/>
              <a:latin typeface="Arial"/>
            </a:endParaRPr>
          </a:p>
        </p:txBody>
      </p:sp>
      <p:cxnSp>
        <p:nvCxnSpPr>
          <p:cNvPr id="91" name="Gerade Verbindung 7"/>
          <p:cNvCxnSpPr/>
          <p:nvPr/>
        </p:nvCxnSpPr>
        <p:spPr>
          <a:xfrm>
            <a:off x="303840" y="532440"/>
            <a:ext cx="10081440" cy="360"/>
          </a:xfrm>
          <a:prstGeom prst="straightConnector1">
            <a:avLst/>
          </a:prstGeom>
          <a:ln>
            <a:solidFill>
              <a:srgbClr val="db0031"/>
            </a:solidFill>
            <a:round/>
          </a:ln>
        </p:spPr>
      </p:cxnSp>
      <p:sp>
        <p:nvSpPr>
          <p:cNvPr id="9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1. Planung &amp; Struktur eines Technischen Berichts</a:t>
            </a:r>
            <a:endParaRPr b="0" lang="de-DE" sz="1200" strike="noStrike" u="none">
              <a:solidFill>
                <a:srgbClr val="000000"/>
              </a:solidFill>
              <a:effectLst/>
              <a:uFillTx/>
              <a:latin typeface="Arial"/>
            </a:endParaRPr>
          </a:p>
        </p:txBody>
      </p:sp>
      <p:sp>
        <p:nvSpPr>
          <p:cNvPr id="93" name="Textfeld 9"/>
          <p:cNvSpPr/>
          <p:nvPr/>
        </p:nvSpPr>
        <p:spPr>
          <a:xfrm>
            <a:off x="509760" y="1451520"/>
            <a:ext cx="3312000" cy="19670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Deckblatt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Eidesstattliche Erklärung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(Vorwort und Danksagung)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Kurzfassung/abstract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Inhaltsverzeichnis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Abkürzungsverzeichnis </a:t>
            </a:r>
            <a:endParaRPr b="0" lang="de-DE" sz="1600" strike="noStrike" u="none">
              <a:solidFill>
                <a:srgbClr val="000000"/>
              </a:solidFill>
              <a:effectLst/>
              <a:uFillTx/>
              <a:latin typeface="Arial"/>
            </a:endParaRPr>
          </a:p>
        </p:txBody>
      </p:sp>
      <p:sp>
        <p:nvSpPr>
          <p:cNvPr id="94" name="Textfeld 24"/>
          <p:cNvSpPr/>
          <p:nvPr/>
        </p:nvSpPr>
        <p:spPr>
          <a:xfrm>
            <a:off x="4914720" y="2380680"/>
            <a:ext cx="5616360" cy="189000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Fasst die Arbeit in wenigen Sätzen zusammen und gibt einen kurzen Überblick über:</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Problemstellung</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Methodik/Vorgehensweise</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Lösungsansatz</a:t>
            </a:r>
            <a:endParaRPr b="0" lang="de-DE" sz="16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600" strike="noStrike" u="none">
                <a:solidFill>
                  <a:srgbClr val="000000"/>
                </a:solidFill>
                <a:effectLst/>
                <a:uFillTx/>
                <a:latin typeface="Avenir Book"/>
                <a:ea typeface="ＭＳ Ｐゴシック"/>
              </a:rPr>
              <a:t>Ergebnisse</a:t>
            </a:r>
            <a:endParaRPr b="0" lang="de-DE" sz="1600" strike="noStrike" u="none">
              <a:solidFill>
                <a:srgbClr val="000000"/>
              </a:solidFill>
              <a:effectLst/>
              <a:uFillTx/>
              <a:latin typeface="Arial"/>
            </a:endParaRPr>
          </a:p>
        </p:txBody>
      </p:sp>
      <p:cxnSp>
        <p:nvCxnSpPr>
          <p:cNvPr id="95" name="Gerade Verbindung mit Pfeil 6"/>
          <p:cNvCxnSpPr/>
          <p:nvPr/>
        </p:nvCxnSpPr>
        <p:spPr>
          <a:xfrm>
            <a:off x="2957760" y="2556360"/>
            <a:ext cx="1728720" cy="360"/>
          </a:xfrm>
          <a:prstGeom prst="straightConnector1">
            <a:avLst/>
          </a:prstGeom>
          <a:ln w="38100">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Einleitung</a:t>
            </a:r>
            <a:endParaRPr b="0" lang="de-DE" sz="2000" strike="noStrike" u="none">
              <a:solidFill>
                <a:schemeClr val="dk1"/>
              </a:solidFill>
              <a:effectLst/>
              <a:uFillTx/>
              <a:latin typeface="Arial"/>
            </a:endParaRPr>
          </a:p>
        </p:txBody>
      </p:sp>
      <p:cxnSp>
        <p:nvCxnSpPr>
          <p:cNvPr id="97" name="Gerade Verbindung 7"/>
          <p:cNvCxnSpPr/>
          <p:nvPr/>
        </p:nvCxnSpPr>
        <p:spPr>
          <a:xfrm>
            <a:off x="303840" y="532440"/>
            <a:ext cx="10081440" cy="360"/>
          </a:xfrm>
          <a:prstGeom prst="straightConnector1">
            <a:avLst/>
          </a:prstGeom>
          <a:ln>
            <a:solidFill>
              <a:srgbClr val="db0031"/>
            </a:solidFill>
            <a:round/>
          </a:ln>
        </p:spPr>
      </p:cxnSp>
      <p:sp>
        <p:nvSpPr>
          <p:cNvPr id="9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2. Ausarbeitung des Berichts</a:t>
            </a:r>
            <a:endParaRPr b="0" lang="de-DE" sz="1200" strike="noStrike" u="none">
              <a:solidFill>
                <a:srgbClr val="000000"/>
              </a:solidFill>
              <a:effectLst/>
              <a:uFillTx/>
              <a:latin typeface="Arial"/>
            </a:endParaRPr>
          </a:p>
        </p:txBody>
      </p:sp>
      <p:sp>
        <p:nvSpPr>
          <p:cNvPr id="99" name="Textfeld 9"/>
          <p:cNvSpPr/>
          <p:nvPr/>
        </p:nvSpPr>
        <p:spPr>
          <a:xfrm>
            <a:off x="304200" y="1252440"/>
            <a:ext cx="9794880" cy="464472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Beschriebt die </a:t>
            </a:r>
            <a:r>
              <a:rPr b="1" lang="de-DE" sz="1800" strike="noStrike" u="none">
                <a:solidFill>
                  <a:srgbClr val="000000"/>
                </a:solidFill>
                <a:effectLst/>
                <a:uFillTx/>
                <a:latin typeface="Avenir Book"/>
                <a:ea typeface="ＭＳ Ｐゴシック"/>
              </a:rPr>
              <a:t>Problemstellung</a:t>
            </a:r>
            <a:r>
              <a:rPr b="0" lang="de-DE" sz="1800" strike="noStrike" u="none">
                <a:solidFill>
                  <a:srgbClr val="000000"/>
                </a:solidFill>
                <a:effectLst/>
                <a:uFillTx/>
                <a:latin typeface="Avenir Book"/>
                <a:ea typeface="ＭＳ Ｐゴシック"/>
              </a:rPr>
              <a:t> und die </a:t>
            </a:r>
            <a:r>
              <a:rPr b="0" lang="de-DE" sz="1800" strike="noStrike" u="sng">
                <a:solidFill>
                  <a:srgbClr val="000000"/>
                </a:solidFill>
                <a:effectLst/>
                <a:uFillTx/>
                <a:latin typeface="Avenir Book"/>
                <a:ea typeface="ＭＳ Ｐゴシック"/>
              </a:rPr>
              <a:t>Relevanz</a:t>
            </a:r>
            <a:r>
              <a:rPr b="0" lang="de-DE" sz="1800" strike="noStrike" u="none">
                <a:solidFill>
                  <a:srgbClr val="000000"/>
                </a:solidFill>
                <a:effectLst/>
                <a:uFillTx/>
                <a:latin typeface="Avenir Book"/>
                <a:ea typeface="ＭＳ Ｐゴシック"/>
              </a:rPr>
              <a:t> des Projektes für die jeweilige wissenschaftliche </a:t>
            </a:r>
            <a:r>
              <a:rPr b="0" lang="de-DE" sz="1800" strike="noStrike" u="sng">
                <a:solidFill>
                  <a:srgbClr val="000000"/>
                </a:solidFill>
                <a:effectLst/>
                <a:uFillTx/>
                <a:latin typeface="Avenir Book"/>
                <a:ea typeface="ＭＳ Ｐゴシック"/>
              </a:rPr>
              <a:t>Fachdisziplin</a:t>
            </a:r>
            <a:r>
              <a:rPr b="0" lang="de-DE" sz="1800" strike="noStrike" u="none">
                <a:solidFill>
                  <a:srgbClr val="000000"/>
                </a:solidFill>
                <a:effectLst/>
                <a:uFillTx/>
                <a:latin typeface="Avenir Book"/>
                <a:ea typeface="ＭＳ Ｐゴシック"/>
              </a:rPr>
              <a:t> und die für die </a:t>
            </a:r>
            <a:r>
              <a:rPr b="0" lang="de-DE" sz="1800" strike="noStrike" u="sng">
                <a:solidFill>
                  <a:srgbClr val="000000"/>
                </a:solidFill>
                <a:effectLst/>
                <a:uFillTx/>
                <a:latin typeface="Avenir Book"/>
                <a:ea typeface="ＭＳ Ｐゴシック"/>
              </a:rPr>
              <a:t>Gesellschaft</a:t>
            </a:r>
            <a:r>
              <a:rPr b="0" lang="de-DE" sz="1800" strike="noStrike" u="none">
                <a:solidFill>
                  <a:srgbClr val="000000"/>
                </a:solidFill>
                <a:effectLst/>
                <a:uFillTx/>
                <a:latin typeface="Avenir Book"/>
                <a:ea typeface="ＭＳ Ｐゴシック"/>
              </a:rPr>
              <a:t> zu erwartenden Auswirkungen der Forschungs- bzw. Arbeitsergebnisse etc.</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Kann Überlegungen zu Verbindungen mit anderen Bereichen enthalten (z.B. Ökologie, Soziales, Ökonomie…)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Beschreibt Rahmenbedingungen der Arbeit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Beeinflusst stark die </a:t>
            </a:r>
            <a:r>
              <a:rPr b="1" lang="de-DE" sz="1800" strike="noStrike" u="none">
                <a:solidFill>
                  <a:srgbClr val="000000"/>
                </a:solidFill>
                <a:effectLst/>
                <a:uFillTx/>
                <a:latin typeface="Avenir Book"/>
                <a:ea typeface="ＭＳ Ｐゴシック"/>
              </a:rPr>
              <a:t>Motivation</a:t>
            </a:r>
            <a:r>
              <a:rPr b="0" lang="de-DE" sz="1800" strike="noStrike" u="none">
                <a:solidFill>
                  <a:srgbClr val="000000"/>
                </a:solidFill>
                <a:effectLst/>
                <a:uFillTx/>
                <a:latin typeface="Avenir Book"/>
                <a:ea typeface="ＭＳ Ｐゴシック"/>
              </a:rPr>
              <a:t> des Lesers für die gedankliche Auseinandersetzung mit den Inhalten in Ihrem Technischen Bericht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Enthält eine kurze Beschreibung der Struktur der Arbeit mit:</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Problemstellung</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Ziel der Arbeit</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Lösungsansatz</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eingesetzte bzw. untersuchte Methoden</a:t>
            </a: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600" strike="noStrike" u="none">
              <a:solidFill>
                <a:srgbClr val="000000"/>
              </a:solidFill>
              <a:effectLst/>
              <a:uFillTx/>
              <a:latin typeface="Arial"/>
            </a:endParaRPr>
          </a:p>
        </p:txBody>
      </p:sp>
      <p:sp>
        <p:nvSpPr>
          <p:cNvPr id="100" name="Textfeld 27"/>
          <p:cNvSpPr/>
          <p:nvPr/>
        </p:nvSpPr>
        <p:spPr>
          <a:xfrm>
            <a:off x="6095160" y="5437800"/>
            <a:ext cx="4146120" cy="997560"/>
          </a:xfrm>
          <a:prstGeom prst="rect">
            <a:avLst/>
          </a:prstGeom>
          <a:solidFill>
            <a:schemeClr val="accent5">
              <a:lumMod val="90000"/>
            </a:schemeClr>
          </a:solidFill>
          <a:ln w="0">
            <a:solidFill>
              <a:srgbClr val="daedef">
                <a:lumMod val="50000"/>
              </a:srgbClr>
            </a:solid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200" strike="noStrike" u="none">
                <a:solidFill>
                  <a:srgbClr val="000000"/>
                </a:solidFill>
                <a:effectLst/>
                <a:uFillTx/>
                <a:latin typeface="Avenir Book"/>
                <a:ea typeface="ＭＳ Ｐゴシック"/>
              </a:rPr>
              <a:t>Fragen Sie sich: </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Welche Informationen brauchen Leser*innen um weiterlesen zu wollen?</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Wie schaffe ich einen guten Überblick?</a:t>
            </a:r>
            <a:endParaRPr b="0" lang="de-DE" sz="1200" strike="noStrike" u="none">
              <a:solidFill>
                <a:srgbClr val="000000"/>
              </a:solidFill>
              <a:effectLst/>
              <a:uFillTx/>
              <a:latin typeface="Arial"/>
            </a:endParaRPr>
          </a:p>
        </p:txBody>
      </p:sp>
      <p:pic>
        <p:nvPicPr>
          <p:cNvPr id="101" name="Grafik 28" descr="Kopf mit Zahnrädern Silhouette"/>
          <p:cNvPicPr/>
          <p:nvPr/>
        </p:nvPicPr>
        <p:blipFill>
          <a:blip r:embed="rId1">
            <a:extLst>
              <a:ext uri="{96DAC541-7B7A-43D3-8B79-37D633B846F1}">
                <asvg:svgBlip xmlns:asvg="http://schemas.microsoft.com/office/drawing/2016/SVG/main" r:embed="rId2"/>
              </a:ext>
            </a:extLst>
          </a:blip>
          <a:stretch/>
        </p:blipFill>
        <p:spPr>
          <a:xfrm>
            <a:off x="6095160" y="5443200"/>
            <a:ext cx="621360" cy="6213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Hauptteil</a:t>
            </a:r>
            <a:endParaRPr b="0" lang="de-DE" sz="2000" strike="noStrike" u="none">
              <a:solidFill>
                <a:schemeClr val="dk1"/>
              </a:solidFill>
              <a:effectLst/>
              <a:uFillTx/>
              <a:latin typeface="Arial"/>
            </a:endParaRPr>
          </a:p>
        </p:txBody>
      </p:sp>
      <p:cxnSp>
        <p:nvCxnSpPr>
          <p:cNvPr id="103" name="Gerade Verbindung 7"/>
          <p:cNvCxnSpPr/>
          <p:nvPr/>
        </p:nvCxnSpPr>
        <p:spPr>
          <a:xfrm>
            <a:off x="303840" y="532440"/>
            <a:ext cx="10081440" cy="360"/>
          </a:xfrm>
          <a:prstGeom prst="straightConnector1">
            <a:avLst/>
          </a:prstGeom>
          <a:ln>
            <a:solidFill>
              <a:srgbClr val="db0031"/>
            </a:solidFill>
            <a:round/>
          </a:ln>
        </p:spPr>
      </p:cxnSp>
      <p:sp>
        <p:nvSpPr>
          <p:cNvPr id="104"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2. Ausarbeitung des Berichts</a:t>
            </a:r>
            <a:endParaRPr b="0" lang="de-DE" sz="1200" strike="noStrike" u="none">
              <a:solidFill>
                <a:srgbClr val="000000"/>
              </a:solidFill>
              <a:effectLst/>
              <a:uFillTx/>
              <a:latin typeface="Arial"/>
            </a:endParaRPr>
          </a:p>
        </p:txBody>
      </p:sp>
      <p:sp>
        <p:nvSpPr>
          <p:cNvPr id="105" name="Textfeld 9"/>
          <p:cNvSpPr/>
          <p:nvPr/>
        </p:nvSpPr>
        <p:spPr>
          <a:xfrm>
            <a:off x="304200" y="1252440"/>
            <a:ext cx="9146880" cy="330588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Ist die eigentliche Berichtserstattung über das technische Projekt und wird in einer verständlichen und klaren (Fach-)Sprache geschrieben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Erklärt die </a:t>
            </a:r>
            <a:r>
              <a:rPr b="1" lang="de-DE" sz="1800" strike="noStrike" u="none">
                <a:solidFill>
                  <a:srgbClr val="000000"/>
                </a:solidFill>
                <a:effectLst/>
                <a:uFillTx/>
                <a:latin typeface="Avenir Book"/>
                <a:ea typeface="ＭＳ Ｐゴシック"/>
              </a:rPr>
              <a:t>Problemstellung</a:t>
            </a:r>
            <a:r>
              <a:rPr b="0" lang="de-DE" sz="1800" strike="noStrike" u="none">
                <a:solidFill>
                  <a:srgbClr val="000000"/>
                </a:solidFill>
                <a:effectLst/>
                <a:uFillTx/>
                <a:latin typeface="Avenir Book"/>
                <a:ea typeface="ＭＳ Ｐゴシック"/>
              </a:rPr>
              <a:t> im Detail</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Erklärt detailliert die </a:t>
            </a:r>
            <a:r>
              <a:rPr b="1" lang="de-DE" sz="1800" strike="noStrike" u="none">
                <a:solidFill>
                  <a:srgbClr val="000000"/>
                </a:solidFill>
                <a:effectLst/>
                <a:uFillTx/>
                <a:latin typeface="Avenir Book"/>
                <a:ea typeface="ＭＳ Ｐゴシック"/>
              </a:rPr>
              <a:t>Methodik</a:t>
            </a:r>
            <a:r>
              <a:rPr b="0" lang="de-DE" sz="1800" strike="noStrike" u="none">
                <a:solidFill>
                  <a:srgbClr val="000000"/>
                </a:solidFill>
                <a:effectLst/>
                <a:uFillTx/>
                <a:latin typeface="Avenir Book"/>
                <a:ea typeface="ＭＳ Ｐゴシック"/>
              </a:rPr>
              <a:t> bzw. Herangehensweise der Bearbeitung der Problemstellung</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Aufführung der </a:t>
            </a:r>
            <a:r>
              <a:rPr b="1" lang="de-DE" sz="1800" strike="noStrike" u="none">
                <a:solidFill>
                  <a:srgbClr val="000000"/>
                </a:solidFill>
                <a:effectLst/>
                <a:uFillTx/>
                <a:latin typeface="Avenir Book"/>
                <a:ea typeface="ＭＳ Ｐゴシック"/>
              </a:rPr>
              <a:t>Ergebnisse</a:t>
            </a:r>
            <a:r>
              <a:rPr b="0" lang="de-DE" sz="1800" strike="noStrike" u="none">
                <a:solidFill>
                  <a:srgbClr val="000000"/>
                </a:solidFill>
                <a:effectLst/>
                <a:uFillTx/>
                <a:latin typeface="Avenir Book"/>
                <a:ea typeface="ＭＳ Ｐゴシック"/>
              </a:rPr>
              <a: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Ergebnisse werden in einen umfassenden </a:t>
            </a:r>
            <a:r>
              <a:rPr b="1" lang="de-DE" sz="1800" strike="noStrike" u="none">
                <a:solidFill>
                  <a:srgbClr val="000000"/>
                </a:solidFill>
                <a:effectLst/>
                <a:uFillTx/>
                <a:latin typeface="Avenir Book"/>
                <a:ea typeface="ＭＳ Ｐゴシック"/>
              </a:rPr>
              <a:t>Kontext</a:t>
            </a:r>
            <a:r>
              <a:rPr b="0" lang="de-DE" sz="1800" strike="noStrike" u="none">
                <a:solidFill>
                  <a:srgbClr val="000000"/>
                </a:solidFill>
                <a:effectLst/>
                <a:uFillTx/>
                <a:latin typeface="Avenir Book"/>
                <a:ea typeface="ＭＳ Ｐゴシック"/>
              </a:rPr>
              <a:t> zur Ausgangslage, Problemstellung, Methodik gestellt und so </a:t>
            </a:r>
            <a:r>
              <a:rPr b="1" lang="de-DE" sz="1800" strike="noStrike" u="none">
                <a:solidFill>
                  <a:srgbClr val="000000"/>
                </a:solidFill>
                <a:effectLst/>
                <a:uFillTx/>
                <a:latin typeface="Avenir Book"/>
                <a:ea typeface="ＭＳ Ｐゴシック"/>
              </a:rPr>
              <a:t>interpretiert</a:t>
            </a:r>
            <a:r>
              <a:rPr b="0" lang="de-DE" sz="1800" strike="noStrike" u="none">
                <a:solidFill>
                  <a:srgbClr val="000000"/>
                </a:solidFill>
                <a:effectLst/>
                <a:uFillTx/>
                <a:latin typeface="Avenir Book"/>
                <a:ea typeface="ＭＳ Ｐゴシック"/>
              </a:rPr>
              <a:t> und </a:t>
            </a:r>
            <a:r>
              <a:rPr b="1" lang="de-DE" sz="1800" strike="noStrike" u="none">
                <a:solidFill>
                  <a:srgbClr val="000000"/>
                </a:solidFill>
                <a:effectLst/>
                <a:uFillTx/>
                <a:latin typeface="Avenir Book"/>
                <a:ea typeface="ＭＳ Ｐゴシック"/>
              </a:rPr>
              <a:t>diskutiert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Text wird durch Abbildungen, Diagramme, Skizzen, Tabelle etc. veranschaulicht</a:t>
            </a: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600" strike="noStrike" u="none">
              <a:solidFill>
                <a:srgbClr val="000000"/>
              </a:solidFill>
              <a:effectLst/>
              <a:uFillTx/>
              <a:latin typeface="Arial"/>
            </a:endParaRPr>
          </a:p>
        </p:txBody>
      </p:sp>
      <p:sp>
        <p:nvSpPr>
          <p:cNvPr id="106" name="Textfeld 27"/>
          <p:cNvSpPr/>
          <p:nvPr/>
        </p:nvSpPr>
        <p:spPr>
          <a:xfrm>
            <a:off x="6095160" y="5437800"/>
            <a:ext cx="4146120" cy="551160"/>
          </a:xfrm>
          <a:prstGeom prst="rect">
            <a:avLst/>
          </a:prstGeom>
          <a:solidFill>
            <a:schemeClr val="accent5">
              <a:lumMod val="90000"/>
            </a:schemeClr>
          </a:solidFill>
          <a:ln w="0">
            <a:solidFill>
              <a:srgbClr val="daedef">
                <a:lumMod val="50000"/>
              </a:srgbClr>
            </a:solid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200" strike="noStrike" u="none">
                <a:solidFill>
                  <a:srgbClr val="000000"/>
                </a:solidFill>
                <a:effectLst/>
                <a:uFillTx/>
                <a:latin typeface="Avenir Book"/>
                <a:ea typeface="ＭＳ Ｐゴシック"/>
              </a:rPr>
              <a:t>Fragen Sie sich: </a:t>
            </a:r>
            <a:endParaRPr b="0" lang="de-DE" sz="1200" strike="noStrike" u="none">
              <a:solidFill>
                <a:srgbClr val="000000"/>
              </a:solidFill>
              <a:effectLst/>
              <a:uFillTx/>
              <a:latin typeface="Arial"/>
            </a:endParaRPr>
          </a:p>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a:t>
            </a:r>
            <a:endParaRPr b="0" lang="de-DE" sz="1200" strike="noStrike" u="none">
              <a:solidFill>
                <a:srgbClr val="000000"/>
              </a:solidFill>
              <a:effectLst/>
              <a:uFillTx/>
              <a:latin typeface="Arial"/>
            </a:endParaRPr>
          </a:p>
        </p:txBody>
      </p:sp>
      <p:pic>
        <p:nvPicPr>
          <p:cNvPr id="107" name="Grafik 28" descr="Kopf mit Zahnrädern Silhouette"/>
          <p:cNvPicPr/>
          <p:nvPr/>
        </p:nvPicPr>
        <p:blipFill>
          <a:blip r:embed="rId1">
            <a:extLst>
              <a:ext uri="{96DAC541-7B7A-43D3-8B79-37D633B846F1}">
                <asvg:svgBlip xmlns:asvg="http://schemas.microsoft.com/office/drawing/2016/SVG/main" r:embed="rId2"/>
              </a:ext>
            </a:extLst>
          </a:blip>
          <a:stretch/>
        </p:blipFill>
        <p:spPr>
          <a:xfrm>
            <a:off x="6095160" y="5443200"/>
            <a:ext cx="621360" cy="6213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Schluss – Zusammenfassung und Ausblick</a:t>
            </a:r>
            <a:endParaRPr b="0" lang="de-DE" sz="2000" strike="noStrike" u="none">
              <a:solidFill>
                <a:schemeClr val="dk1"/>
              </a:solidFill>
              <a:effectLst/>
              <a:uFillTx/>
              <a:latin typeface="Arial"/>
            </a:endParaRPr>
          </a:p>
        </p:txBody>
      </p:sp>
      <p:cxnSp>
        <p:nvCxnSpPr>
          <p:cNvPr id="109" name="Gerade Verbindung 7"/>
          <p:cNvCxnSpPr/>
          <p:nvPr/>
        </p:nvCxnSpPr>
        <p:spPr>
          <a:xfrm>
            <a:off x="303840" y="532440"/>
            <a:ext cx="10081440" cy="360"/>
          </a:xfrm>
          <a:prstGeom prst="straightConnector1">
            <a:avLst/>
          </a:prstGeom>
          <a:ln>
            <a:solidFill>
              <a:srgbClr val="db0031"/>
            </a:solidFill>
            <a:round/>
          </a:ln>
        </p:spPr>
      </p:cxnSp>
      <p:sp>
        <p:nvSpPr>
          <p:cNvPr id="110"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2. Ausarbeitung des Berichts</a:t>
            </a:r>
            <a:endParaRPr b="0" lang="de-DE" sz="1200" strike="noStrike" u="none">
              <a:solidFill>
                <a:srgbClr val="000000"/>
              </a:solidFill>
              <a:effectLst/>
              <a:uFillTx/>
              <a:latin typeface="Arial"/>
            </a:endParaRPr>
          </a:p>
        </p:txBody>
      </p:sp>
      <p:sp>
        <p:nvSpPr>
          <p:cNvPr id="111" name="Textfeld 9"/>
          <p:cNvSpPr/>
          <p:nvPr/>
        </p:nvSpPr>
        <p:spPr>
          <a:xfrm>
            <a:off x="304200" y="1252440"/>
            <a:ext cx="9146880" cy="172080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Fasst die Kernaussage der Arbeit zusammen (</a:t>
            </a:r>
            <a:r>
              <a:rPr b="1" lang="de-DE" sz="1800" strike="noStrike" u="none">
                <a:solidFill>
                  <a:srgbClr val="000000"/>
                </a:solidFill>
                <a:effectLst/>
                <a:uFillTx/>
                <a:latin typeface="Avenir Book"/>
                <a:ea typeface="ＭＳ Ｐゴシック"/>
              </a:rPr>
              <a:t>Zusammenfassung</a:t>
            </a:r>
            <a:r>
              <a:rPr b="0" lang="de-DE" sz="1800" strike="noStrike" u="none">
                <a:solidFill>
                  <a:srgbClr val="000000"/>
                </a:solidFill>
                <a:effectLst/>
                <a:uFillTx/>
                <a:latin typeface="Avenir Book"/>
                <a:ea typeface="ＭＳ Ｐゴシック"/>
              </a:rPr>
              <a: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Beschreibt noch einmal kurz, was in welchem Kapitel steht (siehe Gliederung)</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Setzt sich kritisch mit der Aufgabenstellung auseinander: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Kann im </a:t>
            </a:r>
            <a:r>
              <a:rPr b="1" lang="de-DE" sz="1800" strike="noStrike" u="none">
                <a:solidFill>
                  <a:srgbClr val="000000"/>
                </a:solidFill>
                <a:effectLst/>
                <a:uFillTx/>
                <a:latin typeface="Avenir Book"/>
                <a:ea typeface="ＭＳ Ｐゴシック"/>
              </a:rPr>
              <a:t>Ausblick</a:t>
            </a:r>
            <a:r>
              <a:rPr b="0" lang="de-DE" sz="1800" strike="noStrike" u="none">
                <a:solidFill>
                  <a:srgbClr val="000000"/>
                </a:solidFill>
                <a:effectLst/>
                <a:uFillTx/>
                <a:latin typeface="Avenir Book"/>
                <a:ea typeface="ＭＳ Ｐゴシック"/>
              </a:rPr>
              <a:t> Empfehlungen für eine sinnvolle Fortsetzung des Projektes bzw. der Forschungsarbeit enthalten</a:t>
            </a:r>
            <a:endParaRPr b="0" lang="de-DE" sz="1800" strike="noStrike" u="none">
              <a:solidFill>
                <a:srgbClr val="000000"/>
              </a:solidFill>
              <a:effectLst/>
              <a:uFillTx/>
              <a:latin typeface="Arial"/>
            </a:endParaRPr>
          </a:p>
        </p:txBody>
      </p:sp>
      <p:sp>
        <p:nvSpPr>
          <p:cNvPr id="112" name="Textfeld 27"/>
          <p:cNvSpPr/>
          <p:nvPr/>
        </p:nvSpPr>
        <p:spPr>
          <a:xfrm>
            <a:off x="5348160" y="5185440"/>
            <a:ext cx="5013000" cy="1259280"/>
          </a:xfrm>
          <a:prstGeom prst="rect">
            <a:avLst/>
          </a:prstGeom>
          <a:solidFill>
            <a:schemeClr val="accent5">
              <a:lumMod val="90000"/>
            </a:schemeClr>
          </a:solidFill>
          <a:ln w="0">
            <a:solidFill>
              <a:srgbClr val="daedef">
                <a:lumMod val="50000"/>
              </a:srgbClr>
            </a:solid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200" strike="noStrike" u="none">
                <a:solidFill>
                  <a:srgbClr val="000000"/>
                </a:solidFill>
                <a:effectLst/>
                <a:uFillTx/>
                <a:latin typeface="Avenir Book"/>
                <a:ea typeface="ＭＳ Ｐゴシック"/>
              </a:rPr>
              <a:t>Fragen Sie sich: </a:t>
            </a:r>
            <a:endParaRPr b="0" lang="de-DE" sz="1200" strike="noStrike" u="none">
              <a:solidFill>
                <a:srgbClr val="000000"/>
              </a:solidFill>
              <a:effectLst/>
              <a:uFillTx/>
              <a:latin typeface="Arial"/>
            </a:endParaRPr>
          </a:p>
          <a:p>
            <a:pPr marL="522360"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Was sollte getan werden und was wurde tatsächlich erreicht?</a:t>
            </a:r>
            <a:endParaRPr b="0" lang="de-DE" sz="1200" strike="noStrike" u="none">
              <a:solidFill>
                <a:srgbClr val="000000"/>
              </a:solidFill>
              <a:effectLst/>
              <a:uFillTx/>
              <a:latin typeface="Arial"/>
            </a:endParaRPr>
          </a:p>
          <a:p>
            <a:pPr marL="522360"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Wo gab es besondere Schwierigkeiten?</a:t>
            </a:r>
            <a:endParaRPr b="0" lang="de-DE" sz="1200" strike="noStrike" u="none">
              <a:solidFill>
                <a:srgbClr val="000000"/>
              </a:solidFill>
              <a:effectLst/>
              <a:uFillTx/>
              <a:latin typeface="Arial"/>
            </a:endParaRPr>
          </a:p>
          <a:p>
            <a:pPr marL="522360"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Welche Teile der Aufgabenstellung konnten eventuell gar nicht bearbeitet werden und warum?</a:t>
            </a:r>
            <a:endParaRPr b="0" lang="de-DE" sz="1200" strike="noStrike" u="none">
              <a:solidFill>
                <a:srgbClr val="000000"/>
              </a:solidFill>
              <a:effectLst/>
              <a:uFillTx/>
              <a:latin typeface="Arial"/>
            </a:endParaRPr>
          </a:p>
        </p:txBody>
      </p:sp>
      <p:pic>
        <p:nvPicPr>
          <p:cNvPr id="113" name="Grafik 28" descr="Kopf mit Zahnrädern Silhouette"/>
          <p:cNvPicPr/>
          <p:nvPr/>
        </p:nvPicPr>
        <p:blipFill>
          <a:blip r:embed="rId1">
            <a:extLst>
              <a:ext uri="{96DAC541-7B7A-43D3-8B79-37D633B846F1}">
                <asvg:svgBlip xmlns:asvg="http://schemas.microsoft.com/office/drawing/2016/SVG/main" r:embed="rId2"/>
              </a:ext>
            </a:extLst>
          </a:blip>
          <a:stretch/>
        </p:blipFill>
        <p:spPr>
          <a:xfrm>
            <a:off x="5349960" y="5193360"/>
            <a:ext cx="621360" cy="6213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Formeln</a:t>
            </a:r>
            <a:endParaRPr b="0" lang="de-DE" sz="2000" strike="noStrike" u="none">
              <a:solidFill>
                <a:schemeClr val="dk1"/>
              </a:solidFill>
              <a:effectLst/>
              <a:uFillTx/>
              <a:latin typeface="Arial"/>
            </a:endParaRPr>
          </a:p>
        </p:txBody>
      </p:sp>
      <p:cxnSp>
        <p:nvCxnSpPr>
          <p:cNvPr id="115" name="Gerade Verbindung 7"/>
          <p:cNvCxnSpPr/>
          <p:nvPr/>
        </p:nvCxnSpPr>
        <p:spPr>
          <a:xfrm>
            <a:off x="303840" y="532440"/>
            <a:ext cx="10081440" cy="360"/>
          </a:xfrm>
          <a:prstGeom prst="straightConnector1">
            <a:avLst/>
          </a:prstGeom>
          <a:ln>
            <a:solidFill>
              <a:srgbClr val="db0031"/>
            </a:solidFill>
            <a:round/>
          </a:ln>
        </p:spPr>
      </p:cxnSp>
      <p:sp>
        <p:nvSpPr>
          <p:cNvPr id="116"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Formeln, Tabellen, Abbildungen und Grafiken</a:t>
            </a:r>
            <a:endParaRPr b="0" lang="de-DE" sz="1200" strike="noStrike" u="none">
              <a:solidFill>
                <a:srgbClr val="000000"/>
              </a:solidFill>
              <a:effectLst/>
              <a:uFillTx/>
              <a:latin typeface="Arial"/>
            </a:endParaRPr>
          </a:p>
        </p:txBody>
      </p:sp>
      <p:sp>
        <p:nvSpPr>
          <p:cNvPr id="117" name="Textfeld 9"/>
          <p:cNvSpPr/>
          <p:nvPr/>
        </p:nvSpPr>
        <p:spPr>
          <a:xfrm>
            <a:off x="304200" y="1252440"/>
            <a:ext cx="9146880" cy="156708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Enthält ein Textabschnitt wenige Gleichungen, werden diese durch Leerzeilen davor/dahinter und ggf. durch Einrücken von etwa 2 cm hervorgehoben.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Enthält ein Text viele Gleichungen, werden diese zusätzlich mit Gleichungsnummern, z.B. „(16)“, „(3-4)“ oder „(3.4)“ am rechten Rand gekennzeichnet, damit man sich im Text auf die jeweilige Gleichung beziehen kann.</a:t>
            </a:r>
            <a:endParaRPr b="0" lang="de-DE" sz="1800" strike="noStrike" u="none">
              <a:solidFill>
                <a:srgbClr val="000000"/>
              </a:solidFill>
              <a:effectLst/>
              <a:uFillTx/>
              <a:latin typeface="Arial"/>
            </a:endParaRPr>
          </a:p>
        </p:txBody>
      </p:sp>
      <p:sp>
        <p:nvSpPr>
          <p:cNvPr id="118" name="Textfeld 11"/>
          <p:cNvSpPr/>
          <p:nvPr/>
        </p:nvSpPr>
        <p:spPr>
          <a:xfrm>
            <a:off x="3834360" y="4324320"/>
            <a:ext cx="259200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Bild: Formel </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Tabellen</a:t>
            </a:r>
            <a:endParaRPr b="0" lang="de-DE" sz="2000" strike="noStrike" u="none">
              <a:solidFill>
                <a:schemeClr val="dk1"/>
              </a:solidFill>
              <a:effectLst/>
              <a:uFillTx/>
              <a:latin typeface="Arial"/>
            </a:endParaRPr>
          </a:p>
        </p:txBody>
      </p:sp>
      <p:cxnSp>
        <p:nvCxnSpPr>
          <p:cNvPr id="120" name="Gerade Verbindung 7"/>
          <p:cNvCxnSpPr/>
          <p:nvPr/>
        </p:nvCxnSpPr>
        <p:spPr>
          <a:xfrm>
            <a:off x="303840" y="532440"/>
            <a:ext cx="10081440" cy="360"/>
          </a:xfrm>
          <a:prstGeom prst="straightConnector1">
            <a:avLst/>
          </a:prstGeom>
          <a:ln>
            <a:solidFill>
              <a:srgbClr val="db0031"/>
            </a:solidFill>
            <a:round/>
          </a:ln>
        </p:spPr>
      </p:cxnSp>
      <p:sp>
        <p:nvSpPr>
          <p:cNvPr id="121"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Formeln, Tabellen, Abbildungen und Grafiken</a:t>
            </a:r>
            <a:endParaRPr b="0" lang="de-DE" sz="1200" strike="noStrike" u="none">
              <a:solidFill>
                <a:srgbClr val="000000"/>
              </a:solidFill>
              <a:effectLst/>
              <a:uFillTx/>
              <a:latin typeface="Arial"/>
            </a:endParaRPr>
          </a:p>
        </p:txBody>
      </p:sp>
      <p:sp>
        <p:nvSpPr>
          <p:cNvPr id="122" name="Textfeld 9"/>
          <p:cNvSpPr/>
          <p:nvPr/>
        </p:nvSpPr>
        <p:spPr>
          <a:xfrm>
            <a:off x="304200" y="1252440"/>
            <a:ext cx="9613800" cy="199764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Tabellen haben eine </a:t>
            </a:r>
            <a:r>
              <a:rPr b="1" lang="de-DE" sz="1800" strike="noStrike" u="none">
                <a:solidFill>
                  <a:srgbClr val="000000"/>
                </a:solidFill>
                <a:effectLst/>
                <a:uFillTx/>
                <a:latin typeface="Avenir Book"/>
                <a:ea typeface="ＭＳ Ｐゴシック"/>
              </a:rPr>
              <a:t>Tabellenüberschrift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Eine Tabellenüberschrift erklärt kurz wie die Tabelle zu lesen ist oder was darin abgebildet wird</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Die Tabellennummern werden fortlaufend nummeriert (Bsp: 1, 2, 3, . . . , 68, 69).</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Umfangreiche bzw. große Tabellen werden im Anhang aufgeführt. Im Text wird verwiesen, wo die Tabelle im Anhang zu finden ist</a:t>
            </a:r>
            <a:endParaRPr b="0" lang="de-DE" sz="1800" strike="noStrike" u="none">
              <a:solidFill>
                <a:srgbClr val="000000"/>
              </a:solidFill>
              <a:effectLst/>
              <a:uFillTx/>
              <a:latin typeface="Arial"/>
            </a:endParaRPr>
          </a:p>
        </p:txBody>
      </p:sp>
      <p:sp>
        <p:nvSpPr>
          <p:cNvPr id="123" name="Textfeld 6"/>
          <p:cNvSpPr/>
          <p:nvPr/>
        </p:nvSpPr>
        <p:spPr>
          <a:xfrm>
            <a:off x="2682360" y="4644720"/>
            <a:ext cx="9146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Bild: Tabelle + Überschrift + Beschreibung</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Abbildungen und Grafiken</a:t>
            </a:r>
            <a:endParaRPr b="0" lang="de-DE" sz="2000" strike="noStrike" u="none">
              <a:solidFill>
                <a:schemeClr val="dk1"/>
              </a:solidFill>
              <a:effectLst/>
              <a:uFillTx/>
              <a:latin typeface="Arial"/>
            </a:endParaRPr>
          </a:p>
        </p:txBody>
      </p:sp>
      <p:cxnSp>
        <p:nvCxnSpPr>
          <p:cNvPr id="125" name="Gerade Verbindung 7"/>
          <p:cNvCxnSpPr/>
          <p:nvPr/>
        </p:nvCxnSpPr>
        <p:spPr>
          <a:xfrm>
            <a:off x="303840" y="532440"/>
            <a:ext cx="10081440" cy="360"/>
          </a:xfrm>
          <a:prstGeom prst="straightConnector1">
            <a:avLst/>
          </a:prstGeom>
          <a:ln>
            <a:solidFill>
              <a:srgbClr val="db0031"/>
            </a:solidFill>
            <a:round/>
          </a:ln>
        </p:spPr>
      </p:cxnSp>
      <p:sp>
        <p:nvSpPr>
          <p:cNvPr id="126"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Formeln, Tabellen, Abbildungen und Grafiken</a:t>
            </a:r>
            <a:endParaRPr b="0" lang="de-DE" sz="1200" strike="noStrike" u="none">
              <a:solidFill>
                <a:srgbClr val="000000"/>
              </a:solidFill>
              <a:effectLst/>
              <a:uFillTx/>
              <a:latin typeface="Arial"/>
            </a:endParaRPr>
          </a:p>
        </p:txBody>
      </p:sp>
      <p:sp>
        <p:nvSpPr>
          <p:cNvPr id="127" name="Textfeld 9"/>
          <p:cNvSpPr/>
          <p:nvPr/>
        </p:nvSpPr>
        <p:spPr>
          <a:xfrm>
            <a:off x="304200" y="1252440"/>
            <a:ext cx="9146880" cy="333648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Der Text wird durch Abbildungen und Grafiken visualisiert und unterstützt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Bilder haben grundsätzlich eine Bildunterschrift, bestehend aus einer Bildbezeichnung und einem Bildtitel</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Die Bildbezeichnung wird Fett markiert; Bildtitel wird normal geschrieben: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         </a:t>
            </a:r>
            <a:r>
              <a:rPr b="1" lang="de-DE" sz="1800" strike="noStrike" u="none">
                <a:solidFill>
                  <a:srgbClr val="000000"/>
                </a:solidFill>
                <a:effectLst/>
                <a:uFillTx/>
                <a:latin typeface="Avenir Book"/>
                <a:ea typeface="ＭＳ Ｐゴシック"/>
              </a:rPr>
              <a:t>Abb. 12 </a:t>
            </a:r>
            <a:r>
              <a:rPr b="0" lang="de-DE" sz="1800" strike="noStrike" u="none">
                <a:solidFill>
                  <a:srgbClr val="000000"/>
                </a:solidFill>
                <a:effectLst/>
                <a:uFillTx/>
                <a:latin typeface="Avenir Book"/>
                <a:ea typeface="ＭＳ Ｐゴシック"/>
              </a:rPr>
              <a:t>Versuchsaufbau </a:t>
            </a: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 Elementtyp darf in einem Bild bzw. einer Bildserie nur eine Funktion haben. Zum Beispiel können Pfeile folgende Bedeutung haben: - Kraftrichtung, - Drehmoment, - Bewegungsrichtung usw.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Grafiken wenn möglich selbst erstellen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Abbildungen und Grafiken - Zusammenfassung</a:t>
            </a:r>
            <a:endParaRPr b="0" lang="de-DE" sz="2000" strike="noStrike" u="none">
              <a:solidFill>
                <a:schemeClr val="dk1"/>
              </a:solidFill>
              <a:effectLst/>
              <a:uFillTx/>
              <a:latin typeface="Arial"/>
            </a:endParaRPr>
          </a:p>
        </p:txBody>
      </p:sp>
      <p:cxnSp>
        <p:nvCxnSpPr>
          <p:cNvPr id="129" name="Gerade Verbindung 7"/>
          <p:cNvCxnSpPr/>
          <p:nvPr/>
        </p:nvCxnSpPr>
        <p:spPr>
          <a:xfrm>
            <a:off x="303840" y="532440"/>
            <a:ext cx="10081440" cy="360"/>
          </a:xfrm>
          <a:prstGeom prst="straightConnector1">
            <a:avLst/>
          </a:prstGeom>
          <a:ln>
            <a:solidFill>
              <a:srgbClr val="db0031"/>
            </a:solidFill>
            <a:round/>
          </a:ln>
        </p:spPr>
      </p:cxnSp>
      <p:sp>
        <p:nvSpPr>
          <p:cNvPr id="130"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Formeln, Tabellen, Abbildungen und Grafiken</a:t>
            </a:r>
            <a:endParaRPr b="0" lang="de-DE" sz="1200" strike="noStrike" u="none">
              <a:solidFill>
                <a:srgbClr val="000000"/>
              </a:solidFill>
              <a:effectLst/>
              <a:uFillTx/>
              <a:latin typeface="Arial"/>
            </a:endParaRPr>
          </a:p>
        </p:txBody>
      </p:sp>
      <p:sp>
        <p:nvSpPr>
          <p:cNvPr id="131" name="Textfeld 9"/>
          <p:cNvSpPr/>
          <p:nvPr/>
        </p:nvSpPr>
        <p:spPr>
          <a:xfrm>
            <a:off x="304200" y="1252440"/>
            <a:ext cx="479736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Do‘s</a:t>
            </a:r>
            <a:endParaRPr b="0" lang="de-DE" sz="1800" strike="noStrike" u="none">
              <a:solidFill>
                <a:srgbClr val="000000"/>
              </a:solidFill>
              <a:effectLst/>
              <a:uFillTx/>
              <a:latin typeface="Arial"/>
            </a:endParaRPr>
          </a:p>
        </p:txBody>
      </p:sp>
      <p:sp>
        <p:nvSpPr>
          <p:cNvPr id="132" name="Textfeld 5"/>
          <p:cNvSpPr/>
          <p:nvPr/>
        </p:nvSpPr>
        <p:spPr>
          <a:xfrm>
            <a:off x="5562720" y="1270080"/>
            <a:ext cx="482220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Dont‘s</a:t>
            </a:r>
            <a:endParaRPr b="0" lang="de-DE" sz="1800" strike="noStrike" u="none">
              <a:solidFill>
                <a:srgbClr val="000000"/>
              </a:solidFill>
              <a:effectLst/>
              <a:uFillTx/>
              <a:latin typeface="Arial"/>
            </a:endParaRPr>
          </a:p>
        </p:txBody>
      </p:sp>
      <p:cxnSp>
        <p:nvCxnSpPr>
          <p:cNvPr id="133" name="Gerade Verbindung 2"/>
          <p:cNvCxnSpPr/>
          <p:nvPr/>
        </p:nvCxnSpPr>
        <p:spPr>
          <a:xfrm>
            <a:off x="5346360" y="1058400"/>
            <a:ext cx="360" cy="5444640"/>
          </a:xfrm>
          <a:prstGeom prst="straightConnector1">
            <a:avLst/>
          </a:prstGeom>
          <a:ln w="28575">
            <a:solidFill>
              <a:srgbClr val="000000"/>
            </a:solidFill>
            <a:round/>
          </a:ln>
        </p:spPr>
      </p:cxnSp>
      <p:pic>
        <p:nvPicPr>
          <p:cNvPr id="134" name="Grafik 6"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8373240" y="1132200"/>
            <a:ext cx="528840" cy="528840"/>
          </a:xfrm>
          <a:prstGeom prst="rect">
            <a:avLst/>
          </a:prstGeom>
          <a:noFill/>
          <a:ln w="0">
            <a:noFill/>
          </a:ln>
        </p:spPr>
      </p:pic>
      <p:pic>
        <p:nvPicPr>
          <p:cNvPr id="135" name="Grafik 13"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1818360" y="1145880"/>
            <a:ext cx="501480" cy="5014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Abbildungen und Grafiken - Beispiele</a:t>
            </a:r>
            <a:endParaRPr b="0" lang="de-DE" sz="2000" strike="noStrike" u="none">
              <a:solidFill>
                <a:schemeClr val="dk1"/>
              </a:solidFill>
              <a:effectLst/>
              <a:uFillTx/>
              <a:latin typeface="Arial"/>
            </a:endParaRPr>
          </a:p>
        </p:txBody>
      </p:sp>
      <p:cxnSp>
        <p:nvCxnSpPr>
          <p:cNvPr id="137" name="Gerade Verbindung 7"/>
          <p:cNvCxnSpPr/>
          <p:nvPr/>
        </p:nvCxnSpPr>
        <p:spPr>
          <a:xfrm>
            <a:off x="303840" y="532440"/>
            <a:ext cx="10081440" cy="360"/>
          </a:xfrm>
          <a:prstGeom prst="straightConnector1">
            <a:avLst/>
          </a:prstGeom>
          <a:ln>
            <a:solidFill>
              <a:srgbClr val="db0031"/>
            </a:solidFill>
            <a:round/>
          </a:ln>
        </p:spPr>
      </p:cxnSp>
      <p:sp>
        <p:nvSpPr>
          <p:cNvPr id="13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Formeln, Tabellen, Abbildungen und Grafiken</a:t>
            </a:r>
            <a:endParaRPr b="0" lang="de-DE" sz="1200" strike="noStrike" u="none">
              <a:solidFill>
                <a:srgbClr val="000000"/>
              </a:solidFill>
              <a:effectLst/>
              <a:uFillTx/>
              <a:latin typeface="Arial"/>
            </a:endParaRPr>
          </a:p>
        </p:txBody>
      </p:sp>
      <p:sp>
        <p:nvSpPr>
          <p:cNvPr id="139" name="Textfeld 9"/>
          <p:cNvSpPr/>
          <p:nvPr/>
        </p:nvSpPr>
        <p:spPr>
          <a:xfrm>
            <a:off x="304200" y="1252440"/>
            <a:ext cx="479736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Do‘s</a:t>
            </a:r>
            <a:endParaRPr b="0" lang="de-DE" sz="1800" strike="noStrike" u="none">
              <a:solidFill>
                <a:srgbClr val="000000"/>
              </a:solidFill>
              <a:effectLst/>
              <a:uFillTx/>
              <a:latin typeface="Arial"/>
            </a:endParaRPr>
          </a:p>
        </p:txBody>
      </p:sp>
      <p:sp>
        <p:nvSpPr>
          <p:cNvPr id="140" name="Textfeld 5"/>
          <p:cNvSpPr/>
          <p:nvPr/>
        </p:nvSpPr>
        <p:spPr>
          <a:xfrm>
            <a:off x="5562720" y="1270080"/>
            <a:ext cx="482220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Dont‘s</a:t>
            </a:r>
            <a:endParaRPr b="0" lang="de-DE" sz="1800" strike="noStrike" u="none">
              <a:solidFill>
                <a:srgbClr val="000000"/>
              </a:solidFill>
              <a:effectLst/>
              <a:uFillTx/>
              <a:latin typeface="Arial"/>
            </a:endParaRPr>
          </a:p>
        </p:txBody>
      </p:sp>
      <p:cxnSp>
        <p:nvCxnSpPr>
          <p:cNvPr id="141" name="Gerade Verbindung 2"/>
          <p:cNvCxnSpPr/>
          <p:nvPr/>
        </p:nvCxnSpPr>
        <p:spPr>
          <a:xfrm>
            <a:off x="5346360" y="1058400"/>
            <a:ext cx="360" cy="5444640"/>
          </a:xfrm>
          <a:prstGeom prst="straightConnector1">
            <a:avLst/>
          </a:prstGeom>
          <a:ln w="28575">
            <a:solidFill>
              <a:srgbClr val="000000"/>
            </a:solidFill>
            <a:round/>
          </a:ln>
        </p:spPr>
      </p:cxnSp>
      <p:pic>
        <p:nvPicPr>
          <p:cNvPr id="142" name="Grafik 6"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8428680" y="1136880"/>
            <a:ext cx="528840" cy="528840"/>
          </a:xfrm>
          <a:prstGeom prst="rect">
            <a:avLst/>
          </a:prstGeom>
          <a:noFill/>
          <a:ln w="0">
            <a:noFill/>
          </a:ln>
        </p:spPr>
      </p:pic>
      <p:pic>
        <p:nvPicPr>
          <p:cNvPr id="143" name="Grafik 13"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1775160" y="1150560"/>
            <a:ext cx="501480" cy="501480"/>
          </a:xfrm>
          <a:prstGeom prst="rect">
            <a:avLst/>
          </a:prstGeom>
          <a:noFill/>
          <a:ln w="0">
            <a:noFill/>
          </a:ln>
        </p:spPr>
      </p:pic>
      <p:sp>
        <p:nvSpPr>
          <p:cNvPr id="144" name="Textfeld 14"/>
          <p:cNvSpPr/>
          <p:nvPr/>
        </p:nvSpPr>
        <p:spPr>
          <a:xfrm>
            <a:off x="5466960" y="5508720"/>
            <a:ext cx="4797360" cy="289800"/>
          </a:xfrm>
          <a:prstGeom prst="rect">
            <a:avLst/>
          </a:prstGeom>
          <a:solidFill>
            <a:schemeClr val="bg1">
              <a:lumMod val="8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Was ist schlecht daran?</a:t>
            </a:r>
            <a:endParaRPr b="0" lang="de-DE" sz="1200" strike="noStrike" u="none">
              <a:solidFill>
                <a:srgbClr val="000000"/>
              </a:solidFill>
              <a:effectLst/>
              <a:uFillTx/>
              <a:latin typeface="Arial"/>
            </a:endParaRPr>
          </a:p>
        </p:txBody>
      </p:sp>
      <p:sp>
        <p:nvSpPr>
          <p:cNvPr id="145" name="Textfeld 15"/>
          <p:cNvSpPr/>
          <p:nvPr/>
        </p:nvSpPr>
        <p:spPr>
          <a:xfrm>
            <a:off x="414720" y="5508720"/>
            <a:ext cx="4797360" cy="289800"/>
          </a:xfrm>
          <a:prstGeom prst="rect">
            <a:avLst/>
          </a:prstGeom>
          <a:solidFill>
            <a:schemeClr val="bg1">
              <a:lumMod val="8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Was ist gut daran?</a:t>
            </a:r>
            <a:endParaRPr b="0" lang="de-DE"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Zitaten – Was ist ein Zitat?</a:t>
            </a:r>
            <a:endParaRPr b="0" lang="de-DE" sz="2000" strike="noStrike" u="none">
              <a:solidFill>
                <a:schemeClr val="dk1"/>
              </a:solidFill>
              <a:effectLst/>
              <a:uFillTx/>
              <a:latin typeface="Arial"/>
            </a:endParaRPr>
          </a:p>
        </p:txBody>
      </p:sp>
      <p:cxnSp>
        <p:nvCxnSpPr>
          <p:cNvPr id="147" name="Gerade Verbindung 7"/>
          <p:cNvCxnSpPr/>
          <p:nvPr/>
        </p:nvCxnSpPr>
        <p:spPr>
          <a:xfrm>
            <a:off x="303840" y="532440"/>
            <a:ext cx="10081440" cy="360"/>
          </a:xfrm>
          <a:prstGeom prst="straightConnector1">
            <a:avLst/>
          </a:prstGeom>
          <a:ln>
            <a:solidFill>
              <a:srgbClr val="db0031"/>
            </a:solidFill>
            <a:round/>
          </a:ln>
        </p:spPr>
      </p:cxnSp>
      <p:sp>
        <p:nvSpPr>
          <p:cNvPr id="14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Quellenangaben und Zitate</a:t>
            </a:r>
            <a:endParaRPr b="0" lang="de-DE" sz="1200" strike="noStrike" u="none">
              <a:solidFill>
                <a:srgbClr val="000000"/>
              </a:solidFill>
              <a:effectLst/>
              <a:uFillTx/>
              <a:latin typeface="Arial"/>
            </a:endParaRPr>
          </a:p>
        </p:txBody>
      </p:sp>
      <p:sp>
        <p:nvSpPr>
          <p:cNvPr id="149" name="Textfeld 9"/>
          <p:cNvSpPr/>
          <p:nvPr/>
        </p:nvSpPr>
        <p:spPr>
          <a:xfrm>
            <a:off x="304200" y="1252440"/>
            <a:ext cx="9578880" cy="396756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 Zitat liegt dann vor, wenn </a:t>
            </a:r>
            <a:r>
              <a:rPr b="1" lang="de-DE" sz="1800" strike="noStrike" u="none">
                <a:solidFill>
                  <a:srgbClr val="000000"/>
                </a:solidFill>
                <a:effectLst/>
                <a:uFillTx/>
                <a:latin typeface="Avenir Book"/>
                <a:ea typeface="ＭＳ Ｐゴシック"/>
              </a:rPr>
              <a:t>von anderen Autoren formulierte Sachverhalte</a:t>
            </a:r>
            <a:r>
              <a:rPr b="0" lang="de-DE" sz="1800" strike="noStrike" u="none">
                <a:solidFill>
                  <a:srgbClr val="000000"/>
                </a:solidFill>
                <a:effectLst/>
                <a:uFillTx/>
                <a:latin typeface="Avenir Book"/>
                <a:ea typeface="ＭＳ Ｐゴシック"/>
              </a:rPr>
              <a:t> wörtlich oder sinngemäß in der eigenen Arbeit verwendet werden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Dazu </a:t>
            </a:r>
            <a:r>
              <a:rPr b="1" lang="de-DE" sz="1800" strike="noStrike" u="none">
                <a:solidFill>
                  <a:srgbClr val="000000"/>
                </a:solidFill>
                <a:effectLst/>
                <a:uFillTx/>
                <a:latin typeface="Avenir Book"/>
                <a:ea typeface="ＭＳ Ｐゴシック"/>
              </a:rPr>
              <a:t>muss</a:t>
            </a:r>
            <a:r>
              <a:rPr b="0" lang="de-DE" sz="1800" strike="noStrike" u="none">
                <a:solidFill>
                  <a:srgbClr val="000000"/>
                </a:solidFill>
                <a:effectLst/>
                <a:uFillTx/>
                <a:latin typeface="Avenir Book"/>
                <a:ea typeface="ＭＳ Ｐゴシック"/>
              </a:rPr>
              <a:t> die Literaturquelle, aus der die Gedanken entnommen sind, genau und </a:t>
            </a:r>
            <a:r>
              <a:rPr b="1" lang="de-DE" sz="1800" strike="noStrike" u="none">
                <a:solidFill>
                  <a:srgbClr val="000000"/>
                </a:solidFill>
                <a:effectLst/>
                <a:uFillTx/>
                <a:latin typeface="Avenir Book"/>
                <a:ea typeface="ＭＳ Ｐゴシック"/>
              </a:rPr>
              <a:t>nachvollziehbar angegeben werden</a:t>
            </a:r>
            <a:r>
              <a:rPr b="0" lang="de-DE" sz="1800" strike="noStrike" u="none">
                <a:solidFill>
                  <a:srgbClr val="000000"/>
                </a:solidFill>
                <a:effectLst/>
                <a:uFillTx/>
                <a:latin typeface="Avenir Book"/>
                <a:ea typeface="ＭＳ Ｐゴシック"/>
              </a:rPr>
              <a: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Es existieren </a:t>
            </a:r>
            <a:r>
              <a:rPr b="1" lang="de-DE" sz="1800" strike="noStrike" u="none">
                <a:solidFill>
                  <a:srgbClr val="000000"/>
                </a:solidFill>
                <a:effectLst/>
                <a:uFillTx/>
                <a:latin typeface="Avenir Book"/>
                <a:ea typeface="ＭＳ Ｐゴシック"/>
              </a:rPr>
              <a:t>verschiedene Zitierweisen </a:t>
            </a:r>
            <a:r>
              <a:rPr b="0" lang="de-DE" sz="1800" strike="noStrike" u="none">
                <a:solidFill>
                  <a:srgbClr val="000000"/>
                </a:solidFill>
                <a:effectLst/>
                <a:uFillTx/>
                <a:latin typeface="Avenir Book"/>
                <a:ea typeface="ＭＳ Ｐゴシック"/>
              </a:rPr>
              <a:t>(nach DIN, APA Style, Harvard Style etc.)</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Stimmen Sie sich mit Ihrem Betreuer ab, welche Zitierweise angewendet werden soll oder entscheiden Sie sich für eine.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1" lang="de-DE" sz="1800" strike="noStrike" u="none">
                <a:solidFill>
                  <a:srgbClr val="000000"/>
                </a:solidFill>
                <a:effectLst/>
                <a:uFillTx/>
                <a:latin typeface="Avenir Book"/>
                <a:ea typeface="ＭＳ Ｐゴシック"/>
              </a:rPr>
              <a:t>Wichtig ist, dass Sie sich im Bericht konsequent an die Zitierweise halten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Hilfreich sind dabei </a:t>
            </a:r>
            <a:r>
              <a:rPr b="1" lang="de-DE" sz="1800" strike="noStrike" u="none">
                <a:solidFill>
                  <a:srgbClr val="000000"/>
                </a:solidFill>
                <a:effectLst/>
                <a:uFillTx/>
                <a:latin typeface="Avenir Book"/>
                <a:ea typeface="ＭＳ Ｐゴシック"/>
              </a:rPr>
              <a:t>Quellenverwaltungsprogramme </a:t>
            </a:r>
            <a:r>
              <a:rPr b="0" lang="de-DE" sz="1800" strike="noStrike" u="none">
                <a:solidFill>
                  <a:srgbClr val="000000"/>
                </a:solidFill>
                <a:effectLst/>
                <a:uFillTx/>
                <a:latin typeface="Avenir Book"/>
                <a:ea typeface="ＭＳ Ｐゴシック"/>
              </a:rPr>
              <a:t>(z.B. citavi, EndNote,…)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Im </a:t>
            </a:r>
            <a:r>
              <a:rPr b="1" lang="de-DE" sz="1800" strike="noStrike" u="none">
                <a:solidFill>
                  <a:srgbClr val="000000"/>
                </a:solidFill>
                <a:effectLst/>
                <a:uFillTx/>
                <a:latin typeface="Avenir Book"/>
                <a:ea typeface="ＭＳ Ｐゴシック"/>
              </a:rPr>
              <a:t>Fließtext</a:t>
            </a:r>
            <a:r>
              <a:rPr b="0" lang="de-DE" sz="1800" strike="noStrike" u="none">
                <a:solidFill>
                  <a:srgbClr val="000000"/>
                </a:solidFill>
                <a:effectLst/>
                <a:uFillTx/>
                <a:latin typeface="Avenir Book"/>
                <a:ea typeface="ＭＳ Ｐゴシック"/>
              </a:rPr>
              <a:t> wird ein Zitat mit einer </a:t>
            </a:r>
            <a:r>
              <a:rPr b="1" lang="de-DE" sz="1800" strike="noStrike" u="none">
                <a:solidFill>
                  <a:srgbClr val="000000"/>
                </a:solidFill>
                <a:effectLst/>
                <a:uFillTx/>
                <a:latin typeface="Avenir Book"/>
                <a:ea typeface="ＭＳ Ｐゴシック"/>
              </a:rPr>
              <a:t>kurzen Quellenangabe </a:t>
            </a:r>
            <a:r>
              <a:rPr b="0" lang="de-DE" sz="1800" strike="noStrike" u="none">
                <a:solidFill>
                  <a:srgbClr val="000000"/>
                </a:solidFill>
                <a:effectLst/>
                <a:uFillTx/>
                <a:latin typeface="Avenir Book"/>
                <a:ea typeface="ＭＳ Ｐゴシック"/>
              </a:rPr>
              <a:t>gekennzeichnet.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Im </a:t>
            </a:r>
            <a:r>
              <a:rPr b="1" lang="de-DE" sz="1800" strike="noStrike" u="none">
                <a:solidFill>
                  <a:srgbClr val="000000"/>
                </a:solidFill>
                <a:effectLst/>
                <a:uFillTx/>
                <a:latin typeface="Avenir Book"/>
                <a:ea typeface="ＭＳ Ｐゴシック"/>
              </a:rPr>
              <a:t>Literaturverzeichnis</a:t>
            </a:r>
            <a:r>
              <a:rPr b="0" lang="de-DE" sz="1800" strike="noStrike" u="none">
                <a:solidFill>
                  <a:srgbClr val="000000"/>
                </a:solidFill>
                <a:effectLst/>
                <a:uFillTx/>
                <a:latin typeface="Avenir Book"/>
                <a:ea typeface="ＭＳ Ｐゴシック"/>
              </a:rPr>
              <a:t> werden die zitierten Publikationen mit ihren ausführlichen bibliografischen Daten aufgeführt.</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Zitaten – Quellenangaben im Fließtext</a:t>
            </a:r>
            <a:endParaRPr b="0" lang="de-DE" sz="2000" strike="noStrike" u="none">
              <a:solidFill>
                <a:schemeClr val="dk1"/>
              </a:solidFill>
              <a:effectLst/>
              <a:uFillTx/>
              <a:latin typeface="Arial"/>
            </a:endParaRPr>
          </a:p>
        </p:txBody>
      </p:sp>
      <p:cxnSp>
        <p:nvCxnSpPr>
          <p:cNvPr id="151" name="Gerade Verbindung 7"/>
          <p:cNvCxnSpPr/>
          <p:nvPr/>
        </p:nvCxnSpPr>
        <p:spPr>
          <a:xfrm>
            <a:off x="303840" y="532440"/>
            <a:ext cx="10081440" cy="360"/>
          </a:xfrm>
          <a:prstGeom prst="straightConnector1">
            <a:avLst/>
          </a:prstGeom>
          <a:ln>
            <a:solidFill>
              <a:srgbClr val="db0031"/>
            </a:solidFill>
            <a:round/>
          </a:ln>
        </p:spPr>
      </p:cxnSp>
      <p:sp>
        <p:nvSpPr>
          <p:cNvPr id="15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Quellenangaben und Zitate</a:t>
            </a:r>
            <a:endParaRPr b="0" lang="de-DE" sz="1200" strike="noStrike" u="none">
              <a:solidFill>
                <a:srgbClr val="000000"/>
              </a:solidFill>
              <a:effectLst/>
              <a:uFillTx/>
              <a:latin typeface="Arial"/>
            </a:endParaRPr>
          </a:p>
        </p:txBody>
      </p:sp>
      <p:sp>
        <p:nvSpPr>
          <p:cNvPr id="153" name="Textfeld 9"/>
          <p:cNvSpPr/>
          <p:nvPr/>
        </p:nvSpPr>
        <p:spPr>
          <a:xfrm>
            <a:off x="304200" y="1252440"/>
            <a:ext cx="9146880" cy="227484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In den deutschen Geistes- und Sozialwissenschaften ist die Nutzung von Fußnoten gebräuchlich (siehe 1., hochgestellte Zahl)</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In technischen Berichten wird im deutschsprachigen Raum überwiegend die Kennzeichnung mit eckigen Klammern „[ ]“ verwendet. Im anglo-amerikanischen Sprachraum sind häufig runde Klammern „( )“ anzutreffen.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Die Quelle kann kurz (siehe 2.) oder lang (siehe 3.) angegeben werden.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
        <p:nvSpPr>
          <p:cNvPr id="154" name="Textfeld 10"/>
          <p:cNvSpPr/>
          <p:nvPr/>
        </p:nvSpPr>
        <p:spPr>
          <a:xfrm>
            <a:off x="810360" y="3492720"/>
            <a:ext cx="8640720" cy="24544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1. “Der Versuchsaufbau erfolgt unter Berücksichtigung der zuvor angegeben Kriterien.“</a:t>
            </a:r>
            <a:r>
              <a:rPr b="0" lang="de-DE" sz="1600" strike="noStrike" u="none" baseline="30000">
                <a:solidFill>
                  <a:srgbClr val="000000"/>
                </a:solidFill>
                <a:effectLst/>
                <a:uFillTx/>
                <a:latin typeface="Avenir Book"/>
                <a:ea typeface="ＭＳ Ｐゴシック"/>
              </a:rPr>
              <a:t>9</a:t>
            </a:r>
            <a:endParaRPr b="0" lang="de-DE" sz="1600" strike="noStrike" u="none">
              <a:solidFill>
                <a:srgbClr val="000000"/>
              </a:solidFill>
              <a:effectLst/>
              <a:uFillTx/>
              <a:latin typeface="Arial"/>
            </a:endParaRPr>
          </a:p>
          <a:p>
            <a:pPr defTabSz="704880">
              <a:lnSpc>
                <a:spcPct val="100000"/>
              </a:lnSpc>
              <a:spcBef>
                <a:spcPts val="601"/>
              </a:spcBef>
              <a:tabLst>
                <a:tab algn="l" pos="0"/>
              </a:tabLst>
            </a:pP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2. “Der Versuchsaufbau erfolgt unter Berücksichtigung der zuvor angegeben Kriterien.“[9]</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oder</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“Der Versuchsaufbau erfolgt unter Berücksichtigung der zuvor angegeben Kriterien.“(9)</a:t>
            </a:r>
            <a:endParaRPr b="0" lang="de-DE" sz="1600" strike="noStrike" u="none">
              <a:solidFill>
                <a:srgbClr val="000000"/>
              </a:solidFill>
              <a:effectLst/>
              <a:uFillTx/>
              <a:latin typeface="Arial"/>
            </a:endParaRPr>
          </a:p>
          <a:p>
            <a:pPr defTabSz="704880">
              <a:lnSpc>
                <a:spcPct val="100000"/>
              </a:lnSpc>
              <a:spcBef>
                <a:spcPts val="601"/>
              </a:spcBef>
              <a:tabLst>
                <a:tab algn="l" pos="0"/>
              </a:tabLst>
            </a:pP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3. “Der Versuchsaufbau erfolgt unter Berücksichtigung der zuvor angegeben Kriterien.“ </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   [Muster, 2020, S. 101]</a:t>
            </a:r>
            <a:endParaRPr b="0" lang="de-DE"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Zitaten – Typen von Zitaten</a:t>
            </a:r>
            <a:endParaRPr b="0" lang="de-DE" sz="2000" strike="noStrike" u="none">
              <a:solidFill>
                <a:schemeClr val="dk1"/>
              </a:solidFill>
              <a:effectLst/>
              <a:uFillTx/>
              <a:latin typeface="Arial"/>
            </a:endParaRPr>
          </a:p>
        </p:txBody>
      </p:sp>
      <p:cxnSp>
        <p:nvCxnSpPr>
          <p:cNvPr id="156" name="Gerade Verbindung 7"/>
          <p:cNvCxnSpPr/>
          <p:nvPr/>
        </p:nvCxnSpPr>
        <p:spPr>
          <a:xfrm>
            <a:off x="303840" y="532440"/>
            <a:ext cx="10081440" cy="360"/>
          </a:xfrm>
          <a:prstGeom prst="straightConnector1">
            <a:avLst/>
          </a:prstGeom>
          <a:ln>
            <a:solidFill>
              <a:srgbClr val="db0031"/>
            </a:solidFill>
            <a:round/>
          </a:ln>
        </p:spPr>
      </p:cxnSp>
      <p:sp>
        <p:nvSpPr>
          <p:cNvPr id="157"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Quellenangaben und Zitate</a:t>
            </a:r>
            <a:endParaRPr b="0" lang="de-DE" sz="1200" strike="noStrike" u="none">
              <a:solidFill>
                <a:srgbClr val="000000"/>
              </a:solidFill>
              <a:effectLst/>
              <a:uFillTx/>
              <a:latin typeface="Arial"/>
            </a:endParaRPr>
          </a:p>
        </p:txBody>
      </p:sp>
      <p:sp>
        <p:nvSpPr>
          <p:cNvPr id="158" name="Textfeld 9"/>
          <p:cNvSpPr/>
          <p:nvPr/>
        </p:nvSpPr>
        <p:spPr>
          <a:xfrm>
            <a:off x="304200" y="1252440"/>
            <a:ext cx="9578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Vollständig übernommenes wörtliches Zitat</a:t>
            </a:r>
            <a:endParaRPr b="0" lang="de-DE" sz="1800" strike="noStrike" u="none">
              <a:solidFill>
                <a:srgbClr val="000000"/>
              </a:solidFill>
              <a:effectLst/>
              <a:uFillTx/>
              <a:latin typeface="Arial"/>
            </a:endParaRPr>
          </a:p>
        </p:txBody>
      </p:sp>
      <p:sp>
        <p:nvSpPr>
          <p:cNvPr id="159" name="Textfeld 6"/>
          <p:cNvSpPr/>
          <p:nvPr/>
        </p:nvSpPr>
        <p:spPr>
          <a:xfrm>
            <a:off x="773280" y="1670040"/>
            <a:ext cx="864072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„Die technische Weiterentwicklung ist eine der Ursachen zunehmenden Wohlstands in den Industrieländern.“ [Hering, 1993, S.1]</a:t>
            </a:r>
            <a:endParaRPr b="0" lang="de-DE" sz="1600" strike="noStrike" u="none">
              <a:solidFill>
                <a:srgbClr val="000000"/>
              </a:solidFill>
              <a:effectLst/>
              <a:uFillTx/>
              <a:latin typeface="Arial"/>
            </a:endParaRPr>
          </a:p>
        </p:txBody>
      </p:sp>
      <p:sp>
        <p:nvSpPr>
          <p:cNvPr id="160" name="Textfeld 10"/>
          <p:cNvSpPr/>
          <p:nvPr/>
        </p:nvSpPr>
        <p:spPr>
          <a:xfrm>
            <a:off x="773280" y="2978640"/>
            <a:ext cx="8640720" cy="8434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„Deshalb wurden schriftliche Anfragen an alle weltweit existierenden Berufsverbände für Technische Redakteure (...) sowie an die INTECOM selbst ausgesendet.“ [Hering, 1993, S. 338]</a:t>
            </a:r>
            <a:endParaRPr b="0" lang="de-DE" sz="1600" strike="noStrike" u="none">
              <a:solidFill>
                <a:srgbClr val="000000"/>
              </a:solidFill>
              <a:effectLst/>
              <a:uFillTx/>
              <a:latin typeface="Arial"/>
            </a:endParaRPr>
          </a:p>
        </p:txBody>
      </p:sp>
      <p:sp>
        <p:nvSpPr>
          <p:cNvPr id="161" name="Textfeld 11"/>
          <p:cNvSpPr/>
          <p:nvPr/>
        </p:nvSpPr>
        <p:spPr>
          <a:xfrm>
            <a:off x="304200" y="2566080"/>
            <a:ext cx="9578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Zitat mit einer Auslassung</a:t>
            </a:r>
            <a:endParaRPr b="0" lang="de-DE" sz="1800" strike="noStrike" u="none">
              <a:solidFill>
                <a:srgbClr val="000000"/>
              </a:solidFill>
              <a:effectLst/>
              <a:uFillTx/>
              <a:latin typeface="Arial"/>
            </a:endParaRPr>
          </a:p>
        </p:txBody>
      </p:sp>
      <p:sp>
        <p:nvSpPr>
          <p:cNvPr id="162" name="Textfeld 12"/>
          <p:cNvSpPr/>
          <p:nvPr/>
        </p:nvSpPr>
        <p:spPr>
          <a:xfrm>
            <a:off x="304200" y="4140720"/>
            <a:ext cx="9578880" cy="172080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Sinngemäße Zitate</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WIERIGER geht davon aus, dass der Gasantrieb umweltfreundlicher ist [12].</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WALTER [1986a] kam zu dem Ergebnis, dass Elektrosmog gesundheitsschädlich ist.</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Erhöhte Abgaswerte haben einen Einfluss auf die Luftverschmutzung in Städten    </a:t>
            </a: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[MEYER, 2018].</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 Zitaten – Quellenangaben in Bildunterschriften</a:t>
            </a:r>
            <a:endParaRPr b="0" lang="de-DE" sz="2000" strike="noStrike" u="none">
              <a:solidFill>
                <a:schemeClr val="dk1"/>
              </a:solidFill>
              <a:effectLst/>
              <a:uFillTx/>
              <a:latin typeface="Arial"/>
            </a:endParaRPr>
          </a:p>
        </p:txBody>
      </p:sp>
      <p:cxnSp>
        <p:nvCxnSpPr>
          <p:cNvPr id="164" name="Gerade Verbindung 7"/>
          <p:cNvCxnSpPr/>
          <p:nvPr/>
        </p:nvCxnSpPr>
        <p:spPr>
          <a:xfrm>
            <a:off x="303840" y="532440"/>
            <a:ext cx="10081440" cy="360"/>
          </a:xfrm>
          <a:prstGeom prst="straightConnector1">
            <a:avLst/>
          </a:prstGeom>
          <a:ln>
            <a:solidFill>
              <a:srgbClr val="db0031"/>
            </a:solidFill>
            <a:round/>
          </a:ln>
        </p:spPr>
      </p:cxnSp>
      <p:sp>
        <p:nvSpPr>
          <p:cNvPr id="165"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Quellenangaben und Zitate</a:t>
            </a:r>
            <a:endParaRPr b="0" lang="de-DE" sz="1200" strike="noStrike" u="none">
              <a:solidFill>
                <a:srgbClr val="000000"/>
              </a:solidFill>
              <a:effectLst/>
              <a:uFillTx/>
              <a:latin typeface="Arial"/>
            </a:endParaRPr>
          </a:p>
        </p:txBody>
      </p:sp>
      <p:sp>
        <p:nvSpPr>
          <p:cNvPr id="166" name="Textfeld 9"/>
          <p:cNvSpPr/>
          <p:nvPr/>
        </p:nvSpPr>
        <p:spPr>
          <a:xfrm>
            <a:off x="304200" y="1252440"/>
            <a:ext cx="9938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Bildunterschriften von Abbildungen </a:t>
            </a:r>
            <a:r>
              <a:rPr b="0" lang="de-DE" sz="1800" strike="noStrike" u="sng">
                <a:solidFill>
                  <a:srgbClr val="000000"/>
                </a:solidFill>
                <a:effectLst/>
                <a:uFillTx/>
                <a:latin typeface="Avenir Book"/>
                <a:ea typeface="ＭＳ Ｐゴシック"/>
              </a:rPr>
              <a:t>ohne</a:t>
            </a:r>
            <a:r>
              <a:rPr b="0" lang="de-DE" sz="1800" strike="noStrike" u="none">
                <a:solidFill>
                  <a:srgbClr val="000000"/>
                </a:solidFill>
                <a:effectLst/>
                <a:uFillTx/>
                <a:latin typeface="Avenir Book"/>
                <a:ea typeface="ＭＳ Ｐゴシック"/>
              </a:rPr>
              <a:t> (von Ihnen) vorgenommene Änderungen</a:t>
            </a:r>
            <a:endParaRPr b="0" lang="de-DE" sz="1800" strike="noStrike" u="none">
              <a:solidFill>
                <a:srgbClr val="000000"/>
              </a:solidFill>
              <a:effectLst/>
              <a:uFillTx/>
              <a:latin typeface="Arial"/>
            </a:endParaRPr>
          </a:p>
        </p:txBody>
      </p:sp>
      <p:pic>
        <p:nvPicPr>
          <p:cNvPr id="167" name="Grafik 5" descr=""/>
          <p:cNvPicPr/>
          <p:nvPr/>
        </p:nvPicPr>
        <p:blipFill>
          <a:blip r:embed="rId1"/>
          <a:stretch/>
        </p:blipFill>
        <p:spPr>
          <a:xfrm>
            <a:off x="742680" y="4716720"/>
            <a:ext cx="6082560" cy="1520280"/>
          </a:xfrm>
          <a:prstGeom prst="rect">
            <a:avLst/>
          </a:prstGeom>
          <a:noFill/>
          <a:ln w="0">
            <a:noFill/>
          </a:ln>
        </p:spPr>
      </p:pic>
      <p:sp>
        <p:nvSpPr>
          <p:cNvPr id="168" name="Textfeld 6"/>
          <p:cNvSpPr/>
          <p:nvPr/>
        </p:nvSpPr>
        <p:spPr>
          <a:xfrm>
            <a:off x="738360" y="1668960"/>
            <a:ext cx="8640720" cy="35136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Abb. 17 </a:t>
            </a:r>
            <a:r>
              <a:rPr b="0" lang="de-DE" sz="1600" strike="noStrike" u="none">
                <a:solidFill>
                  <a:srgbClr val="000000"/>
                </a:solidFill>
                <a:effectLst/>
                <a:uFillTx/>
                <a:latin typeface="Avenir Book"/>
                <a:ea typeface="ＭＳ Ｐゴシック"/>
              </a:rPr>
              <a:t>Kraftstoffverbrauch bei verschiedenen Brennraumgeometrien [Müller, 1990, S. 35]</a:t>
            </a:r>
            <a:endParaRPr b="0" lang="de-DE" sz="1600" strike="noStrike" u="none">
              <a:solidFill>
                <a:srgbClr val="000000"/>
              </a:solidFill>
              <a:effectLst/>
              <a:uFillTx/>
              <a:latin typeface="Arial"/>
            </a:endParaRPr>
          </a:p>
        </p:txBody>
      </p:sp>
      <p:sp>
        <p:nvSpPr>
          <p:cNvPr id="169" name="Textfeld 10"/>
          <p:cNvSpPr/>
          <p:nvPr/>
        </p:nvSpPr>
        <p:spPr>
          <a:xfrm>
            <a:off x="304200" y="2289240"/>
            <a:ext cx="9938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Bildunterschriften von Abbildungen </a:t>
            </a:r>
            <a:r>
              <a:rPr b="0" lang="de-DE" sz="1800" strike="noStrike" u="sng">
                <a:solidFill>
                  <a:srgbClr val="000000"/>
                </a:solidFill>
                <a:effectLst/>
                <a:uFillTx/>
                <a:latin typeface="Avenir Book"/>
                <a:ea typeface="ＭＳ Ｐゴシック"/>
              </a:rPr>
              <a:t>mit</a:t>
            </a:r>
            <a:r>
              <a:rPr b="0" lang="de-DE" sz="1800" strike="noStrike" u="none">
                <a:solidFill>
                  <a:srgbClr val="000000"/>
                </a:solidFill>
                <a:effectLst/>
                <a:uFillTx/>
                <a:latin typeface="Avenir Book"/>
                <a:ea typeface="ＭＳ Ｐゴシック"/>
              </a:rPr>
              <a:t> (von Ihnen) vorgenommene Änderungen</a:t>
            </a:r>
            <a:endParaRPr b="0" lang="de-DE" sz="1800" strike="noStrike" u="none">
              <a:solidFill>
                <a:srgbClr val="000000"/>
              </a:solidFill>
              <a:effectLst/>
              <a:uFillTx/>
              <a:latin typeface="Arial"/>
            </a:endParaRPr>
          </a:p>
        </p:txBody>
      </p:sp>
      <p:sp>
        <p:nvSpPr>
          <p:cNvPr id="170" name="Textfeld 11"/>
          <p:cNvSpPr/>
          <p:nvPr/>
        </p:nvSpPr>
        <p:spPr>
          <a:xfrm>
            <a:off x="738360" y="2727720"/>
            <a:ext cx="864072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Abb. 17 </a:t>
            </a:r>
            <a:r>
              <a:rPr b="0" lang="de-DE" sz="1600" strike="noStrike" u="none">
                <a:solidFill>
                  <a:srgbClr val="000000"/>
                </a:solidFill>
                <a:effectLst/>
                <a:uFillTx/>
                <a:latin typeface="Avenir Book"/>
                <a:ea typeface="ＭＳ Ｐゴシック"/>
              </a:rPr>
              <a:t>Kraftstoffverbrauch bei verschiedenen Brennraumgeometrien nach MÜLLER     </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[Müller, 1990, S. 35]</a:t>
            </a:r>
            <a:endParaRPr b="0" lang="de-DE" sz="1600" strike="noStrike" u="none">
              <a:solidFill>
                <a:srgbClr val="000000"/>
              </a:solidFill>
              <a:effectLst/>
              <a:uFillTx/>
              <a:latin typeface="Arial"/>
            </a:endParaRPr>
          </a:p>
        </p:txBody>
      </p:sp>
      <p:sp>
        <p:nvSpPr>
          <p:cNvPr id="171" name="Textfeld 12"/>
          <p:cNvSpPr/>
          <p:nvPr/>
        </p:nvSpPr>
        <p:spPr>
          <a:xfrm>
            <a:off x="304200" y="3636720"/>
            <a:ext cx="9938880" cy="93600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Wenn Sie eine Information/Bild aus dem Internet verwenden, müssen Sie es korrekt zitieren indem Sie z.B. in der letzten Zeile der Bildunterschrift die Internet-Adresse des Bildes (a) oder die Internet-Adresse der HTML-Seite, auf der das Bild verwendet wird, (b) zu zitieren.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Literaturverzeichnis</a:t>
            </a:r>
            <a:endParaRPr b="0" lang="de-DE" sz="2000" strike="noStrike" u="none">
              <a:solidFill>
                <a:schemeClr val="dk1"/>
              </a:solidFill>
              <a:effectLst/>
              <a:uFillTx/>
              <a:latin typeface="Arial"/>
            </a:endParaRPr>
          </a:p>
        </p:txBody>
      </p:sp>
      <p:cxnSp>
        <p:nvCxnSpPr>
          <p:cNvPr id="173" name="Gerade Verbindung 7"/>
          <p:cNvCxnSpPr/>
          <p:nvPr/>
        </p:nvCxnSpPr>
        <p:spPr>
          <a:xfrm>
            <a:off x="303840" y="532440"/>
            <a:ext cx="10081440" cy="360"/>
          </a:xfrm>
          <a:prstGeom prst="straightConnector1">
            <a:avLst/>
          </a:prstGeom>
          <a:ln>
            <a:solidFill>
              <a:srgbClr val="db0031"/>
            </a:solidFill>
            <a:round/>
          </a:ln>
        </p:spPr>
      </p:cxnSp>
      <p:sp>
        <p:nvSpPr>
          <p:cNvPr id="174"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Literaturverzeichnis</a:t>
            </a:r>
            <a:endParaRPr b="0" lang="de-DE" sz="1200" strike="noStrike" u="none">
              <a:solidFill>
                <a:srgbClr val="000000"/>
              </a:solidFill>
              <a:effectLst/>
              <a:uFillTx/>
              <a:latin typeface="Arial"/>
            </a:endParaRPr>
          </a:p>
        </p:txBody>
      </p:sp>
      <p:sp>
        <p:nvSpPr>
          <p:cNvPr id="175" name="Textfeld 9"/>
          <p:cNvSpPr/>
          <p:nvPr/>
        </p:nvSpPr>
        <p:spPr>
          <a:xfrm>
            <a:off x="304200" y="1252440"/>
            <a:ext cx="9866880" cy="278280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Im Literaturverzeichnis werden die bibliografischen Angaben zu den zitierten Publikationen (Zeitschriftenartikel, Bücher, Onlinequellen, etc.) gesammelt.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Das Literaturverzeichnis wird immer direkt nach dem letzten Textkapitel angeordnet.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Legen Sie das Layout gleich zu Beginn an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Das Literaturverzeichnis wird (meistens) alphabetisch nach Autorennamen sortiert. </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 !!! Haben Sie die kurze Quellenangabe im Fließtext gewählt, erscheinen die</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a:t>
            </a:r>
            <a:r>
              <a:rPr b="0" lang="de-DE" sz="1800" strike="noStrike" u="none">
                <a:solidFill>
                  <a:srgbClr val="000000"/>
                </a:solidFill>
                <a:effectLst/>
                <a:uFillTx/>
                <a:latin typeface="Avenir Book"/>
                <a:ea typeface="ＭＳ Ｐゴシック"/>
              </a:rPr>
              <a:t>    Quellenangaben vorn im Text nicht mehr in der Reihenfolge [1], [2], [3] usw., sondern z.B.</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       in der Reihenfolge [34], [19], [83] usw.</a:t>
            </a:r>
            <a:endParaRPr b="0" lang="de-DE" sz="1800" strike="noStrike" u="none">
              <a:solidFill>
                <a:srgbClr val="000000"/>
              </a:solidFill>
              <a:effectLst/>
              <a:uFillTx/>
              <a:latin typeface="Arial"/>
            </a:endParaRPr>
          </a:p>
        </p:txBody>
      </p:sp>
      <p:sp>
        <p:nvSpPr>
          <p:cNvPr id="176" name="Textfeld 6"/>
          <p:cNvSpPr/>
          <p:nvPr/>
        </p:nvSpPr>
        <p:spPr>
          <a:xfrm>
            <a:off x="3834360" y="4860720"/>
            <a:ext cx="259200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Bild: Literaturverz.</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Literaturverzeichnis - Quellenverwaltungsprogramme</a:t>
            </a:r>
            <a:endParaRPr b="0" lang="de-DE" sz="2000" strike="noStrike" u="none">
              <a:solidFill>
                <a:schemeClr val="dk1"/>
              </a:solidFill>
              <a:effectLst/>
              <a:uFillTx/>
              <a:latin typeface="Arial"/>
            </a:endParaRPr>
          </a:p>
        </p:txBody>
      </p:sp>
      <p:cxnSp>
        <p:nvCxnSpPr>
          <p:cNvPr id="178" name="Gerade Verbindung 7"/>
          <p:cNvCxnSpPr/>
          <p:nvPr/>
        </p:nvCxnSpPr>
        <p:spPr>
          <a:xfrm>
            <a:off x="303840" y="532440"/>
            <a:ext cx="10081440" cy="360"/>
          </a:xfrm>
          <a:prstGeom prst="straightConnector1">
            <a:avLst/>
          </a:prstGeom>
          <a:ln>
            <a:solidFill>
              <a:srgbClr val="db0031"/>
            </a:solidFill>
            <a:round/>
          </a:ln>
        </p:spPr>
      </p:cxnSp>
      <p:sp>
        <p:nvSpPr>
          <p:cNvPr id="179"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Literaturverzeichnis</a:t>
            </a:r>
            <a:endParaRPr b="0" lang="de-DE" sz="1200" strike="noStrike" u="none">
              <a:solidFill>
                <a:srgbClr val="000000"/>
              </a:solidFill>
              <a:effectLst/>
              <a:uFillTx/>
              <a:latin typeface="Arial"/>
            </a:endParaRPr>
          </a:p>
        </p:txBody>
      </p:sp>
      <p:sp>
        <p:nvSpPr>
          <p:cNvPr id="180" name="Textfeld 9"/>
          <p:cNvSpPr/>
          <p:nvPr/>
        </p:nvSpPr>
        <p:spPr>
          <a:xfrm>
            <a:off x="304200" y="1252440"/>
            <a:ext cx="9866880" cy="38196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Citavi, EndNote</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Literaturverzeichnis </a:t>
            </a:r>
            <a:endParaRPr b="0" lang="de-DE" sz="2000" strike="noStrike" u="none">
              <a:solidFill>
                <a:schemeClr val="dk1"/>
              </a:solidFill>
              <a:effectLst/>
              <a:uFillTx/>
              <a:latin typeface="Arial"/>
            </a:endParaRPr>
          </a:p>
        </p:txBody>
      </p:sp>
      <p:cxnSp>
        <p:nvCxnSpPr>
          <p:cNvPr id="182" name="Gerade Verbindung 7"/>
          <p:cNvCxnSpPr/>
          <p:nvPr/>
        </p:nvCxnSpPr>
        <p:spPr>
          <a:xfrm>
            <a:off x="303840" y="532440"/>
            <a:ext cx="10081440" cy="360"/>
          </a:xfrm>
          <a:prstGeom prst="straightConnector1">
            <a:avLst/>
          </a:prstGeom>
          <a:ln>
            <a:solidFill>
              <a:srgbClr val="db0031"/>
            </a:solidFill>
            <a:round/>
          </a:ln>
        </p:spPr>
      </p:cxnSp>
      <p:sp>
        <p:nvSpPr>
          <p:cNvPr id="183"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Literaturverzeichnis</a:t>
            </a:r>
            <a:endParaRPr b="0" lang="de-DE" sz="1200" strike="noStrike" u="none">
              <a:solidFill>
                <a:srgbClr val="000000"/>
              </a:solidFill>
              <a:effectLst/>
              <a:uFillTx/>
              <a:latin typeface="Arial"/>
            </a:endParaRPr>
          </a:p>
        </p:txBody>
      </p:sp>
      <p:sp>
        <p:nvSpPr>
          <p:cNvPr id="184" name="Textfeld 9"/>
          <p:cNvSpPr/>
          <p:nvPr/>
        </p:nvSpPr>
        <p:spPr>
          <a:xfrm>
            <a:off x="304200" y="1252440"/>
            <a:ext cx="9146880" cy="65880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Allgemeine Hinweise zu bibliografische Angaben für gängige Publikationsarten nach DIN 1505</a:t>
            </a:r>
            <a:endParaRPr b="0" lang="de-DE" sz="1800" strike="noStrike" u="none">
              <a:solidFill>
                <a:srgbClr val="000000"/>
              </a:solidFill>
              <a:effectLst/>
              <a:uFillTx/>
              <a:latin typeface="Arial"/>
            </a:endParaRPr>
          </a:p>
        </p:txBody>
      </p:sp>
      <p:pic>
        <p:nvPicPr>
          <p:cNvPr id="185" name="Grafik 5" descr=""/>
          <p:cNvPicPr/>
          <p:nvPr/>
        </p:nvPicPr>
        <p:blipFill>
          <a:blip r:embed="rId1"/>
          <a:srcRect l="0" t="54689" r="0" b="0"/>
          <a:stretch/>
        </p:blipFill>
        <p:spPr>
          <a:xfrm>
            <a:off x="4877640" y="2245320"/>
            <a:ext cx="4392000" cy="2834280"/>
          </a:xfrm>
          <a:prstGeom prst="rect">
            <a:avLst/>
          </a:prstGeom>
          <a:noFill/>
          <a:ln w="0">
            <a:noFill/>
          </a:ln>
        </p:spPr>
      </p:pic>
      <p:pic>
        <p:nvPicPr>
          <p:cNvPr id="186" name="Grafik 6" descr=""/>
          <p:cNvPicPr/>
          <p:nvPr/>
        </p:nvPicPr>
        <p:blipFill>
          <a:blip r:embed="rId2"/>
          <a:srcRect l="0" t="0" r="0" b="44968"/>
          <a:stretch/>
        </p:blipFill>
        <p:spPr>
          <a:xfrm>
            <a:off x="304200" y="2055960"/>
            <a:ext cx="4392000" cy="3442320"/>
          </a:xfrm>
          <a:prstGeom prst="rect">
            <a:avLst/>
          </a:prstGeom>
          <a:noFill/>
          <a:ln w="0">
            <a:noFill/>
          </a:ln>
        </p:spPr>
      </p:pic>
      <p:pic>
        <p:nvPicPr>
          <p:cNvPr id="187" name="Grafik 10" descr=""/>
          <p:cNvPicPr/>
          <p:nvPr/>
        </p:nvPicPr>
        <p:blipFill>
          <a:blip r:embed="rId3"/>
          <a:srcRect l="0" t="0" r="0" b="96679"/>
          <a:stretch/>
        </p:blipFill>
        <p:spPr>
          <a:xfrm>
            <a:off x="4877640" y="2060280"/>
            <a:ext cx="4392000" cy="20664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Hilfreiche Hinweise zur Textproduktion - Stilhinweise</a:t>
            </a:r>
            <a:endParaRPr b="0" lang="de-DE" sz="2000" strike="noStrike" u="none">
              <a:solidFill>
                <a:schemeClr val="dk1"/>
              </a:solidFill>
              <a:effectLst/>
              <a:uFillTx/>
              <a:latin typeface="Arial"/>
            </a:endParaRPr>
          </a:p>
        </p:txBody>
      </p:sp>
      <p:cxnSp>
        <p:nvCxnSpPr>
          <p:cNvPr id="189" name="Gerade Verbindung 7"/>
          <p:cNvCxnSpPr/>
          <p:nvPr/>
        </p:nvCxnSpPr>
        <p:spPr>
          <a:xfrm>
            <a:off x="303840" y="532440"/>
            <a:ext cx="10081440" cy="360"/>
          </a:xfrm>
          <a:prstGeom prst="straightConnector1">
            <a:avLst/>
          </a:prstGeom>
          <a:ln>
            <a:solidFill>
              <a:srgbClr val="db0031"/>
            </a:solidFill>
            <a:round/>
          </a:ln>
        </p:spPr>
      </p:cxnSp>
      <p:sp>
        <p:nvSpPr>
          <p:cNvPr id="190"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191" name="Textfeld 9"/>
          <p:cNvSpPr/>
          <p:nvPr/>
        </p:nvSpPr>
        <p:spPr>
          <a:xfrm>
            <a:off x="304200" y="1252440"/>
            <a:ext cx="479736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Do‘s</a:t>
            </a:r>
            <a:endParaRPr b="0" lang="de-DE" sz="1800" strike="noStrike" u="none">
              <a:solidFill>
                <a:srgbClr val="000000"/>
              </a:solidFill>
              <a:effectLst/>
              <a:uFillTx/>
              <a:latin typeface="Arial"/>
            </a:endParaRPr>
          </a:p>
        </p:txBody>
      </p:sp>
      <p:sp>
        <p:nvSpPr>
          <p:cNvPr id="192" name="Textfeld 5"/>
          <p:cNvSpPr/>
          <p:nvPr/>
        </p:nvSpPr>
        <p:spPr>
          <a:xfrm>
            <a:off x="5562720" y="1270080"/>
            <a:ext cx="482220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Dont‘s</a:t>
            </a:r>
            <a:endParaRPr b="0" lang="de-DE" sz="1800" strike="noStrike" u="none">
              <a:solidFill>
                <a:srgbClr val="000000"/>
              </a:solidFill>
              <a:effectLst/>
              <a:uFillTx/>
              <a:latin typeface="Arial"/>
            </a:endParaRPr>
          </a:p>
        </p:txBody>
      </p:sp>
      <p:cxnSp>
        <p:nvCxnSpPr>
          <p:cNvPr id="193" name="Gerade Verbindung 2"/>
          <p:cNvCxnSpPr/>
          <p:nvPr/>
        </p:nvCxnSpPr>
        <p:spPr>
          <a:xfrm>
            <a:off x="5346360" y="1058400"/>
            <a:ext cx="360" cy="5444640"/>
          </a:xfrm>
          <a:prstGeom prst="straightConnector1">
            <a:avLst/>
          </a:prstGeom>
          <a:ln w="28575">
            <a:solidFill>
              <a:srgbClr val="000000"/>
            </a:solidFill>
            <a:round/>
          </a:ln>
        </p:spPr>
      </p:cxnSp>
      <p:pic>
        <p:nvPicPr>
          <p:cNvPr id="194" name="Grafik 6"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8443080" y="1135080"/>
            <a:ext cx="528840" cy="528840"/>
          </a:xfrm>
          <a:prstGeom prst="rect">
            <a:avLst/>
          </a:prstGeom>
          <a:noFill/>
          <a:ln w="0">
            <a:noFill/>
          </a:ln>
        </p:spPr>
      </p:pic>
      <p:pic>
        <p:nvPicPr>
          <p:cNvPr id="195" name="Grafik 13"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1818360" y="1142280"/>
            <a:ext cx="501480" cy="501480"/>
          </a:xfrm>
          <a:prstGeom prst="rect">
            <a:avLst/>
          </a:prstGeom>
          <a:noFill/>
          <a:ln w="0">
            <a:noFill/>
          </a:ln>
        </p:spPr>
      </p:pic>
      <p:sp>
        <p:nvSpPr>
          <p:cNvPr id="196" name="Textfeld 10"/>
          <p:cNvSpPr/>
          <p:nvPr/>
        </p:nvSpPr>
        <p:spPr>
          <a:xfrm>
            <a:off x="304200" y="1793160"/>
            <a:ext cx="4826160" cy="11667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Der Technische Bericht wird in der Regel „unpersönlich“ geschrieben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Es werden </a:t>
            </a:r>
            <a:r>
              <a:rPr b="1" lang="de-DE" sz="1600" strike="noStrike" u="none">
                <a:solidFill>
                  <a:srgbClr val="000000"/>
                </a:solidFill>
                <a:effectLst/>
                <a:uFillTx/>
                <a:latin typeface="Avenir Book"/>
                <a:ea typeface="ＭＳ Ｐゴシック"/>
              </a:rPr>
              <a:t>Passivkonstruktionen</a:t>
            </a:r>
            <a:r>
              <a:rPr b="0" lang="de-DE" sz="1600" strike="noStrike" u="none">
                <a:solidFill>
                  <a:srgbClr val="000000"/>
                </a:solidFill>
                <a:effectLst/>
                <a:uFillTx/>
                <a:latin typeface="Avenir Book"/>
                <a:ea typeface="ＭＳ Ｐゴシック"/>
              </a:rPr>
              <a:t> anstelle von Personalpronomen verwendet. </a:t>
            </a:r>
            <a:r>
              <a:rPr b="0" lang="de-DE" sz="1600" strike="noStrike" u="none">
                <a:solidFill>
                  <a:srgbClr val="000000"/>
                </a:solidFill>
                <a:effectLst/>
                <a:uFillTx/>
                <a:latin typeface="Avenir Book"/>
                <a:ea typeface="ＭＳ Ｐゴシック"/>
              </a:rPr>
              <a:t>	</a:t>
            </a:r>
            <a:endParaRPr b="0" lang="de-DE" sz="1600" strike="noStrike" u="none">
              <a:solidFill>
                <a:srgbClr val="000000"/>
              </a:solidFill>
              <a:effectLst/>
              <a:uFillTx/>
              <a:latin typeface="Arial"/>
            </a:endParaRPr>
          </a:p>
        </p:txBody>
      </p:sp>
      <p:sp>
        <p:nvSpPr>
          <p:cNvPr id="197" name="Textfeld 11"/>
          <p:cNvSpPr/>
          <p:nvPr/>
        </p:nvSpPr>
        <p:spPr>
          <a:xfrm>
            <a:off x="5452560" y="1786680"/>
            <a:ext cx="4826160" cy="858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„Ich, wir, mein, unser, man usw.“ werden also nicht verwendet. </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200" strike="noStrike" u="none">
                <a:solidFill>
                  <a:srgbClr val="000000"/>
                </a:solidFill>
                <a:effectLst/>
                <a:uFillTx/>
                <a:latin typeface="Avenir Book"/>
                <a:ea typeface="ＭＳ Ｐゴシック"/>
              </a:rPr>
              <a:t>(Ausnahme: Zusammenfassung, Diskussion, kritische Würdigung)</a:t>
            </a:r>
            <a:endParaRPr b="0" lang="de-DE" sz="1200" strike="noStrike" u="none">
              <a:solidFill>
                <a:srgbClr val="000000"/>
              </a:solidFill>
              <a:effectLst/>
              <a:uFillTx/>
              <a:latin typeface="Arial"/>
            </a:endParaRPr>
          </a:p>
        </p:txBody>
      </p:sp>
      <p:sp>
        <p:nvSpPr>
          <p:cNvPr id="198" name="Textfeld 12"/>
          <p:cNvSpPr/>
          <p:nvPr/>
        </p:nvSpPr>
        <p:spPr>
          <a:xfrm>
            <a:off x="5440320" y="3061080"/>
            <a:ext cx="482040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Aktiv/persönlich: </a:t>
            </a:r>
            <a:r>
              <a:rPr b="0" lang="de-DE" sz="1600" strike="noStrike" u="none">
                <a:solidFill>
                  <a:srgbClr val="000000"/>
                </a:solidFill>
                <a:effectLst/>
                <a:uFillTx/>
                <a:latin typeface="Avenir Book"/>
                <a:ea typeface="ＭＳ Ｐゴシック"/>
              </a:rPr>
              <a:t>„Danach haben wir folgende Alternativen geprüft“</a:t>
            </a:r>
            <a:endParaRPr b="0" lang="de-DE" sz="1600" strike="noStrike" u="none">
              <a:solidFill>
                <a:srgbClr val="000000"/>
              </a:solidFill>
              <a:effectLst/>
              <a:uFillTx/>
              <a:latin typeface="Arial"/>
            </a:endParaRPr>
          </a:p>
        </p:txBody>
      </p:sp>
      <p:sp>
        <p:nvSpPr>
          <p:cNvPr id="199" name="Textfeld 14"/>
          <p:cNvSpPr/>
          <p:nvPr/>
        </p:nvSpPr>
        <p:spPr>
          <a:xfrm>
            <a:off x="423000" y="306108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1" lang="de-DE" sz="1600" strike="noStrike" u="none">
                <a:solidFill>
                  <a:srgbClr val="000000"/>
                </a:solidFill>
                <a:effectLst/>
                <a:uFillTx/>
                <a:latin typeface="Avenir Book"/>
                <a:ea typeface="ＭＳ Ｐゴシック"/>
              </a:rPr>
              <a:t>Passiv/unpersönlich: </a:t>
            </a:r>
            <a:r>
              <a:rPr b="0" lang="de-DE" sz="1600" strike="noStrike" u="none">
                <a:solidFill>
                  <a:srgbClr val="000000"/>
                </a:solidFill>
                <a:effectLst/>
                <a:uFillTx/>
                <a:latin typeface="Avenir Book"/>
                <a:ea typeface="ＭＳ Ｐゴシック"/>
              </a:rPr>
              <a:t>„Danach sind folgende Alternativen geprüft worden“</a:t>
            </a:r>
            <a:endParaRPr b="0" lang="de-DE" sz="1600" strike="noStrike" u="none">
              <a:solidFill>
                <a:srgbClr val="000000"/>
              </a:solidFill>
              <a:effectLst/>
              <a:uFillTx/>
              <a:latin typeface="Arial"/>
            </a:endParaRPr>
          </a:p>
        </p:txBody>
      </p:sp>
      <p:pic>
        <p:nvPicPr>
          <p:cNvPr id="200" name="Grafik 15" descr="Abzeichen Tick1 mit einfarbiger Füllung"/>
          <p:cNvPicPr/>
          <p:nvPr/>
        </p:nvPicPr>
        <p:blipFill>
          <a:blip r:embed="rId5">
            <a:extLst>
              <a:ext uri="{96DAC541-7B7A-43D3-8B79-37D633B846F1}">
                <asvg:svgBlip xmlns:asvg="http://schemas.microsoft.com/office/drawing/2016/SVG/main" r:embed="rId6"/>
              </a:ext>
            </a:extLst>
          </a:blip>
          <a:stretch/>
        </p:blipFill>
        <p:spPr>
          <a:xfrm>
            <a:off x="518760" y="3088080"/>
            <a:ext cx="501480" cy="501480"/>
          </a:xfrm>
          <a:prstGeom prst="rect">
            <a:avLst/>
          </a:prstGeom>
          <a:noFill/>
          <a:ln w="0">
            <a:noFill/>
          </a:ln>
        </p:spPr>
      </p:pic>
      <p:pic>
        <p:nvPicPr>
          <p:cNvPr id="201" name="Grafik 16" descr="Verbotsschild mit einfarbiger Füllung"/>
          <p:cNvPicPr/>
          <p:nvPr/>
        </p:nvPicPr>
        <p:blipFill>
          <a:blip r:embed="rId7">
            <a:extLst>
              <a:ext uri="{96DAC541-7B7A-43D3-8B79-37D633B846F1}">
                <asvg:svgBlip xmlns:asvg="http://schemas.microsoft.com/office/drawing/2016/SVG/main" r:embed="rId8"/>
              </a:ext>
            </a:extLst>
          </a:blip>
          <a:stretch/>
        </p:blipFill>
        <p:spPr>
          <a:xfrm>
            <a:off x="9731880" y="3111840"/>
            <a:ext cx="528840" cy="528840"/>
          </a:xfrm>
          <a:prstGeom prst="rect">
            <a:avLst/>
          </a:prstGeom>
          <a:noFill/>
          <a:ln w="0">
            <a:noFill/>
          </a:ln>
        </p:spPr>
      </p:pic>
      <p:sp>
        <p:nvSpPr>
          <p:cNvPr id="202" name="Textfeld 17"/>
          <p:cNvSpPr/>
          <p:nvPr/>
        </p:nvSpPr>
        <p:spPr>
          <a:xfrm>
            <a:off x="304200" y="4017240"/>
            <a:ext cx="4826160" cy="3513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Umgangssprachlichen Formulierungen vermeiden</a:t>
            </a:r>
            <a:endParaRPr b="0" lang="de-DE" sz="1600" strike="noStrike" u="none">
              <a:solidFill>
                <a:srgbClr val="000000"/>
              </a:solidFill>
              <a:effectLst/>
              <a:uFillTx/>
              <a:latin typeface="Arial"/>
            </a:endParaRPr>
          </a:p>
        </p:txBody>
      </p:sp>
      <p:sp>
        <p:nvSpPr>
          <p:cNvPr id="203" name="Textfeld 22"/>
          <p:cNvSpPr/>
          <p:nvPr/>
        </p:nvSpPr>
        <p:spPr>
          <a:xfrm>
            <a:off x="426600" y="450072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„Ziel dieser Projektarbeit ist die             Entwicklung einer Zeitmaschine.“</a:t>
            </a:r>
            <a:endParaRPr b="0" lang="de-DE" sz="1600" strike="noStrike" u="none">
              <a:solidFill>
                <a:srgbClr val="000000"/>
              </a:solidFill>
              <a:effectLst/>
              <a:uFillTx/>
              <a:latin typeface="Arial"/>
            </a:endParaRPr>
          </a:p>
        </p:txBody>
      </p:sp>
      <p:pic>
        <p:nvPicPr>
          <p:cNvPr id="204" name="Grafik 23" descr="Abzeichen Tick1 mit einfarbiger Füllung"/>
          <p:cNvPicPr/>
          <p:nvPr/>
        </p:nvPicPr>
        <p:blipFill>
          <a:blip r:embed="rId9">
            <a:extLst>
              <a:ext uri="{96DAC541-7B7A-43D3-8B79-37D633B846F1}">
                <asvg:svgBlip xmlns:asvg="http://schemas.microsoft.com/office/drawing/2016/SVG/main" r:embed="rId10"/>
              </a:ext>
            </a:extLst>
          </a:blip>
          <a:stretch/>
        </p:blipFill>
        <p:spPr>
          <a:xfrm>
            <a:off x="522000" y="4571280"/>
            <a:ext cx="501480" cy="501480"/>
          </a:xfrm>
          <a:prstGeom prst="rect">
            <a:avLst/>
          </a:prstGeom>
          <a:noFill/>
          <a:ln w="0">
            <a:noFill/>
          </a:ln>
        </p:spPr>
      </p:pic>
      <p:sp>
        <p:nvSpPr>
          <p:cNvPr id="205" name="Textfeld 24"/>
          <p:cNvSpPr/>
          <p:nvPr/>
        </p:nvSpPr>
        <p:spPr>
          <a:xfrm>
            <a:off x="5440320" y="450072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„In der Projektarbeit geht es darum eine Zeitmaschine zu entwickeln.“</a:t>
            </a:r>
            <a:endParaRPr b="0" lang="de-DE" sz="1600" strike="noStrike" u="none">
              <a:solidFill>
                <a:srgbClr val="000000"/>
              </a:solidFill>
              <a:effectLst/>
              <a:uFillTx/>
              <a:latin typeface="Arial"/>
            </a:endParaRPr>
          </a:p>
        </p:txBody>
      </p:sp>
      <p:pic>
        <p:nvPicPr>
          <p:cNvPr id="206" name="Grafik 25" descr="Verbotsschild mit einfarbiger Füllung"/>
          <p:cNvPicPr/>
          <p:nvPr/>
        </p:nvPicPr>
        <p:blipFill>
          <a:blip r:embed="rId11">
            <a:extLst>
              <a:ext uri="{96DAC541-7B7A-43D3-8B79-37D633B846F1}">
                <asvg:svgBlip xmlns:asvg="http://schemas.microsoft.com/office/drawing/2016/SVG/main" r:embed="rId12"/>
              </a:ext>
            </a:extLst>
          </a:blip>
          <a:stretch/>
        </p:blipFill>
        <p:spPr>
          <a:xfrm>
            <a:off x="9731880" y="4534920"/>
            <a:ext cx="528840" cy="528840"/>
          </a:xfrm>
          <a:prstGeom prst="rect">
            <a:avLst/>
          </a:prstGeom>
          <a:noFill/>
          <a:ln w="0">
            <a:noFill/>
          </a:ln>
        </p:spPr>
      </p:pic>
      <p:sp>
        <p:nvSpPr>
          <p:cNvPr id="207" name="Textfeld 26"/>
          <p:cNvSpPr/>
          <p:nvPr/>
        </p:nvSpPr>
        <p:spPr>
          <a:xfrm>
            <a:off x="426600" y="518040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„Anschließend kommt das                      Multimeter zur Anwendung.“</a:t>
            </a:r>
            <a:endParaRPr b="0" lang="de-DE" sz="1600" strike="noStrike" u="none">
              <a:solidFill>
                <a:srgbClr val="000000"/>
              </a:solidFill>
              <a:effectLst/>
              <a:uFillTx/>
              <a:latin typeface="Arial"/>
            </a:endParaRPr>
          </a:p>
        </p:txBody>
      </p:sp>
      <p:pic>
        <p:nvPicPr>
          <p:cNvPr id="208" name="Grafik 27" descr="Abzeichen Tick1 mit einfarbiger Füllung"/>
          <p:cNvPicPr/>
          <p:nvPr/>
        </p:nvPicPr>
        <p:blipFill>
          <a:blip r:embed="rId13">
            <a:extLst>
              <a:ext uri="{96DAC541-7B7A-43D3-8B79-37D633B846F1}">
                <asvg:svgBlip xmlns:asvg="http://schemas.microsoft.com/office/drawing/2016/SVG/main" r:embed="rId14"/>
              </a:ext>
            </a:extLst>
          </a:blip>
          <a:stretch/>
        </p:blipFill>
        <p:spPr>
          <a:xfrm>
            <a:off x="522000" y="5250960"/>
            <a:ext cx="501480" cy="501480"/>
          </a:xfrm>
          <a:prstGeom prst="rect">
            <a:avLst/>
          </a:prstGeom>
          <a:noFill/>
          <a:ln w="0">
            <a:noFill/>
          </a:ln>
        </p:spPr>
      </p:pic>
      <p:sp>
        <p:nvSpPr>
          <p:cNvPr id="209" name="Textfeld 28"/>
          <p:cNvSpPr/>
          <p:nvPr/>
        </p:nvSpPr>
        <p:spPr>
          <a:xfrm>
            <a:off x="5440320" y="518040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„Danach kommt das Multimeter ins Spiel.“</a:t>
            </a:r>
            <a:endParaRPr b="0" lang="de-DE" sz="1600" strike="noStrike" u="none">
              <a:solidFill>
                <a:srgbClr val="000000"/>
              </a:solidFill>
              <a:effectLst/>
              <a:uFillTx/>
              <a:latin typeface="Arial"/>
            </a:endParaRPr>
          </a:p>
        </p:txBody>
      </p:sp>
      <p:pic>
        <p:nvPicPr>
          <p:cNvPr id="210" name="Grafik 29" descr="Verbotsschild mit einfarbiger Füllung"/>
          <p:cNvPicPr/>
          <p:nvPr/>
        </p:nvPicPr>
        <p:blipFill>
          <a:blip r:embed="rId15">
            <a:extLst>
              <a:ext uri="{96DAC541-7B7A-43D3-8B79-37D633B846F1}">
                <asvg:svgBlip xmlns:asvg="http://schemas.microsoft.com/office/drawing/2016/SVG/main" r:embed="rId16"/>
              </a:ext>
            </a:extLst>
          </a:blip>
          <a:stretch/>
        </p:blipFill>
        <p:spPr>
          <a:xfrm>
            <a:off x="9731880" y="5214600"/>
            <a:ext cx="528840" cy="528840"/>
          </a:xfrm>
          <a:prstGeom prst="rect">
            <a:avLst/>
          </a:prstGeom>
          <a:noFill/>
          <a:ln w="0">
            <a:noFill/>
          </a:ln>
        </p:spPr>
      </p:pic>
      <p:sp>
        <p:nvSpPr>
          <p:cNvPr id="211" name="Textfeld 30"/>
          <p:cNvSpPr/>
          <p:nvPr/>
        </p:nvSpPr>
        <p:spPr>
          <a:xfrm>
            <a:off x="5452560" y="587160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„Die erstellte Software läuft echt super.“ </a:t>
            </a:r>
            <a:endParaRPr b="0" lang="de-DE" sz="1600" strike="noStrike" u="none">
              <a:solidFill>
                <a:srgbClr val="000000"/>
              </a:solidFill>
              <a:effectLst/>
              <a:uFillTx/>
              <a:latin typeface="Arial"/>
            </a:endParaRPr>
          </a:p>
        </p:txBody>
      </p:sp>
      <p:pic>
        <p:nvPicPr>
          <p:cNvPr id="212" name="Grafik 31" descr="Verbotsschild mit einfarbiger Füllung"/>
          <p:cNvPicPr/>
          <p:nvPr/>
        </p:nvPicPr>
        <p:blipFill>
          <a:blip r:embed="rId17">
            <a:extLst>
              <a:ext uri="{96DAC541-7B7A-43D3-8B79-37D633B846F1}">
                <asvg:svgBlip xmlns:asvg="http://schemas.microsoft.com/office/drawing/2016/SVG/main" r:embed="rId18"/>
              </a:ext>
            </a:extLst>
          </a:blip>
          <a:stretch/>
        </p:blipFill>
        <p:spPr>
          <a:xfrm>
            <a:off x="9741240" y="5900760"/>
            <a:ext cx="528840" cy="528840"/>
          </a:xfrm>
          <a:prstGeom prst="rect">
            <a:avLst/>
          </a:prstGeom>
          <a:noFill/>
          <a:ln w="0">
            <a:noFill/>
          </a:ln>
        </p:spPr>
      </p:pic>
      <p:sp>
        <p:nvSpPr>
          <p:cNvPr id="213" name="Textfeld 32"/>
          <p:cNvSpPr/>
          <p:nvPr/>
        </p:nvSpPr>
        <p:spPr>
          <a:xfrm>
            <a:off x="423000" y="586116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„Die erstellte Software                            funktioniert einwandfrei.“</a:t>
            </a:r>
            <a:endParaRPr b="0" lang="de-DE" sz="1600" strike="noStrike" u="none">
              <a:solidFill>
                <a:srgbClr val="000000"/>
              </a:solidFill>
              <a:effectLst/>
              <a:uFillTx/>
              <a:latin typeface="Arial"/>
            </a:endParaRPr>
          </a:p>
        </p:txBody>
      </p:sp>
      <p:pic>
        <p:nvPicPr>
          <p:cNvPr id="214" name="Grafik 33" descr="Abzeichen Tick1 mit einfarbiger Füllung"/>
          <p:cNvPicPr/>
          <p:nvPr/>
        </p:nvPicPr>
        <p:blipFill>
          <a:blip r:embed="rId19">
            <a:extLst>
              <a:ext uri="{96DAC541-7B7A-43D3-8B79-37D633B846F1}">
                <asvg:svgBlip xmlns:asvg="http://schemas.microsoft.com/office/drawing/2016/SVG/main" r:embed="rId20"/>
              </a:ext>
            </a:extLst>
          </a:blip>
          <a:stretch/>
        </p:blipFill>
        <p:spPr>
          <a:xfrm>
            <a:off x="518760" y="5919480"/>
            <a:ext cx="501480" cy="5014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Hilfreiche Hinweise zur Textproduktion - Stilhinweise</a:t>
            </a:r>
            <a:endParaRPr b="0" lang="de-DE" sz="2000" strike="noStrike" u="none">
              <a:solidFill>
                <a:schemeClr val="dk1"/>
              </a:solidFill>
              <a:effectLst/>
              <a:uFillTx/>
              <a:latin typeface="Arial"/>
            </a:endParaRPr>
          </a:p>
        </p:txBody>
      </p:sp>
      <p:cxnSp>
        <p:nvCxnSpPr>
          <p:cNvPr id="216" name="Gerade Verbindung 7"/>
          <p:cNvCxnSpPr/>
          <p:nvPr/>
        </p:nvCxnSpPr>
        <p:spPr>
          <a:xfrm>
            <a:off x="303840" y="532440"/>
            <a:ext cx="10081440" cy="360"/>
          </a:xfrm>
          <a:prstGeom prst="straightConnector1">
            <a:avLst/>
          </a:prstGeom>
          <a:ln>
            <a:solidFill>
              <a:srgbClr val="db0031"/>
            </a:solidFill>
            <a:round/>
          </a:ln>
        </p:spPr>
      </p:cxnSp>
      <p:sp>
        <p:nvSpPr>
          <p:cNvPr id="217"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18" name="Textfeld 9"/>
          <p:cNvSpPr/>
          <p:nvPr/>
        </p:nvSpPr>
        <p:spPr>
          <a:xfrm>
            <a:off x="304200" y="1252440"/>
            <a:ext cx="479736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Do‘s</a:t>
            </a:r>
            <a:endParaRPr b="0" lang="de-DE" sz="1800" strike="noStrike" u="none">
              <a:solidFill>
                <a:srgbClr val="000000"/>
              </a:solidFill>
              <a:effectLst/>
              <a:uFillTx/>
              <a:latin typeface="Arial"/>
            </a:endParaRPr>
          </a:p>
        </p:txBody>
      </p:sp>
      <p:sp>
        <p:nvSpPr>
          <p:cNvPr id="219" name="Textfeld 5"/>
          <p:cNvSpPr/>
          <p:nvPr/>
        </p:nvSpPr>
        <p:spPr>
          <a:xfrm>
            <a:off x="5562720" y="1270080"/>
            <a:ext cx="4822200" cy="381960"/>
          </a:xfrm>
          <a:prstGeom prst="rect">
            <a:avLst/>
          </a:prstGeom>
          <a:noFill/>
          <a:ln w="0">
            <a:noFill/>
          </a:ln>
        </p:spPr>
        <p:style>
          <a:lnRef idx="0"/>
          <a:fillRef idx="0"/>
          <a:effectRef idx="0"/>
          <a:fontRef idx="minor"/>
        </p:style>
        <p:txBody>
          <a:bodyPr lIns="104400" rIns="104400" tIns="52200" bIns="52200" anchor="t">
            <a:spAutoFit/>
          </a:bodyPr>
          <a:p>
            <a:pPr algn="ct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Dont‘s</a:t>
            </a:r>
            <a:endParaRPr b="0" lang="de-DE" sz="1800" strike="noStrike" u="none">
              <a:solidFill>
                <a:srgbClr val="000000"/>
              </a:solidFill>
              <a:effectLst/>
              <a:uFillTx/>
              <a:latin typeface="Arial"/>
            </a:endParaRPr>
          </a:p>
        </p:txBody>
      </p:sp>
      <p:cxnSp>
        <p:nvCxnSpPr>
          <p:cNvPr id="220" name="Gerade Verbindung 2"/>
          <p:cNvCxnSpPr/>
          <p:nvPr/>
        </p:nvCxnSpPr>
        <p:spPr>
          <a:xfrm>
            <a:off x="5346360" y="1058400"/>
            <a:ext cx="360" cy="5444640"/>
          </a:xfrm>
          <a:prstGeom prst="straightConnector1">
            <a:avLst/>
          </a:prstGeom>
          <a:ln w="28575">
            <a:solidFill>
              <a:srgbClr val="000000"/>
            </a:solidFill>
            <a:round/>
          </a:ln>
        </p:spPr>
      </p:cxnSp>
      <p:pic>
        <p:nvPicPr>
          <p:cNvPr id="221" name="Grafik 6"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8443080" y="1146240"/>
            <a:ext cx="528840" cy="528840"/>
          </a:xfrm>
          <a:prstGeom prst="rect">
            <a:avLst/>
          </a:prstGeom>
          <a:noFill/>
          <a:ln w="0">
            <a:noFill/>
          </a:ln>
        </p:spPr>
      </p:pic>
      <p:pic>
        <p:nvPicPr>
          <p:cNvPr id="222" name="Grafik 13"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1818360" y="1150560"/>
            <a:ext cx="501480" cy="501480"/>
          </a:xfrm>
          <a:prstGeom prst="rect">
            <a:avLst/>
          </a:prstGeom>
          <a:noFill/>
          <a:ln w="0">
            <a:noFill/>
          </a:ln>
        </p:spPr>
      </p:pic>
      <p:sp>
        <p:nvSpPr>
          <p:cNvPr id="223" name="Textfeld 17"/>
          <p:cNvSpPr/>
          <p:nvPr/>
        </p:nvSpPr>
        <p:spPr>
          <a:xfrm>
            <a:off x="275400" y="1749240"/>
            <a:ext cx="4826160" cy="5972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Funktionsgerechte Bezeichnungen für Gegenstände und Verfahren </a:t>
            </a:r>
            <a:r>
              <a:rPr b="0" lang="de-DE" sz="1600" strike="noStrike" u="none">
                <a:solidFill>
                  <a:srgbClr val="000000"/>
                </a:solidFill>
                <a:effectLst/>
                <a:uFillTx/>
                <a:latin typeface="Avenir Book"/>
                <a:ea typeface="ＭＳ Ｐゴシック"/>
              </a:rPr>
              <a:t>	</a:t>
            </a:r>
            <a:endParaRPr b="0" lang="de-DE" sz="1600" strike="noStrike" u="none">
              <a:solidFill>
                <a:srgbClr val="000000"/>
              </a:solidFill>
              <a:effectLst/>
              <a:uFillTx/>
              <a:latin typeface="Arial"/>
            </a:endParaRPr>
          </a:p>
        </p:txBody>
      </p:sp>
      <p:sp>
        <p:nvSpPr>
          <p:cNvPr id="224" name="Textfeld 18"/>
          <p:cNvSpPr/>
          <p:nvPr/>
        </p:nvSpPr>
        <p:spPr>
          <a:xfrm>
            <a:off x="3398760" y="2361960"/>
            <a:ext cx="1920600" cy="6742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Antriebsrad</a:t>
            </a:r>
            <a:endParaRPr b="0" lang="de-DE" sz="1600" strike="noStrike" u="none">
              <a:solidFill>
                <a:srgbClr val="000000"/>
              </a:solidFill>
              <a:effectLst/>
              <a:uFillTx/>
              <a:latin typeface="Arial"/>
            </a:endParaRPr>
          </a:p>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Leiterplatte</a:t>
            </a:r>
            <a:endParaRPr b="0" lang="de-DE" sz="1600" strike="noStrike" u="none">
              <a:solidFill>
                <a:srgbClr val="000000"/>
              </a:solidFill>
              <a:effectLst/>
              <a:uFillTx/>
              <a:latin typeface="Arial"/>
            </a:endParaRPr>
          </a:p>
        </p:txBody>
      </p:sp>
      <p:sp>
        <p:nvSpPr>
          <p:cNvPr id="225" name="Textfeld 19"/>
          <p:cNvSpPr/>
          <p:nvPr/>
        </p:nvSpPr>
        <p:spPr>
          <a:xfrm>
            <a:off x="5369760" y="2361960"/>
            <a:ext cx="1920600" cy="6742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Zahnrad</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Platte</a:t>
            </a:r>
            <a:endParaRPr b="0" lang="de-DE" sz="1600" strike="noStrike" u="none">
              <a:solidFill>
                <a:srgbClr val="000000"/>
              </a:solidFill>
              <a:effectLst/>
              <a:uFillTx/>
              <a:latin typeface="Arial"/>
            </a:endParaRPr>
          </a:p>
        </p:txBody>
      </p:sp>
      <p:pic>
        <p:nvPicPr>
          <p:cNvPr id="226" name="Grafik 20" descr="Verbotsschild mit einfarbiger Füllung"/>
          <p:cNvPicPr/>
          <p:nvPr/>
        </p:nvPicPr>
        <p:blipFill>
          <a:blip r:embed="rId5">
            <a:extLst>
              <a:ext uri="{96DAC541-7B7A-43D3-8B79-37D633B846F1}">
                <asvg:svgBlip xmlns:asvg="http://schemas.microsoft.com/office/drawing/2016/SVG/main" r:embed="rId6"/>
              </a:ext>
            </a:extLst>
          </a:blip>
          <a:stretch/>
        </p:blipFill>
        <p:spPr>
          <a:xfrm>
            <a:off x="6738120" y="2412360"/>
            <a:ext cx="528840" cy="528840"/>
          </a:xfrm>
          <a:prstGeom prst="rect">
            <a:avLst/>
          </a:prstGeom>
          <a:noFill/>
          <a:ln w="0">
            <a:noFill/>
          </a:ln>
        </p:spPr>
      </p:pic>
      <p:pic>
        <p:nvPicPr>
          <p:cNvPr id="227" name="Grafik 21" descr="Abzeichen Tick1 mit einfarbiger Füllung"/>
          <p:cNvPicPr/>
          <p:nvPr/>
        </p:nvPicPr>
        <p:blipFill>
          <a:blip r:embed="rId7">
            <a:extLst>
              <a:ext uri="{96DAC541-7B7A-43D3-8B79-37D633B846F1}">
                <asvg:svgBlip xmlns:asvg="http://schemas.microsoft.com/office/drawing/2016/SVG/main" r:embed="rId8"/>
              </a:ext>
            </a:extLst>
          </a:blip>
          <a:stretch/>
        </p:blipFill>
        <p:spPr>
          <a:xfrm>
            <a:off x="3428640" y="2412360"/>
            <a:ext cx="501480" cy="501480"/>
          </a:xfrm>
          <a:prstGeom prst="rect">
            <a:avLst/>
          </a:prstGeom>
          <a:noFill/>
          <a:ln w="0">
            <a:noFill/>
          </a:ln>
        </p:spPr>
      </p:pic>
      <p:sp>
        <p:nvSpPr>
          <p:cNvPr id="228" name="Textfeld 22"/>
          <p:cNvSpPr/>
          <p:nvPr/>
        </p:nvSpPr>
        <p:spPr>
          <a:xfrm>
            <a:off x="308160" y="3343320"/>
            <a:ext cx="4826160" cy="3513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Klare Formulierungen wählen, mit Zahlen belegen</a:t>
            </a:r>
            <a:endParaRPr b="0" lang="de-DE" sz="1600" strike="noStrike" u="none">
              <a:solidFill>
                <a:srgbClr val="000000"/>
              </a:solidFill>
              <a:effectLst/>
              <a:uFillTx/>
              <a:latin typeface="Arial"/>
            </a:endParaRPr>
          </a:p>
        </p:txBody>
      </p:sp>
      <p:sp>
        <p:nvSpPr>
          <p:cNvPr id="229" name="Textfeld 23"/>
          <p:cNvSpPr/>
          <p:nvPr/>
        </p:nvSpPr>
        <p:spPr>
          <a:xfrm>
            <a:off x="5418720" y="371952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„Der neue Sensor erwies sich als viel            linearer als der alte.“</a:t>
            </a:r>
            <a:endParaRPr b="0" lang="de-DE" sz="1600" strike="noStrike" u="none">
              <a:solidFill>
                <a:srgbClr val="000000"/>
              </a:solidFill>
              <a:effectLst/>
              <a:uFillTx/>
              <a:latin typeface="Arial"/>
            </a:endParaRPr>
          </a:p>
        </p:txBody>
      </p:sp>
      <p:pic>
        <p:nvPicPr>
          <p:cNvPr id="230" name="Grafik 24" descr="Verbotsschild mit einfarbiger Füllung"/>
          <p:cNvPicPr/>
          <p:nvPr/>
        </p:nvPicPr>
        <p:blipFill>
          <a:blip r:embed="rId9">
            <a:extLst>
              <a:ext uri="{96DAC541-7B7A-43D3-8B79-37D633B846F1}">
                <asvg:svgBlip xmlns:asvg="http://schemas.microsoft.com/office/drawing/2016/SVG/main" r:embed="rId10"/>
              </a:ext>
            </a:extLst>
          </a:blip>
          <a:stretch/>
        </p:blipFill>
        <p:spPr>
          <a:xfrm>
            <a:off x="9667080" y="3748680"/>
            <a:ext cx="528840" cy="528840"/>
          </a:xfrm>
          <a:prstGeom prst="rect">
            <a:avLst/>
          </a:prstGeom>
          <a:noFill/>
          <a:ln w="0">
            <a:noFill/>
          </a:ln>
        </p:spPr>
      </p:pic>
      <p:sp>
        <p:nvSpPr>
          <p:cNvPr id="231" name="Textfeld 25"/>
          <p:cNvSpPr/>
          <p:nvPr/>
        </p:nvSpPr>
        <p:spPr>
          <a:xfrm>
            <a:off x="459000" y="3709080"/>
            <a:ext cx="4826160" cy="133596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algn="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 Die Abweichung der Sensorkennlinie des neuen Sensors von einem linearen Zusammenhang zwischen Strom und Durchfluss beträgt max. 3 %. Mit dem alten Sensor betrug die Abweichung bis max. 7,6 %.    </a:t>
            </a:r>
            <a:endParaRPr b="0" lang="de-DE" sz="1600" strike="noStrike" u="none">
              <a:solidFill>
                <a:srgbClr val="000000"/>
              </a:solidFill>
              <a:effectLst/>
              <a:uFillTx/>
              <a:latin typeface="Arial"/>
            </a:endParaRPr>
          </a:p>
        </p:txBody>
      </p:sp>
      <p:pic>
        <p:nvPicPr>
          <p:cNvPr id="232" name="Grafik 26" descr="Abzeichen Tick1 mit einfarbiger Füllung"/>
          <p:cNvPicPr/>
          <p:nvPr/>
        </p:nvPicPr>
        <p:blipFill>
          <a:blip r:embed="rId11">
            <a:extLst>
              <a:ext uri="{96DAC541-7B7A-43D3-8B79-37D633B846F1}">
                <asvg:svgBlip xmlns:asvg="http://schemas.microsoft.com/office/drawing/2016/SVG/main" r:embed="rId12"/>
              </a:ext>
            </a:extLst>
          </a:blip>
          <a:stretch/>
        </p:blipFill>
        <p:spPr>
          <a:xfrm>
            <a:off x="315720" y="3968280"/>
            <a:ext cx="501480" cy="501480"/>
          </a:xfrm>
          <a:prstGeom prst="rect">
            <a:avLst/>
          </a:prstGeom>
          <a:noFill/>
          <a:ln w="0">
            <a:noFill/>
          </a:ln>
        </p:spPr>
      </p:pic>
      <p:sp>
        <p:nvSpPr>
          <p:cNvPr id="233" name="Textfeld 28"/>
          <p:cNvSpPr/>
          <p:nvPr/>
        </p:nvSpPr>
        <p:spPr>
          <a:xfrm>
            <a:off x="5391360" y="5049720"/>
            <a:ext cx="4826160" cy="5972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Beispiele für unklare und vage Formulierungen, die vermieden werden sollten:</a:t>
            </a:r>
            <a:endParaRPr b="0" lang="de-DE" sz="1600" strike="noStrike" u="none">
              <a:solidFill>
                <a:srgbClr val="000000"/>
              </a:solidFill>
              <a:effectLst/>
              <a:uFillTx/>
              <a:latin typeface="Arial"/>
            </a:endParaRPr>
          </a:p>
        </p:txBody>
      </p:sp>
      <p:sp>
        <p:nvSpPr>
          <p:cNvPr id="234" name="Textfeld 29"/>
          <p:cNvSpPr/>
          <p:nvPr/>
        </p:nvSpPr>
        <p:spPr>
          <a:xfrm>
            <a:off x="5465880" y="5647320"/>
            <a:ext cx="4826160" cy="59724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Recht aufwendig, sehr schnell, fast linear, eher gering, wenig Leistung, hochempfindlich</a:t>
            </a:r>
            <a:endParaRPr b="0" lang="de-DE" sz="1600" strike="noStrike" u="none">
              <a:solidFill>
                <a:srgbClr val="000000"/>
              </a:solidFill>
              <a:effectLst/>
              <a:uFillTx/>
              <a:latin typeface="Arial"/>
            </a:endParaRPr>
          </a:p>
        </p:txBody>
      </p:sp>
      <p:pic>
        <p:nvPicPr>
          <p:cNvPr id="235" name="Grafik 30" descr="Verbotsschild mit einfarbiger Füllung"/>
          <p:cNvPicPr/>
          <p:nvPr/>
        </p:nvPicPr>
        <p:blipFill>
          <a:blip r:embed="rId13">
            <a:extLst>
              <a:ext uri="{96DAC541-7B7A-43D3-8B79-37D633B846F1}">
                <asvg:svgBlip xmlns:asvg="http://schemas.microsoft.com/office/drawing/2016/SVG/main" r:embed="rId14"/>
              </a:ext>
            </a:extLst>
          </a:blip>
          <a:stretch/>
        </p:blipFill>
        <p:spPr>
          <a:xfrm>
            <a:off x="9714240" y="5676480"/>
            <a:ext cx="528840" cy="52884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Hilfreiche Hinweise zur Textproduktion - Verständlichkeit</a:t>
            </a:r>
            <a:endParaRPr b="0" lang="de-DE" sz="2000" strike="noStrike" u="none">
              <a:solidFill>
                <a:schemeClr val="dk1"/>
              </a:solidFill>
              <a:effectLst/>
              <a:uFillTx/>
              <a:latin typeface="Arial"/>
            </a:endParaRPr>
          </a:p>
        </p:txBody>
      </p:sp>
      <p:cxnSp>
        <p:nvCxnSpPr>
          <p:cNvPr id="237" name="Gerade Verbindung 7"/>
          <p:cNvCxnSpPr/>
          <p:nvPr/>
        </p:nvCxnSpPr>
        <p:spPr>
          <a:xfrm>
            <a:off x="303840" y="532440"/>
            <a:ext cx="10081440" cy="360"/>
          </a:xfrm>
          <a:prstGeom prst="straightConnector1">
            <a:avLst/>
          </a:prstGeom>
          <a:ln>
            <a:solidFill>
              <a:srgbClr val="db0031"/>
            </a:solidFill>
            <a:round/>
          </a:ln>
        </p:spPr>
      </p:cxnSp>
      <p:sp>
        <p:nvSpPr>
          <p:cNvPr id="23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39" name="Textfeld 9"/>
          <p:cNvSpPr/>
          <p:nvPr/>
        </p:nvSpPr>
        <p:spPr>
          <a:xfrm>
            <a:off x="304200" y="1252440"/>
            <a:ext cx="9146880" cy="518328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Überprüfen Sie Ihren Text immer wieder auf seine Verständlichkeit und Klarheit!</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Fragen Sie sich dazu:</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Ist der Titel aussagekräftig?</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Ist der “rote Faden“ noch zu erkennen?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Werden unbekannte Wörter beim ersten Auftreten definiert?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Werden unbekannte Abkürzungen beim ersten Auftreten definiert?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Werden zu viele Fremdwörter verwendet?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Sind die Sätze zu verschachtelt? </a:t>
            </a:r>
            <a:r>
              <a:rPr b="0" lang="de-DE" sz="1800" strike="noStrike" u="none">
                <a:solidFill>
                  <a:srgbClr val="000000"/>
                </a:solidFill>
                <a:effectLst/>
                <a:uFillTx/>
                <a:latin typeface="Avenir Book"/>
                <a:ea typeface="ＭＳ Ｐゴシック"/>
              </a:rPr>
              <a: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Hat der/die Leser*in an jeder Textstelle alle Informationen, die er/sie für das Nachvollziehen der Inhalte benötigt?</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Verbesserungen der Verständlichkeit von Sachtexten können auf drei Ebenen durchgeführt werden: auf </a:t>
            </a:r>
            <a:r>
              <a:rPr b="1" lang="de-DE" sz="1800" strike="noStrike" u="none">
                <a:solidFill>
                  <a:srgbClr val="000000"/>
                </a:solidFill>
                <a:effectLst/>
                <a:uFillTx/>
                <a:latin typeface="Avenir Book"/>
                <a:ea typeface="ＭＳ Ｐゴシック"/>
              </a:rPr>
              <a:t>Textebene</a:t>
            </a:r>
            <a:r>
              <a:rPr b="0" lang="de-DE" sz="1800" strike="noStrike" u="none">
                <a:solidFill>
                  <a:srgbClr val="000000"/>
                </a:solidFill>
                <a:effectLst/>
                <a:uFillTx/>
                <a:latin typeface="Avenir Book"/>
                <a:ea typeface="ＭＳ Ｐゴシック"/>
              </a:rPr>
              <a:t>, auf </a:t>
            </a:r>
            <a:r>
              <a:rPr b="1" lang="de-DE" sz="1800" strike="noStrike" u="none">
                <a:solidFill>
                  <a:srgbClr val="000000"/>
                </a:solidFill>
                <a:effectLst/>
                <a:uFillTx/>
                <a:latin typeface="Avenir Book"/>
                <a:ea typeface="ＭＳ Ｐゴシック"/>
              </a:rPr>
              <a:t>Satzebene</a:t>
            </a:r>
            <a:r>
              <a:rPr b="0" lang="de-DE" sz="1800" strike="noStrike" u="none">
                <a:solidFill>
                  <a:srgbClr val="000000"/>
                </a:solidFill>
                <a:effectLst/>
                <a:uFillTx/>
                <a:latin typeface="Avenir Book"/>
                <a:ea typeface="ＭＳ Ｐゴシック"/>
              </a:rPr>
              <a:t> und auf </a:t>
            </a:r>
            <a:r>
              <a:rPr b="1" lang="de-DE" sz="1800" strike="noStrike" u="none">
                <a:solidFill>
                  <a:srgbClr val="000000"/>
                </a:solidFill>
                <a:effectLst/>
                <a:uFillTx/>
                <a:latin typeface="Avenir Book"/>
                <a:ea typeface="ＭＳ Ｐゴシック"/>
              </a:rPr>
              <a:t>Wortebene</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Verständlichkeit auf Textebene</a:t>
            </a:r>
            <a:endParaRPr b="0" lang="de-DE" sz="2000" strike="noStrike" u="none">
              <a:solidFill>
                <a:schemeClr val="dk1"/>
              </a:solidFill>
              <a:effectLst/>
              <a:uFillTx/>
              <a:latin typeface="Arial"/>
            </a:endParaRPr>
          </a:p>
        </p:txBody>
      </p:sp>
      <p:cxnSp>
        <p:nvCxnSpPr>
          <p:cNvPr id="241" name="Gerade Verbindung 7"/>
          <p:cNvCxnSpPr/>
          <p:nvPr/>
        </p:nvCxnSpPr>
        <p:spPr>
          <a:xfrm>
            <a:off x="303840" y="532440"/>
            <a:ext cx="10081440" cy="360"/>
          </a:xfrm>
          <a:prstGeom prst="straightConnector1">
            <a:avLst/>
          </a:prstGeom>
          <a:ln>
            <a:solidFill>
              <a:srgbClr val="db0031"/>
            </a:solidFill>
            <a:round/>
          </a:ln>
        </p:spPr>
      </p:cxnSp>
      <p:sp>
        <p:nvSpPr>
          <p:cNvPr id="24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43" name="Textfeld 9"/>
          <p:cNvSpPr/>
          <p:nvPr/>
        </p:nvSpPr>
        <p:spPr>
          <a:xfrm>
            <a:off x="304200" y="1252440"/>
            <a:ext cx="9146880" cy="39675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Verwendung von Fußnoten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Fußnoten sind hochgestellte Zahlen, die mit Word mit: Verweise – Fußnote einfügen erzeugt werden.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Fußnoten werden im Text fortlaufend nummeriert. Die Zahl wird standardmäßig unten auf der Seite unterhalb einer linksbündigen, ca. 4 bis 5 cm langen, horizontalen Linie wiederholt. Dort können Informationen untergebracht werden, die den normalen Lesefluss stören würden.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Beispiele für derartige Informationen sind:</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umfangreiche Kommentare zu zitierten Texten,</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Hinweise bzw. Bemerkungen zum eigenen Text</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Textfeld 18"/>
          <p:cNvSpPr/>
          <p:nvPr/>
        </p:nvSpPr>
        <p:spPr>
          <a:xfrm>
            <a:off x="450000" y="5349240"/>
            <a:ext cx="6984360" cy="35136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Der Strom I fließt durch den Widerstand R. </a:t>
            </a:r>
            <a:r>
              <a:rPr b="1" lang="de-DE" sz="1600" strike="noStrike" u="none">
                <a:solidFill>
                  <a:srgbClr val="000000"/>
                </a:solidFill>
                <a:effectLst/>
                <a:uFillTx/>
                <a:latin typeface="Avenir Book"/>
                <a:ea typeface="ＭＳ Ｐゴシック"/>
              </a:rPr>
              <a:t>Dieser</a:t>
            </a:r>
            <a:r>
              <a:rPr b="0" lang="de-DE" sz="1600" strike="noStrike" u="none">
                <a:solidFill>
                  <a:srgbClr val="000000"/>
                </a:solidFill>
                <a:effectLst/>
                <a:uFillTx/>
                <a:latin typeface="Avenir Book"/>
                <a:ea typeface="ＭＳ Ｐゴシック"/>
              </a:rPr>
              <a:t> ist relativ klein. </a:t>
            </a:r>
            <a:endParaRPr b="0" lang="de-DE" sz="1600" strike="noStrike" u="none">
              <a:solidFill>
                <a:srgbClr val="000000"/>
              </a:solidFill>
              <a:effectLst/>
              <a:uFillTx/>
              <a:latin typeface="Arial"/>
            </a:endParaRPr>
          </a:p>
        </p:txBody>
      </p:sp>
      <p:sp>
        <p:nvSpPr>
          <p:cNvPr id="245"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Verständlichkeit auf Satzebene</a:t>
            </a:r>
            <a:endParaRPr b="0" lang="de-DE" sz="2000" strike="noStrike" u="none">
              <a:solidFill>
                <a:schemeClr val="dk1"/>
              </a:solidFill>
              <a:effectLst/>
              <a:uFillTx/>
              <a:latin typeface="Arial"/>
            </a:endParaRPr>
          </a:p>
        </p:txBody>
      </p:sp>
      <p:cxnSp>
        <p:nvCxnSpPr>
          <p:cNvPr id="246" name="Gerade Verbindung 7"/>
          <p:cNvCxnSpPr/>
          <p:nvPr/>
        </p:nvCxnSpPr>
        <p:spPr>
          <a:xfrm>
            <a:off x="303840" y="532440"/>
            <a:ext cx="10081440" cy="360"/>
          </a:xfrm>
          <a:prstGeom prst="straightConnector1">
            <a:avLst/>
          </a:prstGeom>
          <a:ln>
            <a:solidFill>
              <a:srgbClr val="db0031"/>
            </a:solidFill>
            <a:round/>
          </a:ln>
        </p:spPr>
      </p:cxnSp>
      <p:sp>
        <p:nvSpPr>
          <p:cNvPr id="247"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48" name="Textfeld 9"/>
          <p:cNvSpPr/>
          <p:nvPr/>
        </p:nvSpPr>
        <p:spPr>
          <a:xfrm>
            <a:off x="304200" y="1252440"/>
            <a:ext cx="9146880" cy="7358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Kürzere Sätze </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Verwendung von Konjunktionen und Präpositionen</a:t>
            </a:r>
            <a:endParaRPr b="0" lang="de-DE" sz="1800" strike="noStrike" u="none">
              <a:solidFill>
                <a:srgbClr val="000000"/>
              </a:solidFill>
              <a:effectLst/>
              <a:uFillTx/>
              <a:latin typeface="Arial"/>
            </a:endParaRPr>
          </a:p>
        </p:txBody>
      </p:sp>
      <p:sp>
        <p:nvSpPr>
          <p:cNvPr id="249" name="Textfeld 6"/>
          <p:cNvSpPr/>
          <p:nvPr/>
        </p:nvSpPr>
        <p:spPr>
          <a:xfrm>
            <a:off x="450000" y="2168640"/>
            <a:ext cx="9504720" cy="8434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Für Kräne wird stets eine maximal zulässige Hublast festgelegt. </a:t>
            </a:r>
            <a:r>
              <a:rPr b="1" lang="de-DE" sz="1600" strike="noStrike" u="none">
                <a:solidFill>
                  <a:srgbClr val="000000"/>
                </a:solidFill>
                <a:effectLst/>
                <a:uFillTx/>
                <a:latin typeface="Avenir Book"/>
                <a:ea typeface="ＭＳ Ｐゴシック"/>
              </a:rPr>
              <a:t>Wenn</a:t>
            </a:r>
            <a:r>
              <a:rPr b="0" lang="de-DE" sz="1600" strike="noStrike" u="none">
                <a:solidFill>
                  <a:srgbClr val="000000"/>
                </a:solidFill>
                <a:effectLst/>
                <a:uFillTx/>
                <a:latin typeface="Avenir Book"/>
                <a:ea typeface="ＭＳ Ｐゴシック"/>
              </a:rPr>
              <a:t> sie wesentlich überschritten wird, </a:t>
            </a:r>
            <a:r>
              <a:rPr b="1" lang="de-DE" sz="1600" strike="noStrike" u="none">
                <a:solidFill>
                  <a:srgbClr val="000000"/>
                </a:solidFill>
                <a:effectLst/>
                <a:uFillTx/>
                <a:latin typeface="Avenir Book"/>
                <a:ea typeface="ＭＳ Ｐゴシック"/>
              </a:rPr>
              <a:t>dann</a:t>
            </a:r>
            <a:r>
              <a:rPr b="0" lang="de-DE" sz="1600" strike="noStrike" u="none">
                <a:solidFill>
                  <a:srgbClr val="000000"/>
                </a:solidFill>
                <a:effectLst/>
                <a:uFillTx/>
                <a:latin typeface="Avenir Book"/>
                <a:ea typeface="ＭＳ Ｐゴシック"/>
              </a:rPr>
              <a:t> kann der Kranausleger abknicken, der Kran kann umkippen oder die Hubseile können reißen. </a:t>
            </a:r>
            <a:endParaRPr b="0" lang="de-DE" sz="1600" strike="noStrike" u="none">
              <a:solidFill>
                <a:srgbClr val="000000"/>
              </a:solidFill>
              <a:effectLst/>
              <a:uFillTx/>
              <a:latin typeface="Arial"/>
            </a:endParaRPr>
          </a:p>
        </p:txBody>
      </p:sp>
      <p:sp>
        <p:nvSpPr>
          <p:cNvPr id="250" name="Textfeld 10"/>
          <p:cNvSpPr/>
          <p:nvPr/>
        </p:nvSpPr>
        <p:spPr>
          <a:xfrm>
            <a:off x="450000" y="3169080"/>
            <a:ext cx="9504720" cy="84348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Für Kräne wird stets eine maximal zulässige Hublast festgelegt, die im Fall des Überschreitens zum Abknicken des Kranauslegers, zum Umkippen des Krans oder zum Reißen der Hubseite führen      kann.</a:t>
            </a:r>
            <a:endParaRPr b="0" lang="de-DE" sz="1600" strike="noStrike" u="none">
              <a:solidFill>
                <a:srgbClr val="000000"/>
              </a:solidFill>
              <a:effectLst/>
              <a:uFillTx/>
              <a:latin typeface="Arial"/>
            </a:endParaRPr>
          </a:p>
        </p:txBody>
      </p:sp>
      <p:pic>
        <p:nvPicPr>
          <p:cNvPr id="251" name="Grafik 11"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9425880" y="3449520"/>
            <a:ext cx="528840" cy="528840"/>
          </a:xfrm>
          <a:prstGeom prst="rect">
            <a:avLst/>
          </a:prstGeom>
          <a:noFill/>
          <a:ln w="0">
            <a:noFill/>
          </a:ln>
        </p:spPr>
      </p:pic>
      <p:pic>
        <p:nvPicPr>
          <p:cNvPr id="252" name="Grafik 12"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9419040" y="2339640"/>
            <a:ext cx="501480" cy="501480"/>
          </a:xfrm>
          <a:prstGeom prst="rect">
            <a:avLst/>
          </a:prstGeom>
          <a:noFill/>
          <a:ln w="0">
            <a:noFill/>
          </a:ln>
        </p:spPr>
      </p:pic>
      <p:sp>
        <p:nvSpPr>
          <p:cNvPr id="253" name="Textfeld 13"/>
          <p:cNvSpPr/>
          <p:nvPr/>
        </p:nvSpPr>
        <p:spPr>
          <a:xfrm>
            <a:off x="333720" y="4293720"/>
            <a:ext cx="9146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Eindeutige Bezüge zwischen Sätzen</a:t>
            </a:r>
            <a:endParaRPr b="0" lang="de-DE" sz="1800" strike="noStrike" u="none">
              <a:solidFill>
                <a:srgbClr val="000000"/>
              </a:solidFill>
              <a:effectLst/>
              <a:uFillTx/>
              <a:latin typeface="Arial"/>
            </a:endParaRPr>
          </a:p>
        </p:txBody>
      </p:sp>
      <p:sp>
        <p:nvSpPr>
          <p:cNvPr id="254" name="Textfeld 14"/>
          <p:cNvSpPr/>
          <p:nvPr/>
        </p:nvSpPr>
        <p:spPr>
          <a:xfrm>
            <a:off x="450000" y="4838040"/>
            <a:ext cx="6984360" cy="35136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Der Strom I fließt durch den Widerstand R. </a:t>
            </a:r>
            <a:r>
              <a:rPr b="1" lang="de-DE" sz="1600" strike="noStrike" u="none">
                <a:solidFill>
                  <a:srgbClr val="000000"/>
                </a:solidFill>
                <a:effectLst/>
                <a:uFillTx/>
                <a:latin typeface="Avenir Book"/>
                <a:ea typeface="ＭＳ Ｐゴシック"/>
              </a:rPr>
              <a:t>R</a:t>
            </a:r>
            <a:r>
              <a:rPr b="0" lang="de-DE" sz="1600" strike="noStrike" u="none">
                <a:solidFill>
                  <a:srgbClr val="000000"/>
                </a:solidFill>
                <a:effectLst/>
                <a:uFillTx/>
                <a:latin typeface="Avenir Book"/>
                <a:ea typeface="ＭＳ Ｐゴシック"/>
              </a:rPr>
              <a:t> ist relativ klein. </a:t>
            </a:r>
            <a:endParaRPr b="0" lang="de-DE" sz="1600" strike="noStrike" u="none">
              <a:solidFill>
                <a:srgbClr val="000000"/>
              </a:solidFill>
              <a:effectLst/>
              <a:uFillTx/>
              <a:latin typeface="Arial"/>
            </a:endParaRPr>
          </a:p>
        </p:txBody>
      </p:sp>
      <p:pic>
        <p:nvPicPr>
          <p:cNvPr id="255" name="Grafik 16" descr="Verbotsschild mit einfarbiger Füllung"/>
          <p:cNvPicPr/>
          <p:nvPr/>
        </p:nvPicPr>
        <p:blipFill>
          <a:blip r:embed="rId5">
            <a:extLst>
              <a:ext uri="{96DAC541-7B7A-43D3-8B79-37D633B846F1}">
                <asvg:svgBlip xmlns:asvg="http://schemas.microsoft.com/office/drawing/2016/SVG/main" r:embed="rId6"/>
              </a:ext>
            </a:extLst>
          </a:blip>
          <a:stretch/>
        </p:blipFill>
        <p:spPr>
          <a:xfrm>
            <a:off x="6907320" y="5260320"/>
            <a:ext cx="528840" cy="528840"/>
          </a:xfrm>
          <a:prstGeom prst="rect">
            <a:avLst/>
          </a:prstGeom>
          <a:noFill/>
          <a:ln w="0">
            <a:noFill/>
          </a:ln>
        </p:spPr>
      </p:pic>
      <p:pic>
        <p:nvPicPr>
          <p:cNvPr id="256" name="Grafik 17" descr="Abzeichen Tick1 mit einfarbiger Füllung"/>
          <p:cNvPicPr/>
          <p:nvPr/>
        </p:nvPicPr>
        <p:blipFill>
          <a:blip r:embed="rId7">
            <a:extLst>
              <a:ext uri="{96DAC541-7B7A-43D3-8B79-37D633B846F1}">
                <asvg:svgBlip xmlns:asvg="http://schemas.microsoft.com/office/drawing/2016/SVG/main" r:embed="rId8"/>
              </a:ext>
            </a:extLst>
          </a:blip>
          <a:stretch/>
        </p:blipFill>
        <p:spPr>
          <a:xfrm>
            <a:off x="6907320" y="4758480"/>
            <a:ext cx="501480" cy="50148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Textfeld 18"/>
          <p:cNvSpPr/>
          <p:nvPr/>
        </p:nvSpPr>
        <p:spPr>
          <a:xfrm>
            <a:off x="450000" y="2268000"/>
            <a:ext cx="7560360" cy="36360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„Dazu wurde ein Raspberry PI verwendet.“</a:t>
            </a:r>
            <a:endParaRPr b="0" lang="de-DE" sz="1600" strike="noStrike" u="none">
              <a:solidFill>
                <a:srgbClr val="000000"/>
              </a:solidFill>
              <a:effectLst/>
              <a:uFillTx/>
              <a:latin typeface="Arial"/>
            </a:endParaRPr>
          </a:p>
        </p:txBody>
      </p:sp>
      <p:sp>
        <p:nvSpPr>
          <p:cNvPr id="258"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Verständlichkeit auf Wortebene</a:t>
            </a:r>
            <a:endParaRPr b="0" lang="de-DE" sz="2000" strike="noStrike" u="none">
              <a:solidFill>
                <a:schemeClr val="dk1"/>
              </a:solidFill>
              <a:effectLst/>
              <a:uFillTx/>
              <a:latin typeface="Arial"/>
            </a:endParaRPr>
          </a:p>
        </p:txBody>
      </p:sp>
      <p:cxnSp>
        <p:nvCxnSpPr>
          <p:cNvPr id="259" name="Gerade Verbindung 7"/>
          <p:cNvCxnSpPr/>
          <p:nvPr/>
        </p:nvCxnSpPr>
        <p:spPr>
          <a:xfrm>
            <a:off x="303840" y="532440"/>
            <a:ext cx="10081440" cy="360"/>
          </a:xfrm>
          <a:prstGeom prst="straightConnector1">
            <a:avLst/>
          </a:prstGeom>
          <a:ln>
            <a:solidFill>
              <a:srgbClr val="db0031"/>
            </a:solidFill>
            <a:round/>
          </a:ln>
        </p:spPr>
      </p:cxnSp>
      <p:sp>
        <p:nvSpPr>
          <p:cNvPr id="260"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61" name="Textfeld 9"/>
          <p:cNvSpPr/>
          <p:nvPr/>
        </p:nvSpPr>
        <p:spPr>
          <a:xfrm>
            <a:off x="304200" y="1252440"/>
            <a:ext cx="9146880" cy="3819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Fachbegriffe und Abkürzungen beim ersten Auftreten erklären oder genau benennen </a:t>
            </a:r>
            <a:endParaRPr b="0" lang="de-DE" sz="1800" strike="noStrike" u="none">
              <a:solidFill>
                <a:srgbClr val="000000"/>
              </a:solidFill>
              <a:effectLst/>
              <a:uFillTx/>
              <a:latin typeface="Arial"/>
            </a:endParaRPr>
          </a:p>
        </p:txBody>
      </p:sp>
      <p:sp>
        <p:nvSpPr>
          <p:cNvPr id="262" name="Textfeld 13"/>
          <p:cNvSpPr/>
          <p:nvPr/>
        </p:nvSpPr>
        <p:spPr>
          <a:xfrm>
            <a:off x="312120" y="2966400"/>
            <a:ext cx="9146880" cy="29055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Ganz allgemein gilt: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Informationen müssen </a:t>
            </a:r>
            <a:r>
              <a:rPr b="1" lang="de-DE" sz="1800" strike="noStrike" u="none">
                <a:solidFill>
                  <a:srgbClr val="000000"/>
                </a:solidFill>
                <a:effectLst/>
                <a:uFillTx/>
                <a:latin typeface="Avenir Book"/>
                <a:ea typeface="ＭＳ Ｐゴシック"/>
              </a:rPr>
              <a:t>unmissverständlich</a:t>
            </a:r>
            <a:r>
              <a:rPr b="0" lang="de-DE" sz="1800" strike="noStrike" u="none">
                <a:solidFill>
                  <a:srgbClr val="000000"/>
                </a:solidFill>
                <a:effectLst/>
                <a:uFillTx/>
                <a:latin typeface="Avenir Book"/>
                <a:ea typeface="ＭＳ Ｐゴシック"/>
              </a:rPr>
              <a:t> transportiert werden! Technische Gegenstände und Verfahren dürfen deshalb nur mit ihren einmal festgelegten Namen bezeichnet werden. Sonst können Missverständnisse und Verwechselungen entstehen.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Sparsame Verwendung von </a:t>
            </a:r>
            <a:r>
              <a:rPr b="1" lang="de-DE" sz="1800" strike="noStrike" u="none">
                <a:solidFill>
                  <a:srgbClr val="000000"/>
                </a:solidFill>
                <a:effectLst/>
                <a:uFillTx/>
                <a:latin typeface="Avenir Book"/>
                <a:ea typeface="ＭＳ Ｐゴシック"/>
              </a:rPr>
              <a:t>Fremdwörtern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1" lang="de-DE" sz="1800" strike="noStrike" u="none">
                <a:solidFill>
                  <a:srgbClr val="000000"/>
                </a:solidFill>
                <a:effectLst/>
                <a:uFillTx/>
                <a:latin typeface="Avenir Book"/>
                <a:ea typeface="ＭＳ Ｐゴシック"/>
              </a:rPr>
              <a:t>Fachbegriffe</a:t>
            </a:r>
            <a:r>
              <a:rPr b="0" lang="de-DE" sz="1800" strike="noStrike" u="none">
                <a:solidFill>
                  <a:srgbClr val="000000"/>
                </a:solidFill>
                <a:effectLst/>
                <a:uFillTx/>
                <a:latin typeface="Avenir Book"/>
                <a:ea typeface="ＭＳ Ｐゴシック"/>
              </a:rPr>
              <a:t>, die aus mehreren Substantiven bestehen, sollen möglichst aufgelöst und in einem zwar längeren, dafür aber verständlicheren Satz oder Nebensatz umschrieben werden.</a:t>
            </a:r>
            <a:endParaRPr b="0" lang="de-DE" sz="1800" strike="noStrike" u="none">
              <a:solidFill>
                <a:srgbClr val="000000"/>
              </a:solidFill>
              <a:effectLst/>
              <a:uFillTx/>
              <a:latin typeface="Arial"/>
            </a:endParaRPr>
          </a:p>
        </p:txBody>
      </p:sp>
      <p:sp>
        <p:nvSpPr>
          <p:cNvPr id="263" name="Textfeld 14"/>
          <p:cNvSpPr/>
          <p:nvPr/>
        </p:nvSpPr>
        <p:spPr>
          <a:xfrm>
            <a:off x="450000" y="1815120"/>
            <a:ext cx="7560360" cy="351360"/>
          </a:xfrm>
          <a:prstGeom prst="rect">
            <a:avLst/>
          </a:prstGeom>
          <a:solidFill>
            <a:schemeClr val="bg1">
              <a:lumMod val="95000"/>
            </a:schemeClr>
          </a:solid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„Es wurde ein Einplatinencomputer der Marke Raspberry PI verwendet.“</a:t>
            </a:r>
            <a:endParaRPr b="0" lang="de-DE" sz="1600" strike="noStrike" u="none">
              <a:solidFill>
                <a:srgbClr val="000000"/>
              </a:solidFill>
              <a:effectLst/>
              <a:uFillTx/>
              <a:latin typeface="Arial"/>
            </a:endParaRPr>
          </a:p>
        </p:txBody>
      </p:sp>
      <p:pic>
        <p:nvPicPr>
          <p:cNvPr id="264" name="Grafik 16" descr="Verbotsschild mit einfarbiger Füllung"/>
          <p:cNvPicPr/>
          <p:nvPr/>
        </p:nvPicPr>
        <p:blipFill>
          <a:blip r:embed="rId1">
            <a:extLst>
              <a:ext uri="{96DAC541-7B7A-43D3-8B79-37D633B846F1}">
                <asvg:svgBlip xmlns:asvg="http://schemas.microsoft.com/office/drawing/2016/SVG/main" r:embed="rId2"/>
              </a:ext>
            </a:extLst>
          </a:blip>
          <a:stretch/>
        </p:blipFill>
        <p:spPr>
          <a:xfrm>
            <a:off x="7495560" y="2196360"/>
            <a:ext cx="528840" cy="528840"/>
          </a:xfrm>
          <a:prstGeom prst="rect">
            <a:avLst/>
          </a:prstGeom>
          <a:noFill/>
          <a:ln w="0">
            <a:noFill/>
          </a:ln>
        </p:spPr>
      </p:pic>
      <p:pic>
        <p:nvPicPr>
          <p:cNvPr id="265" name="Grafik 17"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7509240" y="1726920"/>
            <a:ext cx="501480" cy="50148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Weitere häufige Fehler – und wie kann ich dem vorbeugen?</a:t>
            </a:r>
            <a:endParaRPr b="0" lang="de-DE" sz="2000" strike="noStrike" u="none">
              <a:solidFill>
                <a:schemeClr val="dk1"/>
              </a:solidFill>
              <a:effectLst/>
              <a:uFillTx/>
              <a:latin typeface="Arial"/>
            </a:endParaRPr>
          </a:p>
        </p:txBody>
      </p:sp>
      <p:cxnSp>
        <p:nvCxnSpPr>
          <p:cNvPr id="267" name="Gerade Verbindung 7"/>
          <p:cNvCxnSpPr/>
          <p:nvPr/>
        </p:nvCxnSpPr>
        <p:spPr>
          <a:xfrm>
            <a:off x="303840" y="532440"/>
            <a:ext cx="10081440" cy="360"/>
          </a:xfrm>
          <a:prstGeom prst="straightConnector1">
            <a:avLst/>
          </a:prstGeom>
          <a:ln>
            <a:solidFill>
              <a:srgbClr val="db0031"/>
            </a:solidFill>
            <a:round/>
          </a:ln>
        </p:spPr>
      </p:cxnSp>
      <p:sp>
        <p:nvSpPr>
          <p:cNvPr id="268"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69" name="Textfeld 13"/>
          <p:cNvSpPr/>
          <p:nvPr/>
        </p:nvSpPr>
        <p:spPr>
          <a:xfrm>
            <a:off x="304200" y="1334520"/>
            <a:ext cx="4034160" cy="285948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Rechtschreibfehler</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Grammatikfehler</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Zeichensetzungsfehler</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„Lesbarkeit“</a:t>
            </a: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800" strike="noStrike" u="none">
              <a:solidFill>
                <a:srgbClr val="000000"/>
              </a:solidFill>
              <a:effectLst/>
              <a:uFillTx/>
              <a:latin typeface="Arial"/>
            </a:endParaRPr>
          </a:p>
          <a:p>
            <a:pPr defTabSz="704880">
              <a:lnSpc>
                <a:spcPct val="100000"/>
              </a:lnSpc>
              <a:spcBef>
                <a:spcPts val="601"/>
              </a:spcBef>
              <a:tabLst>
                <a:tab algn="l" pos="179280"/>
                <a:tab algn="l" pos="2151000"/>
                <a:tab algn="l" pos="2868480"/>
              </a:tabLst>
            </a:pP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Verständlichkeit</a:t>
            </a:r>
            <a:endParaRPr b="0" lang="de-DE" sz="1800" strike="noStrike" u="none">
              <a:solidFill>
                <a:srgbClr val="000000"/>
              </a:solidFill>
              <a:effectLst/>
              <a:uFillTx/>
              <a:latin typeface="Arial"/>
            </a:endParaRPr>
          </a:p>
        </p:txBody>
      </p:sp>
      <p:sp>
        <p:nvSpPr>
          <p:cNvPr id="270" name="Textfeld 14"/>
          <p:cNvSpPr/>
          <p:nvPr/>
        </p:nvSpPr>
        <p:spPr>
          <a:xfrm>
            <a:off x="5659200" y="1551600"/>
            <a:ext cx="3672000" cy="67428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Rechtschreibprüfung einschalten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Korrektur lesen (selbst &amp; andere)</a:t>
            </a:r>
            <a:endParaRPr b="0" lang="de-DE" sz="1600" strike="noStrike" u="none">
              <a:solidFill>
                <a:srgbClr val="000000"/>
              </a:solidFill>
              <a:effectLst/>
              <a:uFillTx/>
              <a:latin typeface="Arial"/>
            </a:endParaRPr>
          </a:p>
        </p:txBody>
      </p:sp>
      <p:pic>
        <p:nvPicPr>
          <p:cNvPr id="271" name="Grafik 17" descr="Abzeichen Tick1 mit einfarbiger Füllung"/>
          <p:cNvPicPr/>
          <p:nvPr/>
        </p:nvPicPr>
        <p:blipFill>
          <a:blip r:embed="rId1">
            <a:extLst>
              <a:ext uri="{96DAC541-7B7A-43D3-8B79-37D633B846F1}">
                <asvg:svgBlip xmlns:asvg="http://schemas.microsoft.com/office/drawing/2016/SVG/main" r:embed="rId2"/>
              </a:ext>
            </a:extLst>
          </a:blip>
          <a:stretch/>
        </p:blipFill>
        <p:spPr>
          <a:xfrm>
            <a:off x="5095800" y="1618920"/>
            <a:ext cx="501480" cy="501480"/>
          </a:xfrm>
          <a:prstGeom prst="rect">
            <a:avLst/>
          </a:prstGeom>
          <a:noFill/>
          <a:ln w="0">
            <a:noFill/>
          </a:ln>
        </p:spPr>
      </p:pic>
      <p:cxnSp>
        <p:nvCxnSpPr>
          <p:cNvPr id="272" name="Gerade Verbindung mit Pfeil 11"/>
          <p:cNvCxnSpPr/>
          <p:nvPr/>
        </p:nvCxnSpPr>
        <p:spPr>
          <a:xfrm>
            <a:off x="3258360" y="1836360"/>
            <a:ext cx="1512360" cy="360"/>
          </a:xfrm>
          <a:prstGeom prst="straightConnector1">
            <a:avLst/>
          </a:prstGeom>
          <a:ln w="38100">
            <a:solidFill>
              <a:srgbClr val="000000"/>
            </a:solidFill>
            <a:round/>
            <a:tailEnd len="med" type="triangle" w="med"/>
          </a:ln>
        </p:spPr>
      </p:cxnSp>
      <p:cxnSp>
        <p:nvCxnSpPr>
          <p:cNvPr id="273" name="Gerade Verbindung mit Pfeil 15"/>
          <p:cNvCxnSpPr/>
          <p:nvPr/>
        </p:nvCxnSpPr>
        <p:spPr>
          <a:xfrm>
            <a:off x="2466360" y="2556360"/>
            <a:ext cx="2304360" cy="360"/>
          </a:xfrm>
          <a:prstGeom prst="straightConnector1">
            <a:avLst/>
          </a:prstGeom>
          <a:ln w="38100">
            <a:solidFill>
              <a:srgbClr val="000000"/>
            </a:solidFill>
            <a:round/>
            <a:tailEnd len="med" type="triangle" w="med"/>
          </a:ln>
        </p:spPr>
      </p:cxnSp>
      <p:sp>
        <p:nvSpPr>
          <p:cNvPr id="274" name="Geschweifte Klammer rechts 5"/>
          <p:cNvSpPr/>
          <p:nvPr/>
        </p:nvSpPr>
        <p:spPr>
          <a:xfrm>
            <a:off x="3114360" y="1404360"/>
            <a:ext cx="71640" cy="935640"/>
          </a:xfrm>
          <a:prstGeom prst="rightBrace">
            <a:avLst>
              <a:gd name="adj1" fmla="val 8333"/>
              <a:gd name="adj2" fmla="val 50000"/>
            </a:avLst>
          </a:prstGeom>
          <a:noFill/>
          <a:ln w="28575">
            <a:solidFill>
              <a:srgbClr val="000000"/>
            </a:solidFill>
            <a:round/>
          </a:ln>
        </p:spPr>
        <p:style>
          <a:lnRef idx="1">
            <a:schemeClr val="dk1"/>
          </a:lnRef>
          <a:fillRef idx="0">
            <a:schemeClr val="dk1"/>
          </a:fillRef>
          <a:effectRef idx="0">
            <a:schemeClr val="dk1"/>
          </a:effectRef>
          <a:fontRef idx="minor"/>
        </p:style>
        <p:txBody>
          <a:bodyPr lIns="90000" rIns="90000" tIns="45000" bIns="45000" anchor="ctr">
            <a:noAutofit/>
          </a:bodyPr>
          <a:p>
            <a:pPr algn="ctr">
              <a:lnSpc>
                <a:spcPct val="100000"/>
              </a:lnSpc>
            </a:pPr>
            <a:endParaRPr b="0" lang="de-DE" sz="3200" strike="noStrike" u="none">
              <a:solidFill>
                <a:schemeClr val="dk1"/>
              </a:solidFill>
              <a:effectLst/>
              <a:uFillTx/>
              <a:latin typeface="Arial"/>
            </a:endParaRPr>
          </a:p>
        </p:txBody>
      </p:sp>
      <p:sp>
        <p:nvSpPr>
          <p:cNvPr id="275" name="Textfeld 19"/>
          <p:cNvSpPr/>
          <p:nvPr/>
        </p:nvSpPr>
        <p:spPr>
          <a:xfrm>
            <a:off x="5659200" y="2246040"/>
            <a:ext cx="3672000" cy="14900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Bilder groß genug abbilden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Schriftart nicht zu klein wählen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Bei Gruppenarbeiten auf Einheitlichkeit in Layout und Sprache achten</a:t>
            </a:r>
            <a:endParaRPr b="0" lang="de-DE" sz="1600" strike="noStrike" u="none">
              <a:solidFill>
                <a:srgbClr val="000000"/>
              </a:solidFill>
              <a:effectLst/>
              <a:uFillTx/>
              <a:latin typeface="Arial"/>
            </a:endParaRPr>
          </a:p>
        </p:txBody>
      </p:sp>
      <p:pic>
        <p:nvPicPr>
          <p:cNvPr id="276" name="Grafik 20" descr="Abzeichen Tick1 mit einfarbiger Füllung"/>
          <p:cNvPicPr/>
          <p:nvPr/>
        </p:nvPicPr>
        <p:blipFill>
          <a:blip r:embed="rId3">
            <a:extLst>
              <a:ext uri="{96DAC541-7B7A-43D3-8B79-37D633B846F1}">
                <asvg:svgBlip xmlns:asvg="http://schemas.microsoft.com/office/drawing/2016/SVG/main" r:embed="rId4"/>
              </a:ext>
            </a:extLst>
          </a:blip>
          <a:stretch/>
        </p:blipFill>
        <p:spPr>
          <a:xfrm>
            <a:off x="5095800" y="2313000"/>
            <a:ext cx="501480" cy="501480"/>
          </a:xfrm>
          <a:prstGeom prst="rect">
            <a:avLst/>
          </a:prstGeom>
          <a:noFill/>
          <a:ln w="0">
            <a:noFill/>
          </a:ln>
        </p:spPr>
      </p:pic>
      <p:cxnSp>
        <p:nvCxnSpPr>
          <p:cNvPr id="277" name="Gerade Verbindung mit Pfeil 21"/>
          <p:cNvCxnSpPr/>
          <p:nvPr/>
        </p:nvCxnSpPr>
        <p:spPr>
          <a:xfrm>
            <a:off x="2466360" y="3996360"/>
            <a:ext cx="2304360" cy="360"/>
          </a:xfrm>
          <a:prstGeom prst="straightConnector1">
            <a:avLst/>
          </a:prstGeom>
          <a:ln w="38100">
            <a:solidFill>
              <a:srgbClr val="000000"/>
            </a:solidFill>
            <a:round/>
            <a:tailEnd len="med" type="triangle" w="med"/>
          </a:ln>
        </p:spPr>
      </p:cxnSp>
      <p:sp>
        <p:nvSpPr>
          <p:cNvPr id="278" name="Textfeld 22"/>
          <p:cNvSpPr/>
          <p:nvPr/>
        </p:nvSpPr>
        <p:spPr>
          <a:xfrm>
            <a:off x="5597640" y="3774600"/>
            <a:ext cx="4141080" cy="25365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Beachten Sie die universellen intellektuelle Normen:</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Klarheit</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Richtigkeit</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Exaktheit</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Relevanz</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Tiefgang</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Vernetzung</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Logik</a:t>
            </a:r>
            <a:r>
              <a:rPr b="0" lang="de-DE" sz="1600" strike="noStrike" u="none">
                <a:solidFill>
                  <a:srgbClr val="000000"/>
                </a:solidFill>
                <a:effectLst/>
                <a:uFillTx/>
                <a:latin typeface="Avenir Book"/>
                <a:ea typeface="ＭＳ Ｐゴシック"/>
              </a:rPr>
              <a:t>	</a:t>
            </a:r>
            <a:r>
              <a:rPr b="0" lang="de-DE" sz="1600" strike="noStrike" u="none">
                <a:solidFill>
                  <a:srgbClr val="000000"/>
                </a:solidFill>
                <a:effectLst/>
                <a:uFillTx/>
                <a:latin typeface="Avenir Book"/>
                <a:ea typeface="ＭＳ Ｐゴシック"/>
              </a:rPr>
              <a:t>Fokussierung </a:t>
            </a:r>
            <a:endParaRPr b="0" lang="de-DE" sz="1600" strike="noStrike" u="none">
              <a:solidFill>
                <a:srgbClr val="000000"/>
              </a:solidFill>
              <a:effectLst/>
              <a:uFillTx/>
              <a:latin typeface="Arial"/>
            </a:endParaRPr>
          </a:p>
          <a:p>
            <a:pPr defTabSz="704880">
              <a:lnSpc>
                <a:spcPct val="100000"/>
              </a:lnSpc>
              <a:spcBef>
                <a:spcPts val="601"/>
              </a:spcBef>
              <a:tabLst>
                <a:tab algn="l" pos="0"/>
              </a:tabLst>
            </a:pPr>
            <a:r>
              <a:rPr b="0" lang="de-DE" sz="1600" strike="noStrike" u="none">
                <a:solidFill>
                  <a:srgbClr val="000000"/>
                </a:solidFill>
                <a:effectLst/>
                <a:uFillTx/>
                <a:latin typeface="Avenir Book"/>
                <a:ea typeface="ＭＳ Ｐゴシック"/>
              </a:rPr>
              <a:t>Fairness</a:t>
            </a:r>
            <a:endParaRPr b="0" lang="de-DE" sz="1600" strike="noStrike" u="none">
              <a:solidFill>
                <a:srgbClr val="000000"/>
              </a:solidFill>
              <a:effectLst/>
              <a:uFillTx/>
              <a:latin typeface="Arial"/>
            </a:endParaRPr>
          </a:p>
          <a:p>
            <a:pPr defTabSz="704880">
              <a:lnSpc>
                <a:spcPct val="100000"/>
              </a:lnSpc>
              <a:spcBef>
                <a:spcPts val="601"/>
              </a:spcBef>
              <a:tabLst>
                <a:tab algn="l" pos="0"/>
              </a:tabLst>
            </a:pPr>
            <a:endParaRPr b="0" lang="de-DE" sz="1600" strike="noStrike" u="none">
              <a:solidFill>
                <a:srgbClr val="000000"/>
              </a:solidFill>
              <a:effectLst/>
              <a:uFillTx/>
              <a:latin typeface="Arial"/>
            </a:endParaRPr>
          </a:p>
        </p:txBody>
      </p:sp>
      <p:pic>
        <p:nvPicPr>
          <p:cNvPr id="279" name="Grafik 23" descr="Abzeichen Tick1 mit einfarbiger Füllung"/>
          <p:cNvPicPr/>
          <p:nvPr/>
        </p:nvPicPr>
        <p:blipFill>
          <a:blip r:embed="rId5">
            <a:extLst>
              <a:ext uri="{96DAC541-7B7A-43D3-8B79-37D633B846F1}">
                <asvg:svgBlip xmlns:asvg="http://schemas.microsoft.com/office/drawing/2016/SVG/main" r:embed="rId6"/>
              </a:ext>
            </a:extLst>
          </a:blip>
          <a:stretch/>
        </p:blipFill>
        <p:spPr>
          <a:xfrm>
            <a:off x="5034240" y="3841560"/>
            <a:ext cx="501480" cy="50148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Extra: Universelle intellektuelle Normen</a:t>
            </a:r>
            <a:endParaRPr b="0" lang="de-DE" sz="2000" strike="noStrike" u="none">
              <a:solidFill>
                <a:schemeClr val="dk1"/>
              </a:solidFill>
              <a:effectLst/>
              <a:uFillTx/>
              <a:latin typeface="Arial"/>
            </a:endParaRPr>
          </a:p>
        </p:txBody>
      </p:sp>
      <p:cxnSp>
        <p:nvCxnSpPr>
          <p:cNvPr id="281" name="Gerade Verbindung 7"/>
          <p:cNvCxnSpPr/>
          <p:nvPr/>
        </p:nvCxnSpPr>
        <p:spPr>
          <a:xfrm>
            <a:off x="303840" y="532440"/>
            <a:ext cx="10081440" cy="360"/>
          </a:xfrm>
          <a:prstGeom prst="straightConnector1">
            <a:avLst/>
          </a:prstGeom>
          <a:ln>
            <a:solidFill>
              <a:srgbClr val="db0031"/>
            </a:solidFill>
            <a:round/>
          </a:ln>
        </p:spPr>
      </p:cxnSp>
      <p:sp>
        <p:nvSpPr>
          <p:cNvPr id="282"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pic>
        <p:nvPicPr>
          <p:cNvPr id="283" name="Grafik 2" descr=""/>
          <p:cNvPicPr/>
          <p:nvPr/>
        </p:nvPicPr>
        <p:blipFill>
          <a:blip r:embed="rId1"/>
          <a:srcRect l="31142" t="25217" r="31814" b="4094"/>
          <a:stretch/>
        </p:blipFill>
        <p:spPr>
          <a:xfrm>
            <a:off x="621000" y="1072440"/>
            <a:ext cx="4509360" cy="5379120"/>
          </a:xfrm>
          <a:prstGeom prst="rect">
            <a:avLst/>
          </a:prstGeom>
          <a:noFill/>
          <a:ln w="0">
            <a:solidFill>
              <a:srgbClr val="000000"/>
            </a:solidFill>
          </a:ln>
        </p:spPr>
      </p:pic>
      <p:pic>
        <p:nvPicPr>
          <p:cNvPr id="284" name="Grafik 6" descr=""/>
          <p:cNvPicPr/>
          <p:nvPr/>
        </p:nvPicPr>
        <p:blipFill>
          <a:blip r:embed="rId2"/>
          <a:srcRect l="30467" t="33834" r="22388" b="24138"/>
          <a:stretch/>
        </p:blipFill>
        <p:spPr>
          <a:xfrm>
            <a:off x="5296320" y="1072440"/>
            <a:ext cx="5040360" cy="2808000"/>
          </a:xfrm>
          <a:prstGeom prst="rect">
            <a:avLst/>
          </a:prstGeom>
          <a:noFill/>
          <a:ln w="0">
            <a:solidFill>
              <a:srgbClr val="000000"/>
            </a:solid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zum Layout</a:t>
            </a:r>
            <a:endParaRPr b="0" lang="de-DE" sz="2000" strike="noStrike" u="none">
              <a:solidFill>
                <a:schemeClr val="dk1"/>
              </a:solidFill>
              <a:effectLst/>
              <a:uFillTx/>
              <a:latin typeface="Arial"/>
            </a:endParaRPr>
          </a:p>
        </p:txBody>
      </p:sp>
      <p:cxnSp>
        <p:nvCxnSpPr>
          <p:cNvPr id="286" name="Gerade Verbindung 7"/>
          <p:cNvCxnSpPr/>
          <p:nvPr/>
        </p:nvCxnSpPr>
        <p:spPr>
          <a:xfrm>
            <a:off x="303840" y="532440"/>
            <a:ext cx="10081440" cy="360"/>
          </a:xfrm>
          <a:prstGeom prst="straightConnector1">
            <a:avLst/>
          </a:prstGeom>
          <a:ln>
            <a:solidFill>
              <a:srgbClr val="db0031"/>
            </a:solidFill>
            <a:round/>
          </a:ln>
        </p:spPr>
      </p:cxnSp>
      <p:sp>
        <p:nvSpPr>
          <p:cNvPr id="287"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88" name="Textfeld 9"/>
          <p:cNvSpPr/>
          <p:nvPr/>
        </p:nvSpPr>
        <p:spPr>
          <a:xfrm>
            <a:off x="304200" y="1252440"/>
            <a:ext cx="9146880" cy="541404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Neben MS WORD ist das Textverarbeitungssystem </a:t>
            </a:r>
            <a:r>
              <a:rPr b="1" lang="de-DE" sz="1800" strike="noStrike" u="none">
                <a:solidFill>
                  <a:srgbClr val="000000"/>
                </a:solidFill>
                <a:effectLst/>
                <a:uFillTx/>
                <a:latin typeface="Avenir Book"/>
                <a:ea typeface="ＭＳ Ｐゴシック"/>
              </a:rPr>
              <a:t>LATEX</a:t>
            </a:r>
            <a:r>
              <a:rPr b="0" lang="de-DE" sz="1800" strike="noStrike" u="none">
                <a:solidFill>
                  <a:srgbClr val="000000"/>
                </a:solidFill>
                <a:effectLst/>
                <a:uFillTx/>
                <a:latin typeface="Avenir Book"/>
                <a:ea typeface="ＭＳ Ｐゴシック"/>
              </a:rPr>
              <a:t> im Hochschulbereich weit verbreitetet und insbesondere für das Erstellen von Formeln und Gleichungssystemen sehr geeignet. Für die Arbeit mit LATEX ist allerdings eine intensive Einarbeitung erforderlich.</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Beachten Sie bei der Festlegung des Seitenlayouts und der Formatvorlagen die „Hausregeln“ bzgl. dem Corporate Design der Hochschule.</a:t>
            </a:r>
            <a:endParaRPr b="0" lang="de-DE" sz="1800" strike="noStrike" u="none">
              <a:solidFill>
                <a:srgbClr val="000000"/>
              </a:solidFill>
              <a:effectLst/>
              <a:uFillTx/>
              <a:latin typeface="Arial"/>
            </a:endParaRPr>
          </a:p>
          <a:p>
            <a:pPr lvl="2" marL="80820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Z.B.: Kopfzeile, Position der Seitenzahl, Schriftart etc.</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Zwischen zwei Absätzen steht nach DIN 5008 grundsätzlich eine Leerzeile.               (</a:t>
            </a:r>
            <a:r>
              <a:rPr b="0" lang="de-DE" sz="1200" strike="noStrike" u="none">
                <a:solidFill>
                  <a:srgbClr val="000000"/>
                </a:solidFill>
                <a:effectLst/>
                <a:uFillTx/>
                <a:latin typeface="Avenir Book"/>
                <a:ea typeface="ＭＳ Ｐゴシック"/>
              </a:rPr>
              <a:t>Es empfiehlt sich, den Abstand mit „Format – Absatz – Abstand, Nach:“ auf einen Wert von &gt;6 pt einzustellen (Registerkarte Start, Dialogfeld Absatz))</a:t>
            </a:r>
            <a:endParaRPr b="0" lang="de-DE" sz="12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 Zeilenabstand von „1.5“ ist „lesefreundlich“</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Textausrichtung: Blocksatz (oder linksbündig)</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Schriftart: Schriftart „</a:t>
            </a:r>
            <a:r>
              <a:rPr b="0" lang="de-DE" sz="1800" strike="noStrike" u="none">
                <a:solidFill>
                  <a:srgbClr val="000000"/>
                </a:solidFill>
                <a:effectLst/>
                <a:uFillTx/>
                <a:latin typeface="Times New Roman"/>
                <a:ea typeface="ＭＳ Ｐゴシック"/>
              </a:rPr>
              <a:t>Times</a:t>
            </a:r>
            <a:r>
              <a:rPr b="0" lang="de-DE" sz="1800" strike="noStrike" u="none">
                <a:solidFill>
                  <a:srgbClr val="000000"/>
                </a:solidFill>
                <a:effectLst/>
                <a:uFillTx/>
                <a:latin typeface="Avenir Book"/>
                <a:ea typeface="ＭＳ Ｐゴシック"/>
              </a:rPr>
              <a:t>“ für größere Mengen Text (oder ander Schriftart mit  Serifen, d.h. die kleinen Striche an den Buchstabenenden)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marL="522360"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Hinweise zum Layout</a:t>
            </a:r>
            <a:endParaRPr b="0" lang="de-DE" sz="2000" strike="noStrike" u="none">
              <a:solidFill>
                <a:schemeClr val="dk1"/>
              </a:solidFill>
              <a:effectLst/>
              <a:uFillTx/>
              <a:latin typeface="Arial"/>
            </a:endParaRPr>
          </a:p>
        </p:txBody>
      </p:sp>
      <p:cxnSp>
        <p:nvCxnSpPr>
          <p:cNvPr id="290" name="Gerade Verbindung 7"/>
          <p:cNvCxnSpPr/>
          <p:nvPr/>
        </p:nvCxnSpPr>
        <p:spPr>
          <a:xfrm>
            <a:off x="303840" y="532440"/>
            <a:ext cx="10081440" cy="360"/>
          </a:xfrm>
          <a:prstGeom prst="straightConnector1">
            <a:avLst/>
          </a:prstGeom>
          <a:ln>
            <a:solidFill>
              <a:srgbClr val="db0031"/>
            </a:solidFill>
            <a:round/>
          </a:ln>
        </p:spPr>
      </p:cxnSp>
      <p:sp>
        <p:nvSpPr>
          <p:cNvPr id="291"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2. Hilfreiche Hinweise zur Textproduktion</a:t>
            </a:r>
            <a:endParaRPr b="0" lang="de-DE" sz="1200" strike="noStrike" u="none">
              <a:solidFill>
                <a:srgbClr val="000000"/>
              </a:solidFill>
              <a:effectLst/>
              <a:uFillTx/>
              <a:latin typeface="Arial"/>
            </a:endParaRPr>
          </a:p>
        </p:txBody>
      </p:sp>
      <p:sp>
        <p:nvSpPr>
          <p:cNvPr id="292" name="Textfeld 9"/>
          <p:cNvSpPr/>
          <p:nvPr/>
        </p:nvSpPr>
        <p:spPr>
          <a:xfrm>
            <a:off x="304200" y="1252440"/>
            <a:ext cx="9146880" cy="3259800"/>
          </a:xfrm>
          <a:prstGeom prst="rect">
            <a:avLst/>
          </a:prstGeom>
          <a:noFill/>
          <a:ln w="0">
            <a:noFill/>
          </a:ln>
        </p:spPr>
        <p:style>
          <a:lnRef idx="0"/>
          <a:fillRef idx="0"/>
          <a:effectRef idx="0"/>
          <a:fontRef idx="minor"/>
        </p:style>
        <p:txBody>
          <a:bodyPr lIns="104400" rIns="104400" tIns="52200" bIns="52200" anchor="t">
            <a:spAutoFit/>
          </a:bodyPr>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Eine Dokumentteil-Überschrift darf nie allein oder mit nur einer Zeile Text auf der alten Seite stehen bleiben.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Eine einzelne Zeile eines Absatzes darf weder auf der alten noch auf der neuen Seite allein auftreten, es sei denn, der Absatz besteht nur aus einer Zeile.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Bilder sollten möglichst auf der gleichen Seite wie der zugehörige Text oder allenfalls auf der folgenden Seite stehen, damit die Bildinformation textnah dargeboten wird. Dies erhöht die Verständlichkeit.</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marL="522360"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Fertigstellung/Endredaktion</a:t>
            </a:r>
            <a:endParaRPr b="0" lang="de-DE" sz="2000" strike="noStrike" u="none">
              <a:solidFill>
                <a:schemeClr val="dk1"/>
              </a:solidFill>
              <a:effectLst/>
              <a:uFillTx/>
              <a:latin typeface="Arial"/>
            </a:endParaRPr>
          </a:p>
        </p:txBody>
      </p:sp>
      <p:cxnSp>
        <p:nvCxnSpPr>
          <p:cNvPr id="294" name="Gerade Verbindung 7"/>
          <p:cNvCxnSpPr/>
          <p:nvPr/>
        </p:nvCxnSpPr>
        <p:spPr>
          <a:xfrm>
            <a:off x="303840" y="532440"/>
            <a:ext cx="10081440" cy="360"/>
          </a:xfrm>
          <a:prstGeom prst="straightConnector1">
            <a:avLst/>
          </a:prstGeom>
          <a:ln>
            <a:solidFill>
              <a:srgbClr val="db0031"/>
            </a:solidFill>
            <a:round/>
          </a:ln>
        </p:spPr>
      </p:cxnSp>
      <p:sp>
        <p:nvSpPr>
          <p:cNvPr id="295"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3. Fertigstellung/Endredaktion</a:t>
            </a:r>
            <a:endParaRPr b="0" lang="de-DE" sz="1200" strike="noStrike" u="none">
              <a:solidFill>
                <a:srgbClr val="000000"/>
              </a:solidFill>
              <a:effectLst/>
              <a:uFillTx/>
              <a:latin typeface="Arial"/>
            </a:endParaRPr>
          </a:p>
        </p:txBody>
      </p:sp>
      <p:sp>
        <p:nvSpPr>
          <p:cNvPr id="296" name="Textfeld 9"/>
          <p:cNvSpPr/>
          <p:nvPr/>
        </p:nvSpPr>
        <p:spPr>
          <a:xfrm>
            <a:off x="304200" y="1252440"/>
            <a:ext cx="10080720" cy="550656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Korrekturlesen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Notieren Sie sowohl Korrekturvermerke als auch notwendige Arbeiten am besten sofort in Ihrer To-do-Liste, damit Sie diese Ideen nicht vergessen.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Da sich die Seitenzahlen durch Umformatierungen bis zuletzt ändern können, wird das automatisch erzeugte Inhaltsverzeichnis zum Schluss noch einmal aktualisiert.</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Korrekturen sollten Sie immer in farbig markiert eintragen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Lassen Sie den Technischen Bericht möglichst auch von anderen lesen. Man selbst wird nach einigen Wochen bzw. nach häufigem Lesen der eigenen Texte „betriebsblind“ gegenüber den eigenen Formulierungen. </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Empfehlungen für den Ausdruck für die finale Abgabe: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Rücksprache mit Betreuer zu Abgabe (Online? Ausdruck? Gebunden? Papierstärke?)</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Konvertieren Sie Ihre Datei vor dem Ausdrucken zu einer PDF. Bei PDF handelt es sich um eine Seitenbeschreibungssprache. Jeder Betrachter sieht Ihren Technischen Bericht genauso, wie Sie ihn am Computer gestaltet haben. Der Zeilen und Seitenumbruch bleibt erhalten. Das ist der wesentliche Vorteil von PDF.</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Fertigstellung/Endredaktion</a:t>
            </a:r>
            <a:endParaRPr b="0" lang="de-DE" sz="2000" strike="noStrike" u="none">
              <a:solidFill>
                <a:schemeClr val="dk1"/>
              </a:solidFill>
              <a:effectLst/>
              <a:uFillTx/>
              <a:latin typeface="Arial"/>
            </a:endParaRPr>
          </a:p>
        </p:txBody>
      </p:sp>
      <p:cxnSp>
        <p:nvCxnSpPr>
          <p:cNvPr id="298" name="Gerade Verbindung 7"/>
          <p:cNvCxnSpPr/>
          <p:nvPr/>
        </p:nvCxnSpPr>
        <p:spPr>
          <a:xfrm>
            <a:off x="303840" y="532440"/>
            <a:ext cx="10081440" cy="360"/>
          </a:xfrm>
          <a:prstGeom prst="straightConnector1">
            <a:avLst/>
          </a:prstGeom>
          <a:ln>
            <a:solidFill>
              <a:srgbClr val="db0031"/>
            </a:solidFill>
            <a:round/>
          </a:ln>
        </p:spPr>
      </p:cxnSp>
      <p:sp>
        <p:nvSpPr>
          <p:cNvPr id="299"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3. Fertigstellung/Endredaktion</a:t>
            </a:r>
            <a:endParaRPr b="0" lang="de-DE" sz="1200" strike="noStrike" u="none">
              <a:solidFill>
                <a:srgbClr val="000000"/>
              </a:solidFill>
              <a:effectLst/>
              <a:uFillTx/>
              <a:latin typeface="Arial"/>
            </a:endParaRPr>
          </a:p>
        </p:txBody>
      </p:sp>
      <p:sp>
        <p:nvSpPr>
          <p:cNvPr id="300" name="Textfeld 9"/>
          <p:cNvSpPr/>
          <p:nvPr/>
        </p:nvSpPr>
        <p:spPr>
          <a:xfrm>
            <a:off x="304200" y="1252440"/>
            <a:ext cx="10080720" cy="7358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Ich schreibe einen Bericht mit anderen. Was ist zu beachten?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Ideen für die Umsetzung</a:t>
            </a:r>
            <a:endParaRPr b="0" lang="de-DE" sz="2000" strike="noStrike" u="none">
              <a:solidFill>
                <a:schemeClr val="dk1"/>
              </a:solidFill>
              <a:effectLst/>
              <a:uFillTx/>
              <a:latin typeface="Arial"/>
            </a:endParaRPr>
          </a:p>
        </p:txBody>
      </p:sp>
      <p:cxnSp>
        <p:nvCxnSpPr>
          <p:cNvPr id="302" name="Gerade Verbindung 7"/>
          <p:cNvCxnSpPr/>
          <p:nvPr/>
        </p:nvCxnSpPr>
        <p:spPr>
          <a:xfrm>
            <a:off x="303840" y="532440"/>
            <a:ext cx="10081440" cy="360"/>
          </a:xfrm>
          <a:prstGeom prst="straightConnector1">
            <a:avLst/>
          </a:prstGeom>
          <a:ln>
            <a:solidFill>
              <a:srgbClr val="db0031"/>
            </a:solidFill>
            <a:round/>
          </a:ln>
        </p:spPr>
      </p:cxnSp>
      <p:sp>
        <p:nvSpPr>
          <p:cNvPr id="303"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3. Fertigstellung/Endredaktion</a:t>
            </a:r>
            <a:endParaRPr b="0" lang="de-DE" sz="1200" strike="noStrike" u="none">
              <a:solidFill>
                <a:srgbClr val="000000"/>
              </a:solidFill>
              <a:effectLst/>
              <a:uFillTx/>
              <a:latin typeface="Arial"/>
            </a:endParaRPr>
          </a:p>
        </p:txBody>
      </p:sp>
      <p:sp>
        <p:nvSpPr>
          <p:cNvPr id="304" name="Textfeld 9"/>
          <p:cNvSpPr/>
          <p:nvPr/>
        </p:nvSpPr>
        <p:spPr>
          <a:xfrm>
            <a:off x="304200" y="1252440"/>
            <a:ext cx="10080720" cy="495252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Check-in (10 min, Anna):</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Mini-Reflexionen: 3 Fragen im Chat (pers. Akkustand, Was war das beste, was Ihnen im letzten Semester passiert ist? Worauf freuen Sie sich in diesem?)</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Breakout-Rooms: Dreieck der Gemeinsamkeiten &gt; Ziel: persönliche Connection schaffen (Außer Hka als Uni)</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Ablauf vorstellen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Warum sind wir hier? Warum ist Schreiben für Ingenieur*innen wichtig? Wie ist ein Bericht aufgebaut? (15 min, Anna)</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Anschließende Übung (15 min):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Kurze Einführung in Mural</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Was gehört wohin? Einleitung: XY; Schluss: YY… &gt; Studierende sollen bereits erstellte Post-its in Felder verschieben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3 exemplarische Fragen aus „Planung“ werden beantwortet (vorbereitete Textfelder mit Fragen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p:nvPr>
        </p:nvSpPr>
        <p:spPr>
          <a:xfrm>
            <a:off x="304200" y="712440"/>
            <a:ext cx="1008072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1" lang="de-DE" sz="2000" strike="noStrike" u="none">
                <a:solidFill>
                  <a:schemeClr val="dk1"/>
                </a:solidFill>
                <a:effectLst/>
                <a:uFillTx/>
                <a:latin typeface="Avenir Book"/>
                <a:ea typeface="ＭＳ Ｐゴシック"/>
              </a:rPr>
              <a:t>Ideen für die Umsetzung</a:t>
            </a:r>
            <a:endParaRPr b="0" lang="de-DE" sz="2000" strike="noStrike" u="none">
              <a:solidFill>
                <a:schemeClr val="dk1"/>
              </a:solidFill>
              <a:effectLst/>
              <a:uFillTx/>
              <a:latin typeface="Arial"/>
            </a:endParaRPr>
          </a:p>
        </p:txBody>
      </p:sp>
      <p:cxnSp>
        <p:nvCxnSpPr>
          <p:cNvPr id="306" name="Gerade Verbindung 7"/>
          <p:cNvCxnSpPr/>
          <p:nvPr/>
        </p:nvCxnSpPr>
        <p:spPr>
          <a:xfrm>
            <a:off x="303840" y="532440"/>
            <a:ext cx="10081440" cy="360"/>
          </a:xfrm>
          <a:prstGeom prst="straightConnector1">
            <a:avLst/>
          </a:prstGeom>
          <a:ln>
            <a:solidFill>
              <a:srgbClr val="db0031"/>
            </a:solidFill>
            <a:round/>
          </a:ln>
        </p:spPr>
      </p:cxnSp>
      <p:sp>
        <p:nvSpPr>
          <p:cNvPr id="307" name="Textplatzhalter 3"/>
          <p:cNvSpPr/>
          <p:nvPr/>
        </p:nvSpPr>
        <p:spPr>
          <a:xfrm>
            <a:off x="304200" y="172440"/>
            <a:ext cx="1008072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241"/>
              </a:spcBef>
              <a:tabLst>
                <a:tab algn="l" pos="0"/>
              </a:tabLst>
            </a:pPr>
            <a:r>
              <a:rPr b="0" lang="de-DE" sz="1200" strike="noStrike" u="none">
                <a:solidFill>
                  <a:schemeClr val="lt2"/>
                </a:solidFill>
                <a:effectLst/>
                <a:uFillTx/>
                <a:latin typeface="Avenir Book"/>
                <a:ea typeface="ＭＳ Ｐゴシック"/>
              </a:rPr>
              <a:t>Zu 3. Fertigstellung/Endredaktion</a:t>
            </a:r>
            <a:endParaRPr b="0" lang="de-DE" sz="1200" strike="noStrike" u="none">
              <a:solidFill>
                <a:srgbClr val="000000"/>
              </a:solidFill>
              <a:effectLst/>
              <a:uFillTx/>
              <a:latin typeface="Arial"/>
            </a:endParaRPr>
          </a:p>
        </p:txBody>
      </p:sp>
      <p:sp>
        <p:nvSpPr>
          <p:cNvPr id="308" name="Textfeld 9"/>
          <p:cNvSpPr/>
          <p:nvPr/>
        </p:nvSpPr>
        <p:spPr>
          <a:xfrm>
            <a:off x="291600" y="1072440"/>
            <a:ext cx="10080720" cy="5106240"/>
          </a:xfrm>
          <a:prstGeom prst="rect">
            <a:avLst/>
          </a:prstGeom>
          <a:noFill/>
          <a:ln w="0">
            <a:noFill/>
          </a:ln>
        </p:spPr>
        <p:style>
          <a:lnRef idx="0"/>
          <a:fillRef idx="0"/>
          <a:effectRef idx="0"/>
          <a:fontRef idx="minor"/>
        </p:style>
        <p:txBody>
          <a:bodyPr lIns="104400" rIns="104400" tIns="52200" bIns="52200" anchor="t">
            <a:spAutoFit/>
          </a:bodyPr>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Formeln, Abbildungen, Tabellen, Zitat (15 min, Cosima)</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Übung (15 min, Anna?): </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“Ei“: Do‘s und Dont‘s bei Abbildungen (1 min)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Finde den Fehler: Bilder vorgeben, Studis sollen Post-it schreiben, was an dem Foto schlecht ist (1 min pro Bild)</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Welches der vorgegeben Zitate ist gut zitiert? &gt; Voting (3x pro Zitat 1 min)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Hinweise zur Textproduktion: Formulierungen (15 min, Cosima?)</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Übung (10 min, Anna):</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Arial"/>
              <a:buChar char="•"/>
              <a:tabLst>
                <a:tab algn="l" pos="179280"/>
                <a:tab algn="l" pos="2151000"/>
                <a:tab algn="l" pos="2868480"/>
              </a:tabLst>
            </a:pPr>
            <a:r>
              <a:rPr b="0" lang="de-DE" sz="1800" strike="noStrike" u="none">
                <a:solidFill>
                  <a:srgbClr val="000000"/>
                </a:solidFill>
                <a:effectLst/>
                <a:uFillTx/>
                <a:latin typeface="Avenir Book"/>
                <a:ea typeface="ＭＳ Ｐゴシック"/>
              </a:rPr>
              <a:t>Machen Sie es Besser &gt; Studis haben einen vorgegeb. Satz, der schlecht formuliert ist, sie sollen ihn in 2 min besser formulieren (5 Sätze vorgeben)</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Letzte Verweise + Fragen: PPT als Skript, Doc-Vorlage, PPT, Buch zu Technischen Berichten, CT handbuch, Exemplar für gelungene Bericht auf Ilias (10-20 min) </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Check-out (Anna, 5 min)</a:t>
            </a:r>
            <a:endParaRPr b="0" lang="de-DE" sz="1800" strike="noStrike" u="none">
              <a:solidFill>
                <a:srgbClr val="000000"/>
              </a:solidFill>
              <a:effectLst/>
              <a:uFillTx/>
              <a:latin typeface="Arial"/>
            </a:endParaRPr>
          </a:p>
          <a:p>
            <a:pPr lvl="1" marL="285840" indent="-285840" defTabSz="704880">
              <a:lnSpc>
                <a:spcPct val="100000"/>
              </a:lnSpc>
              <a:spcBef>
                <a:spcPts val="601"/>
              </a:spcBef>
              <a:buClr>
                <a:srgbClr val="000000"/>
              </a:buClr>
              <a:buFont typeface="Wingdings" charset="2"/>
              <a:buChar char=""/>
              <a:tabLst>
                <a:tab algn="l" pos="179280"/>
                <a:tab algn="l" pos="2151000"/>
                <a:tab algn="l" pos="2868480"/>
              </a:tabLst>
            </a:pPr>
            <a:r>
              <a:rPr b="0" lang="de-DE" sz="1800" strike="noStrike" u="none">
                <a:solidFill>
                  <a:srgbClr val="000000"/>
                </a:solidFill>
                <a:effectLst/>
                <a:uFillTx/>
                <a:latin typeface="Avenir Book"/>
                <a:ea typeface="ＭＳ Ｐゴシック"/>
              </a:rPr>
              <a:t>Feedback-Dart + Sagen Sie es mit einem GIF (Mural)</a:t>
            </a:r>
            <a:endParaRPr b="0" lang="de-DE" sz="1800" strike="noStrike" u="none">
              <a:solidFill>
                <a:srgbClr val="000000"/>
              </a:solidFill>
              <a:effectLst/>
              <a:uFillTx/>
              <a:latin typeface="Arial"/>
            </a:endParaRPr>
          </a:p>
          <a:p>
            <a:pPr defTabSz="704880">
              <a:lnSpc>
                <a:spcPct val="100000"/>
              </a:lnSpc>
              <a:spcBef>
                <a:spcPts val="601"/>
              </a:spcBef>
              <a:tabLst>
                <a:tab algn="l" pos="0"/>
              </a:tabLst>
            </a:pPr>
            <a:r>
              <a:rPr b="0" lang="de-DE" sz="1800" strike="noStrike" u="none">
                <a:solidFill>
                  <a:srgbClr val="000000"/>
                </a:solidFill>
                <a:effectLst/>
                <a:uFillTx/>
                <a:latin typeface="Avenir Book"/>
                <a:ea typeface="ＭＳ Ｐゴシック"/>
              </a:rPr>
              <a:t>Angebot: Wir sind jetzt noch 15 min hier, falls jemand Fragen hat</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306000" y="540360"/>
            <a:ext cx="10080720" cy="453240"/>
          </a:xfrm>
          <a:prstGeom prst="rect">
            <a:avLst/>
          </a:prstGeom>
          <a:solidFill>
            <a:schemeClr val="lt1">
              <a:lumMod val="85000"/>
            </a:schemeClr>
          </a:solidFill>
          <a:ln w="0">
            <a:noFill/>
          </a:ln>
        </p:spPr>
        <p:txBody>
          <a:bodyPr lIns="104400" rIns="104400" tIns="52200" bIns="52200" anchor="ctr">
            <a:noAutofit/>
          </a:bodyPr>
          <a:p>
            <a:pPr indent="0">
              <a:lnSpc>
                <a:spcPct val="100000"/>
              </a:lnSpc>
              <a:buNone/>
            </a:pPr>
            <a:r>
              <a:rPr b="0" lang="de-DE" sz="3200" strike="noStrike" u="none">
                <a:solidFill>
                  <a:schemeClr val="dk2"/>
                </a:solidFill>
                <a:effectLst/>
                <a:uFillTx/>
                <a:latin typeface="Arial"/>
              </a:rPr>
              <a:t>Kommentar: Anna</a:t>
            </a:r>
            <a:endParaRPr b="0" lang="de-DE" sz="3200" strike="noStrike" u="none">
              <a:solidFill>
                <a:schemeClr val="dk1"/>
              </a:solidFill>
              <a:effectLst/>
              <a:uFillTx/>
              <a:latin typeface="Times New Roman"/>
            </a:endParaRPr>
          </a:p>
        </p:txBody>
      </p:sp>
      <p:sp>
        <p:nvSpPr>
          <p:cNvPr id="310" name="PlaceHolder 2"/>
          <p:cNvSpPr>
            <a:spLocks noGrp="1"/>
          </p:cNvSpPr>
          <p:nvPr>
            <p:ph/>
          </p:nvPr>
        </p:nvSpPr>
        <p:spPr>
          <a:xfrm>
            <a:off x="306000" y="1908360"/>
            <a:ext cx="4896360" cy="4464000"/>
          </a:xfrm>
          <a:prstGeom prst="rect">
            <a:avLst/>
          </a:prstGeom>
          <a:noFill/>
          <a:ln w="0">
            <a:noFill/>
          </a:ln>
        </p:spPr>
        <p:txBody>
          <a:bodyPr lIns="104400" rIns="104400" tIns="52200" bIns="52200" anchor="t">
            <a:noAutofit/>
          </a:bodyPr>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Übersichtlich</a:t>
            </a:r>
            <a:endParaRPr b="0" lang="de-DE" sz="1600" strike="noStrike" u="none">
              <a:solidFill>
                <a:schemeClr val="dk1"/>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Deckt die wichtigsten Themen ab</a:t>
            </a:r>
            <a:endParaRPr b="0" lang="de-DE" sz="1600" strike="noStrike" u="none">
              <a:solidFill>
                <a:schemeClr val="dk1"/>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Z.T. anschauliche Beispiele gewählt</a:t>
            </a:r>
            <a:endParaRPr b="0" lang="de-DE" sz="1600" strike="noStrike" u="none">
              <a:solidFill>
                <a:schemeClr val="dk1"/>
              </a:solidFill>
              <a:effectLst/>
              <a:uFillTx/>
              <a:latin typeface="Arial"/>
            </a:endParaRPr>
          </a:p>
        </p:txBody>
      </p:sp>
      <p:sp>
        <p:nvSpPr>
          <p:cNvPr id="311" name="PlaceHolder 3"/>
          <p:cNvSpPr>
            <a:spLocks noGrp="1"/>
          </p:cNvSpPr>
          <p:nvPr>
            <p:ph/>
          </p:nvPr>
        </p:nvSpPr>
        <p:spPr>
          <a:xfrm>
            <a:off x="5238000" y="1484640"/>
            <a:ext cx="489636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0" lang="de-DE" sz="2000" strike="noStrike" u="none">
                <a:solidFill>
                  <a:schemeClr val="dk1"/>
                </a:solidFill>
                <a:effectLst/>
                <a:uFillTx/>
                <a:latin typeface="Arial"/>
              </a:rPr>
              <a:t>Was sollte verbessert werden?</a:t>
            </a:r>
            <a:endParaRPr b="0" lang="de-DE" sz="2000" strike="noStrike" u="none">
              <a:solidFill>
                <a:schemeClr val="dk1"/>
              </a:solidFill>
              <a:effectLst/>
              <a:uFillTx/>
              <a:latin typeface="Arial"/>
            </a:endParaRPr>
          </a:p>
        </p:txBody>
      </p:sp>
      <p:sp>
        <p:nvSpPr>
          <p:cNvPr id="312" name="Inhaltsplatzhalter 2"/>
          <p:cNvSpPr/>
          <p:nvPr/>
        </p:nvSpPr>
        <p:spPr>
          <a:xfrm>
            <a:off x="5267520" y="1908360"/>
            <a:ext cx="4896360" cy="4464000"/>
          </a:xfrm>
          <a:prstGeom prst="rect">
            <a:avLst/>
          </a:prstGeom>
          <a:noFill/>
          <a:ln w="0">
            <a:noFill/>
          </a:ln>
        </p:spPr>
        <p:style>
          <a:lnRef idx="0"/>
          <a:fillRef idx="0"/>
          <a:effectRef idx="0"/>
          <a:fontRef idx="minor"/>
        </p:style>
        <p:txBody>
          <a:bodyPr lIns="104400" rIns="104400" tIns="52200" bIns="52200" anchor="t">
            <a:noAutofit/>
          </a:bodyPr>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Gute Beispiele leider nicht mit Quellen belegt</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Zu viele Informationen &gt; sollte es einen Fokus geben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Vlt bessere Darstellung möglich</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In Häppchen verteilen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Kürzen, auf das Wesentliche reduzieren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Vorlage für Studierenden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Konkrete Fragen bei einzelnen Teilen vorgeben &gt; Fragen wirken stimulierender und können besser auf spezifische Problemstellungen übertragen werden als „Vorgetragenes“</a:t>
            </a:r>
            <a:endParaRPr b="0" lang="de-DE" sz="1600" strike="noStrike" u="none">
              <a:solidFill>
                <a:srgbClr val="000000"/>
              </a:solidFill>
              <a:effectLst/>
              <a:uFillTx/>
              <a:latin typeface="Arial"/>
            </a:endParaRPr>
          </a:p>
          <a:p>
            <a:pPr>
              <a:lnSpc>
                <a:spcPct val="100000"/>
              </a:lnSpc>
              <a:spcBef>
                <a:spcPts val="1199"/>
              </a:spcBef>
            </a:pPr>
            <a:endParaRPr b="0" lang="de-DE" sz="1600" strike="noStrike" u="none">
              <a:solidFill>
                <a:srgbClr val="000000"/>
              </a:solidFill>
              <a:effectLst/>
              <a:uFillTx/>
              <a:latin typeface="Arial"/>
            </a:endParaRPr>
          </a:p>
          <a:p>
            <a:pPr>
              <a:lnSpc>
                <a:spcPct val="100000"/>
              </a:lnSpc>
              <a:spcBef>
                <a:spcPts val="1199"/>
              </a:spcBef>
            </a:pPr>
            <a:endParaRPr b="0" lang="de-DE" sz="1600" strike="noStrike" u="none">
              <a:solidFill>
                <a:srgbClr val="000000"/>
              </a:solidFill>
              <a:effectLst/>
              <a:uFillTx/>
              <a:latin typeface="Arial"/>
            </a:endParaRPr>
          </a:p>
        </p:txBody>
      </p:sp>
      <p:sp>
        <p:nvSpPr>
          <p:cNvPr id="313" name="Textplatzhalter 3"/>
          <p:cNvSpPr/>
          <p:nvPr/>
        </p:nvSpPr>
        <p:spPr>
          <a:xfrm>
            <a:off x="458640" y="1484640"/>
            <a:ext cx="489636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400"/>
              </a:spcBef>
              <a:tabLst>
                <a:tab algn="l" pos="0"/>
              </a:tabLst>
            </a:pPr>
            <a:r>
              <a:rPr b="0" lang="de-DE" sz="2000" strike="noStrike" u="none">
                <a:solidFill>
                  <a:schemeClr val="dk1"/>
                </a:solidFill>
                <a:effectLst/>
                <a:uFillTx/>
                <a:latin typeface="Arial"/>
              </a:rPr>
              <a:t>Was war gut</a:t>
            </a:r>
            <a:endParaRPr b="0" lang="de-DE"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306000" y="540360"/>
            <a:ext cx="10080720" cy="453240"/>
          </a:xfrm>
          <a:prstGeom prst="rect">
            <a:avLst/>
          </a:prstGeom>
          <a:solidFill>
            <a:schemeClr val="lt1">
              <a:lumMod val="85000"/>
            </a:schemeClr>
          </a:solidFill>
          <a:ln w="0">
            <a:noFill/>
          </a:ln>
        </p:spPr>
        <p:txBody>
          <a:bodyPr lIns="104400" rIns="104400" tIns="52200" bIns="52200" anchor="ctr">
            <a:noAutofit/>
          </a:bodyPr>
          <a:p>
            <a:pPr indent="0">
              <a:lnSpc>
                <a:spcPct val="100000"/>
              </a:lnSpc>
              <a:buNone/>
            </a:pPr>
            <a:r>
              <a:rPr b="0" lang="de-DE" sz="3200" strike="noStrike" u="none">
                <a:solidFill>
                  <a:schemeClr val="dk2"/>
                </a:solidFill>
                <a:effectLst/>
                <a:uFillTx/>
                <a:latin typeface="Arial"/>
              </a:rPr>
              <a:t>Nächste Schritte</a:t>
            </a:r>
            <a:endParaRPr b="0" lang="de-DE" sz="3200" strike="noStrike" u="none">
              <a:solidFill>
                <a:schemeClr val="dk1"/>
              </a:solidFill>
              <a:effectLst/>
              <a:uFillTx/>
              <a:latin typeface="Times New Roman"/>
            </a:endParaRPr>
          </a:p>
        </p:txBody>
      </p:sp>
      <p:sp>
        <p:nvSpPr>
          <p:cNvPr id="315" name="PlaceHolder 2"/>
          <p:cNvSpPr>
            <a:spLocks noGrp="1"/>
          </p:cNvSpPr>
          <p:nvPr>
            <p:ph/>
          </p:nvPr>
        </p:nvSpPr>
        <p:spPr>
          <a:xfrm>
            <a:off x="306000" y="1908360"/>
            <a:ext cx="4896360" cy="4464000"/>
          </a:xfrm>
          <a:prstGeom prst="rect">
            <a:avLst/>
          </a:prstGeom>
          <a:noFill/>
          <a:ln w="0">
            <a:noFill/>
          </a:ln>
        </p:spPr>
        <p:txBody>
          <a:bodyPr lIns="104400" rIns="104400" tIns="52200" bIns="52200" anchor="t">
            <a:noAutofit/>
          </a:bodyPr>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Überarbeiten</a:t>
            </a:r>
            <a:endParaRPr b="0" lang="de-DE" sz="1600" strike="noStrike" u="none">
              <a:solidFill>
                <a:schemeClr val="dk1"/>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Anschaulichere Gestaltung</a:t>
            </a:r>
            <a:endParaRPr b="0" lang="de-DE" sz="1600" strike="noStrike" u="none">
              <a:solidFill>
                <a:schemeClr val="dk1"/>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Leitfragen angeben</a:t>
            </a:r>
            <a:endParaRPr b="0" lang="de-DE" sz="1600" strike="noStrike" u="none">
              <a:solidFill>
                <a:schemeClr val="dk1"/>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Strukturierung: </a:t>
            </a:r>
            <a:endParaRPr b="0" lang="de-DE" sz="1600" strike="noStrike" u="none">
              <a:solidFill>
                <a:schemeClr val="dk1"/>
              </a:solidFill>
              <a:effectLst/>
              <a:uFillTx/>
              <a:latin typeface="Arial"/>
            </a:endParaRPr>
          </a:p>
          <a:p>
            <a:pPr lvl="1" marL="452520" indent="-271440">
              <a:lnSpc>
                <a:spcPct val="100000"/>
              </a:lnSpc>
              <a:spcBef>
                <a:spcPts val="320"/>
              </a:spcBef>
              <a:buClr>
                <a:srgbClr val="000000"/>
              </a:buClr>
              <a:buFont typeface="Symbol" charset="2"/>
              <a:buChar char=""/>
            </a:pPr>
            <a:r>
              <a:rPr b="0" lang="de-DE" sz="1600" strike="noStrike" u="none">
                <a:solidFill>
                  <a:schemeClr val="dk1"/>
                </a:solidFill>
                <a:effectLst/>
                <a:uFillTx/>
                <a:latin typeface="Arial"/>
              </a:rPr>
              <a:t>In Häppchen unterteilen </a:t>
            </a:r>
            <a:endParaRPr b="0" lang="de-DE" sz="1600" strike="noStrike" u="none">
              <a:solidFill>
                <a:schemeClr val="dk1"/>
              </a:solidFill>
              <a:effectLst/>
              <a:uFillTx/>
              <a:latin typeface="Arial"/>
            </a:endParaRPr>
          </a:p>
          <a:p>
            <a:pPr lvl="1" marL="452520" indent="-271440">
              <a:lnSpc>
                <a:spcPct val="100000"/>
              </a:lnSpc>
              <a:spcBef>
                <a:spcPts val="320"/>
              </a:spcBef>
              <a:buClr>
                <a:srgbClr val="000000"/>
              </a:buClr>
              <a:buFont typeface="Symbol" charset="2"/>
              <a:buChar char=""/>
            </a:pPr>
            <a:r>
              <a:rPr b="0" lang="de-DE" sz="1600" strike="noStrike" u="none">
                <a:solidFill>
                  <a:schemeClr val="dk1"/>
                </a:solidFill>
                <a:effectLst/>
                <a:uFillTx/>
                <a:latin typeface="Arial"/>
              </a:rPr>
              <a:t>Kleine Übungen: Wie können die Studierenden üben? </a:t>
            </a:r>
            <a:endParaRPr b="0" lang="de-DE" sz="1600" strike="noStrike" u="none">
              <a:solidFill>
                <a:schemeClr val="dk1"/>
              </a:solidFill>
              <a:effectLst/>
              <a:uFillTx/>
              <a:latin typeface="Arial"/>
            </a:endParaRPr>
          </a:p>
          <a:p>
            <a:pPr lvl="1" marL="452520" indent="-271440">
              <a:lnSpc>
                <a:spcPct val="100000"/>
              </a:lnSpc>
              <a:spcBef>
                <a:spcPts val="320"/>
              </a:spcBef>
              <a:buClr>
                <a:srgbClr val="000000"/>
              </a:buClr>
              <a:buFont typeface="Symbol" charset="2"/>
              <a:buChar char=""/>
            </a:pPr>
            <a:r>
              <a:rPr b="0" lang="de-DE" sz="1600" strike="noStrike" u="none">
                <a:solidFill>
                  <a:schemeClr val="dk1"/>
                </a:solidFill>
                <a:effectLst/>
                <a:uFillTx/>
                <a:latin typeface="Arial"/>
              </a:rPr>
              <a:t>&gt;&gt; 15 min Input, dann 15 Minuten Umsetzung, 15 min Input , 15 min Umsetzung, Abschlussinput, dann wird Rest zuhause umgesetzt + kleine Hausaufgabe: erste Reflexion</a:t>
            </a:r>
            <a:endParaRPr b="0" lang="de-DE" sz="1600" strike="noStrike" u="none">
              <a:solidFill>
                <a:schemeClr val="dk1"/>
              </a:solidFill>
              <a:effectLst/>
              <a:uFillTx/>
              <a:latin typeface="Arial"/>
            </a:endParaRPr>
          </a:p>
        </p:txBody>
      </p:sp>
      <p:sp>
        <p:nvSpPr>
          <p:cNvPr id="316" name="PlaceHolder 3"/>
          <p:cNvSpPr>
            <a:spLocks noGrp="1"/>
          </p:cNvSpPr>
          <p:nvPr>
            <p:ph/>
          </p:nvPr>
        </p:nvSpPr>
        <p:spPr>
          <a:xfrm>
            <a:off x="306000" y="1332360"/>
            <a:ext cx="4896360" cy="359640"/>
          </a:xfrm>
          <a:prstGeom prst="rect">
            <a:avLst/>
          </a:prstGeom>
          <a:noFill/>
          <a:ln w="0">
            <a:noFill/>
          </a:ln>
        </p:spPr>
        <p:txBody>
          <a:bodyPr lIns="104400" rIns="104400" tIns="52200" bIns="52200" anchor="ctr">
            <a:noAutofit/>
          </a:bodyPr>
          <a:p>
            <a:pPr indent="0">
              <a:lnSpc>
                <a:spcPct val="100000"/>
              </a:lnSpc>
              <a:spcBef>
                <a:spcPts val="400"/>
              </a:spcBef>
              <a:buNone/>
              <a:tabLst>
                <a:tab algn="l" pos="0"/>
              </a:tabLst>
            </a:pPr>
            <a:r>
              <a:rPr b="0" lang="de-DE" sz="2000" strike="noStrike" u="none">
                <a:solidFill>
                  <a:schemeClr val="dk1"/>
                </a:solidFill>
                <a:effectLst/>
                <a:uFillTx/>
                <a:latin typeface="Arial"/>
              </a:rPr>
              <a:t>Anna</a:t>
            </a:r>
            <a:endParaRPr b="0" lang="de-DE" sz="2000" strike="noStrike" u="none">
              <a:solidFill>
                <a:schemeClr val="dk1"/>
              </a:solidFill>
              <a:effectLst/>
              <a:uFillTx/>
              <a:latin typeface="Arial"/>
            </a:endParaRPr>
          </a:p>
        </p:txBody>
      </p:sp>
      <p:sp>
        <p:nvSpPr>
          <p:cNvPr id="317" name="Inhaltsplatzhalter 2"/>
          <p:cNvSpPr/>
          <p:nvPr/>
        </p:nvSpPr>
        <p:spPr>
          <a:xfrm>
            <a:off x="5280840" y="1908360"/>
            <a:ext cx="4896360" cy="4464000"/>
          </a:xfrm>
          <a:prstGeom prst="rect">
            <a:avLst/>
          </a:prstGeom>
          <a:noFill/>
          <a:ln w="0">
            <a:noFill/>
          </a:ln>
        </p:spPr>
        <p:style>
          <a:lnRef idx="0"/>
          <a:fillRef idx="0"/>
          <a:effectRef idx="0"/>
          <a:fontRef idx="minor"/>
        </p:style>
        <p:txBody>
          <a:bodyPr lIns="104400" rIns="104400" tIns="52200" bIns="52200" anchor="t">
            <a:noAutofit/>
          </a:bodyPr>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Beispiele/Quellen raussuchen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Vorgaben von Manfred/Klaus einbetten/ kritisch überprüfen/aktualisieren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Anna‘s Arbeit überprüfen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Angebote von Unis zusammenstellen</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Zitat-quellen: Internet</a:t>
            </a:r>
            <a:endParaRPr b="0" lang="de-DE" sz="1600" strike="noStrike" u="none">
              <a:solidFill>
                <a:srgbClr val="000000"/>
              </a:solidFill>
              <a:effectLst/>
              <a:uFillTx/>
              <a:latin typeface="Arial"/>
            </a:endParaRPr>
          </a:p>
          <a:p>
            <a:pPr marL="181080" indent="-181080">
              <a:lnSpc>
                <a:spcPct val="100000"/>
              </a:lnSpc>
              <a:spcBef>
                <a:spcPts val="1199"/>
              </a:spcBef>
              <a:buClr>
                <a:srgbClr val="000000"/>
              </a:buClr>
              <a:buFont typeface="Symbol" charset="2"/>
              <a:buChar char=""/>
            </a:pPr>
            <a:r>
              <a:rPr b="0" lang="de-DE" sz="1600" strike="noStrike" u="none">
                <a:solidFill>
                  <a:schemeClr val="dk1"/>
                </a:solidFill>
                <a:effectLst/>
                <a:uFillTx/>
                <a:latin typeface="Arial"/>
              </a:rPr>
              <a:t>+ Recherchetools erwähnen (Citavi)</a:t>
            </a:r>
            <a:endParaRPr b="0" lang="de-DE" sz="1600" strike="noStrike" u="none">
              <a:solidFill>
                <a:srgbClr val="000000"/>
              </a:solidFill>
              <a:effectLst/>
              <a:uFillTx/>
              <a:latin typeface="Arial"/>
            </a:endParaRPr>
          </a:p>
          <a:p>
            <a:pPr>
              <a:lnSpc>
                <a:spcPct val="100000"/>
              </a:lnSpc>
              <a:spcBef>
                <a:spcPts val="1199"/>
              </a:spcBef>
            </a:pPr>
            <a:endParaRPr b="0" lang="de-DE" sz="1600" strike="noStrike" u="none">
              <a:solidFill>
                <a:srgbClr val="000000"/>
              </a:solidFill>
              <a:effectLst/>
              <a:uFillTx/>
              <a:latin typeface="Arial"/>
            </a:endParaRPr>
          </a:p>
          <a:p>
            <a:pPr>
              <a:lnSpc>
                <a:spcPct val="100000"/>
              </a:lnSpc>
              <a:spcBef>
                <a:spcPts val="1199"/>
              </a:spcBef>
            </a:pPr>
            <a:endParaRPr b="0" lang="de-DE" sz="1600" strike="noStrike" u="none">
              <a:solidFill>
                <a:srgbClr val="000000"/>
              </a:solidFill>
              <a:effectLst/>
              <a:uFillTx/>
              <a:latin typeface="Arial"/>
            </a:endParaRPr>
          </a:p>
          <a:p>
            <a:pPr>
              <a:lnSpc>
                <a:spcPct val="100000"/>
              </a:lnSpc>
              <a:spcBef>
                <a:spcPts val="1199"/>
              </a:spcBef>
            </a:pPr>
            <a:endParaRPr b="0" lang="de-DE" sz="1600" strike="noStrike" u="none">
              <a:solidFill>
                <a:srgbClr val="000000"/>
              </a:solidFill>
              <a:effectLst/>
              <a:uFillTx/>
              <a:latin typeface="Arial"/>
            </a:endParaRPr>
          </a:p>
        </p:txBody>
      </p:sp>
      <p:sp>
        <p:nvSpPr>
          <p:cNvPr id="318" name="Textplatzhalter 3"/>
          <p:cNvSpPr/>
          <p:nvPr/>
        </p:nvSpPr>
        <p:spPr>
          <a:xfrm>
            <a:off x="5285880" y="1332360"/>
            <a:ext cx="4896360" cy="359640"/>
          </a:xfrm>
          <a:prstGeom prst="rect">
            <a:avLst/>
          </a:prstGeom>
          <a:noFill/>
          <a:ln w="0">
            <a:noFill/>
          </a:ln>
        </p:spPr>
        <p:style>
          <a:lnRef idx="0"/>
          <a:fillRef idx="0"/>
          <a:effectRef idx="0"/>
          <a:fontRef idx="minor"/>
        </p:style>
        <p:txBody>
          <a:bodyPr lIns="104400" rIns="104400" tIns="52200" bIns="52200" anchor="ctr">
            <a:noAutofit/>
          </a:bodyPr>
          <a:p>
            <a:pPr>
              <a:lnSpc>
                <a:spcPct val="100000"/>
              </a:lnSpc>
              <a:spcBef>
                <a:spcPts val="400"/>
              </a:spcBef>
              <a:tabLst>
                <a:tab algn="l" pos="0"/>
              </a:tabLst>
            </a:pPr>
            <a:r>
              <a:rPr b="0" lang="de-DE" sz="2000" strike="noStrike" u="none">
                <a:solidFill>
                  <a:schemeClr val="dk1"/>
                </a:solidFill>
                <a:effectLst/>
                <a:uFillTx/>
                <a:latin typeface="Arial"/>
              </a:rPr>
              <a:t>Cosima</a:t>
            </a:r>
            <a:endParaRPr b="0" lang="de-DE"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Benutzerdefiniertes Design">
  <a:themeElements>
    <a:clrScheme name="1_Benutzerdefiniertes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enutzerdefiniertes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48dd4"/>
      </a:hlink>
      <a:folHlink>
        <a:srgbClr val="c00000"/>
      </a:folHlink>
    </a:clrScheme>
    <a:fontScheme name="Larissa">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LibreOffice/25.2.7.2$Windows_X86_64 LibreOffice_project/5cbfd1ab6520636bb5f7b99185aa69bd7456825d</Application>
  <AppVersion>15.0000</AppVersion>
  <Words>3663</Words>
  <Paragraphs>423</Paragraphs>
  <Company>HS Karlsruhe, Hochschule für Technik</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2001-10-18T07:53:19Z</dcterms:created>
  <dc:creator>Joerg Berberich</dc:creator>
  <dc:description/>
  <dc:language>de-DE</dc:language>
  <cp:lastModifiedBy/>
  <cp:lastPrinted>2014-10-07T09:12:57Z</cp:lastPrinted>
  <dcterms:modified xsi:type="dcterms:W3CDTF">2026-05-29T19:10:27Z</dcterms:modified>
  <cp:revision>1128</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Benutzerdefiniert</vt:lpwstr>
  </property>
  <property fmtid="{D5CDD505-2E9C-101B-9397-08002B2CF9AE}" pid="3" name="Slides">
    <vt:i4>40</vt:i4>
  </property>
</Properties>
</file>